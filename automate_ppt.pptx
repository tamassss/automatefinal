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5" r:id="rId6"/>
    <p:sldId id="264" r:id="rId7"/>
    <p:sldId id="267" r:id="rId8"/>
    <p:sldId id="260" r:id="rId9"/>
    <p:sldId id="268" r:id="rId10"/>
    <p:sldId id="261" r:id="rId11"/>
    <p:sldId id="270" r:id="rId12"/>
    <p:sldId id="262" r:id="rId13"/>
    <p:sldId id="263" r:id="rId14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2DEFF"/>
    <a:srgbClr val="196ECF"/>
    <a:srgbClr val="075DBF"/>
    <a:srgbClr val="D9EBFF"/>
    <a:srgbClr val="94C6FF"/>
    <a:srgbClr val="4099FF"/>
    <a:srgbClr val="0C74EB"/>
    <a:srgbClr val="002C5E"/>
    <a:srgbClr val="05366E"/>
    <a:srgbClr val="0B6B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57D038-5377-37AC-57A1-BE184AD85793}" v="2253" dt="2026-04-15T18:06:15.413"/>
    <p1510:client id="{075FE67F-E404-D067-C133-F0F016E71D24}" v="4" dt="2026-04-15T08:34:31.029"/>
    <p1510:client id="{09D07F0B-9842-C3CD-B669-946D56F3A3F2}" v="104" dt="2026-04-15T18:44:07.064"/>
    <p1510:client id="{328AD24D-A07F-A7CF-FD6F-FD6D9A6DB4B2}" v="133" dt="2026-04-15T09:44:48.200"/>
    <p1510:client id="{817C2318-F260-32F5-6515-EEE66445FDCC}" v="21" dt="2026-04-16T15:33:35.388"/>
    <p1510:client id="{829EBDF8-D76C-0080-4E99-906AFB327376}" v="189" dt="2026-04-15T22:40:12.674"/>
    <p1510:client id="{892C8D77-FD09-1111-FF9A-7AD6017E6B8A}" v="3597" dt="2026-04-14T23:56:20.026"/>
    <p1510:client id="{A821DE3E-9E0E-EB94-1560-19B74B802ED5}" v="1334" dt="2026-04-15T21:17:20.441"/>
    <p1510:client id="{C44DCEFB-9AD6-F42B-FE3E-4D71086987EA}" v="1" dt="2026-04-16T17:19:24.600"/>
    <p1510:client id="{CE857464-F0E0-9712-7E35-3FE1955A9CF2}" v="3" dt="2026-04-16T08:40:33.907"/>
    <p1510:client id="{F06EE133-D612-6BD8-3EE8-C5544C934F26}" v="227" dt="2026-04-16T07:10:39.2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825" autoAdjust="0"/>
  </p:normalViewPr>
  <p:slideViewPr>
    <p:cSldViewPr snapToGrid="0">
      <p:cViewPr varScale="1">
        <p:scale>
          <a:sx n="71" d="100"/>
          <a:sy n="71" d="100"/>
        </p:scale>
        <p:origin x="1109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AE474-339D-4E5C-9F56-CCA657A6D678}" type="datetimeFigureOut">
              <a:t>2026. 04. 16.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6BF588-9114-4048-909F-074FDC8DCD8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640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Jó napot kívánunk!</a:t>
            </a:r>
          </a:p>
          <a:p>
            <a:r>
              <a:rPr lang="hu-HU" dirty="0"/>
              <a:t>Az </a:t>
            </a:r>
            <a:r>
              <a:rPr lang="hu-HU" dirty="0" err="1"/>
              <a:t>AutoMate</a:t>
            </a:r>
            <a:r>
              <a:rPr lang="hu-HU" dirty="0"/>
              <a:t> című projektünket fogjuk bemutatni.</a:t>
            </a:r>
          </a:p>
          <a:p>
            <a:r>
              <a:rPr lang="hu-HU" dirty="0"/>
              <a:t>A bemutató során ismertetjük a weboldal célját, a fejlesztés és tervezés menetét, és a munkamegosztást. Ezután használat közben is bemutatjuk a weboldalunkat.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BF588-9114-4048-909F-074FDC8DCD8F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639183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T:</a:t>
            </a:r>
          </a:p>
          <a:p>
            <a:r>
              <a:rPr lang="hu-HU" dirty="0"/>
              <a:t>BEVEZETÉS</a:t>
            </a:r>
          </a:p>
          <a:p>
            <a:r>
              <a:rPr lang="hu-HU" dirty="0"/>
              <a:t>A vezetés nem csak a közlekedésről szól, számos egyéb dologra kell figyelni. Például felírni, mennyit költünk tankolásra, megnézni milyen messzire megyünk, kiszámolni mennyi üzemanyagra lesz szükség, számon tartani a szervizeket, emlékeztetőket beállítani. Ezeket általában mind külön-külön helyeken tartjuk számon és ez összezavaró lehet. </a:t>
            </a:r>
          </a:p>
          <a:p>
            <a:r>
              <a:rPr lang="hu-HU" dirty="0"/>
              <a:t>Erre nyújt megoldást az </a:t>
            </a:r>
            <a:r>
              <a:rPr lang="hu-HU" dirty="0" err="1"/>
              <a:t>AutoMate</a:t>
            </a:r>
            <a:r>
              <a:rPr lang="hu-HU" dirty="0"/>
              <a:t>. A segítségével ezeket mind egy helyen tudjuk elvégezni és még statisztikákat is kapunk a bevitt adatokból.</a:t>
            </a:r>
          </a:p>
          <a:p>
            <a:endParaRPr lang="hu-HU" dirty="0"/>
          </a:p>
          <a:p>
            <a:r>
              <a:rPr lang="hu-HU" dirty="0"/>
              <a:t>D:</a:t>
            </a:r>
          </a:p>
          <a:p>
            <a:r>
              <a:rPr lang="hu-HU" dirty="0"/>
              <a:t>MOTIVÁCIÓ</a:t>
            </a:r>
          </a:p>
          <a:p>
            <a:r>
              <a:rPr lang="hu-HU" dirty="0"/>
              <a:t>Azért ezt a témát választottuk, mert a sok ember mellett mi is tapasztaljuk hogy milyen költséges manapság az autóhasználat. Jó lenne néha visszatekinteni a költségekre, megtervezni az utakat vagy elmenteni a benzinkutakat. Eddig jegyzetfüzetbe írtam az adatokat, mert nem találtam erre a célra megfelelő alkalmazást. </a:t>
            </a:r>
          </a:p>
          <a:p>
            <a:r>
              <a:rPr lang="hu-HU" dirty="0"/>
              <a:t>(Mint kiderült, a Suzukinak van egy hasonló mobilalkalmazása, de az fizetős és márkához kötött)</a:t>
            </a:r>
          </a:p>
          <a:p>
            <a:r>
              <a:rPr lang="hu-HU" dirty="0"/>
              <a:t>Rengeteg ember jár autóval és sokaknak jól jönne rendszerezni az adataikat. Erre próbáltunk egy megoldást létrehozni.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BF588-9114-4048-909F-074FDC8DCD8F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74261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frontend</a:t>
            </a:r>
          </a:p>
          <a:p>
            <a:r>
              <a:rPr lang="hu-HU" dirty="0"/>
              <a:t>A frontend részt én készítettem. Én feleltem a weboldal megjelenéséért. Az elkészítés során törekedtem arra hogy minél könnyebb legyen használni az oldalt, azaz elég visszajelzést adjon és egyértelmű legyen minden. Az oldalak közötti navigáció szintén hozzám tartozott, illetve a backenddel való összekötés, az onnan küldött adatok megjelenítése, grafikonok megjelenítése és az adatainak betöltése. A különböző hibákat szintén én irattam ki, és persze a frontend tesztelése is az én feladatom volt.</a:t>
            </a:r>
          </a:p>
          <a:p>
            <a:endParaRPr lang="hu-HU" dirty="0"/>
          </a:p>
          <a:p>
            <a:r>
              <a:rPr lang="en-US" dirty="0"/>
              <a:t>Backend: </a:t>
            </a:r>
            <a:endParaRPr lang="hu-HU" dirty="0"/>
          </a:p>
          <a:p>
            <a:r>
              <a:rPr lang="en-US" dirty="0"/>
              <a:t>1.Token </a:t>
            </a:r>
            <a:r>
              <a:rPr lang="en-US" dirty="0" err="1"/>
              <a:t>kezelés</a:t>
            </a:r>
            <a:r>
              <a:rPr lang="en-US" dirty="0"/>
              <a:t> (</a:t>
            </a:r>
            <a:r>
              <a:rPr lang="en-US" dirty="0" err="1"/>
              <a:t>Hitelesítés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Biztonság</a:t>
            </a:r>
            <a:r>
              <a:rPr lang="en-US" dirty="0"/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b="1" dirty="0" err="1"/>
              <a:t>Cél</a:t>
            </a:r>
            <a:r>
              <a:rPr lang="en-US" b="1" dirty="0"/>
              <a:t>:</a:t>
            </a:r>
            <a:r>
              <a:rPr lang="en-US" dirty="0"/>
              <a:t> A </a:t>
            </a:r>
            <a:r>
              <a:rPr lang="en-US" dirty="0" err="1"/>
              <a:t>felhasználók</a:t>
            </a:r>
            <a:r>
              <a:rPr lang="en-US" dirty="0"/>
              <a:t> </a:t>
            </a:r>
            <a:r>
              <a:rPr lang="en-US" dirty="0" err="1"/>
              <a:t>azonosítása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a </a:t>
            </a:r>
            <a:r>
              <a:rPr lang="en-US" dirty="0" err="1"/>
              <a:t>kérések</a:t>
            </a:r>
            <a:r>
              <a:rPr lang="en-US" dirty="0"/>
              <a:t> </a:t>
            </a:r>
            <a:r>
              <a:rPr lang="en-US" dirty="0" err="1"/>
              <a:t>biztonságossá</a:t>
            </a:r>
            <a:r>
              <a:rPr lang="en-US" dirty="0"/>
              <a:t> </a:t>
            </a:r>
            <a:r>
              <a:rPr lang="en-US" dirty="0" err="1"/>
              <a:t>tétele</a:t>
            </a:r>
            <a:r>
              <a:rPr lang="en-US" dirty="0"/>
              <a:t> (JWT - JSON Web Token).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 err="1"/>
              <a:t>Folyamat</a:t>
            </a:r>
            <a:r>
              <a:rPr lang="en-US" b="1" dirty="0"/>
              <a:t>:</a:t>
            </a:r>
            <a:r>
              <a:rPr lang="en-US" dirty="0"/>
              <a:t> Login </a:t>
            </a:r>
            <a:r>
              <a:rPr lang="en-US" dirty="0" err="1"/>
              <a:t>után</a:t>
            </a:r>
            <a:r>
              <a:rPr lang="en-US" dirty="0"/>
              <a:t> a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dirty="0" err="1"/>
              <a:t>generál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tokent</a:t>
            </a:r>
            <a:r>
              <a:rPr lang="en-US" dirty="0"/>
              <a:t>, </a:t>
            </a:r>
            <a:r>
              <a:rPr lang="en-US" dirty="0" err="1"/>
              <a:t>amit</a:t>
            </a:r>
            <a:r>
              <a:rPr lang="en-US" dirty="0"/>
              <a:t> a </a:t>
            </a:r>
            <a:r>
              <a:rPr lang="en-US" dirty="0" err="1"/>
              <a:t>kliens</a:t>
            </a:r>
            <a:r>
              <a:rPr lang="en-US" dirty="0"/>
              <a:t> </a:t>
            </a:r>
            <a:r>
              <a:rPr lang="en-US" dirty="0" err="1"/>
              <a:t>minden</a:t>
            </a:r>
            <a:r>
              <a:rPr lang="en-US" dirty="0"/>
              <a:t> </a:t>
            </a:r>
            <a:r>
              <a:rPr lang="en-US" dirty="0" err="1"/>
              <a:t>későbbi</a:t>
            </a:r>
            <a:r>
              <a:rPr lang="en-US" dirty="0"/>
              <a:t> </a:t>
            </a:r>
            <a:r>
              <a:rPr lang="en-US" dirty="0" err="1"/>
              <a:t>kérésnél</a:t>
            </a:r>
            <a:r>
              <a:rPr lang="en-US" dirty="0"/>
              <a:t> </a:t>
            </a:r>
            <a:r>
              <a:rPr lang="en-US" dirty="0" err="1"/>
              <a:t>elküld</a:t>
            </a:r>
            <a:r>
              <a:rPr lang="en-US" dirty="0"/>
              <a:t> a </a:t>
            </a:r>
            <a:r>
              <a:rPr lang="en-US" dirty="0" err="1"/>
              <a:t>fejlécben</a:t>
            </a:r>
            <a:r>
              <a:rPr lang="en-US" dirty="0"/>
              <a:t> (Header).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Előny:</a:t>
            </a:r>
            <a:r>
              <a:rPr lang="en-US" dirty="0"/>
              <a:t> Stateless </a:t>
            </a:r>
            <a:r>
              <a:rPr lang="en-US" dirty="0" err="1"/>
              <a:t>működés</a:t>
            </a:r>
            <a:r>
              <a:rPr lang="en-US" dirty="0"/>
              <a:t> (a </a:t>
            </a:r>
            <a:r>
              <a:rPr lang="en-US" dirty="0" err="1"/>
              <a:t>szervernek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kell</a:t>
            </a:r>
            <a:r>
              <a:rPr lang="en-US" dirty="0"/>
              <a:t> session-t </a:t>
            </a:r>
            <a:r>
              <a:rPr lang="en-US" dirty="0" err="1"/>
              <a:t>tárolnia</a:t>
            </a:r>
            <a:r>
              <a:rPr lang="en-US" dirty="0"/>
              <a:t>), </a:t>
            </a:r>
            <a:r>
              <a:rPr lang="en-US" dirty="0" err="1"/>
              <a:t>könnyű</a:t>
            </a:r>
            <a:r>
              <a:rPr lang="en-US" dirty="0"/>
              <a:t> </a:t>
            </a:r>
            <a:r>
              <a:rPr lang="en-US" dirty="0" err="1"/>
              <a:t>skálázhatóság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2. API </a:t>
            </a:r>
            <a:r>
              <a:rPr lang="en-US" dirty="0" err="1"/>
              <a:t>végpontok</a:t>
            </a:r>
            <a:r>
              <a:rPr lang="en-US" dirty="0"/>
              <a:t> </a:t>
            </a:r>
            <a:r>
              <a:rPr lang="en-US" dirty="0" err="1"/>
              <a:t>létrehozása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 err="1"/>
              <a:t>Struktúra</a:t>
            </a:r>
            <a:r>
              <a:rPr lang="en-US" b="1" dirty="0"/>
              <a:t>:</a:t>
            </a:r>
            <a:r>
              <a:rPr lang="en-US" dirty="0"/>
              <a:t> RESTful </a:t>
            </a:r>
            <a:r>
              <a:rPr lang="en-US" dirty="0" err="1"/>
              <a:t>szemléletmód</a:t>
            </a:r>
            <a:r>
              <a:rPr lang="en-US" dirty="0"/>
              <a:t> (GET, POST, PUT, DELETE </a:t>
            </a:r>
            <a:r>
              <a:rPr lang="en-US" dirty="0" err="1"/>
              <a:t>metódusok</a:t>
            </a:r>
            <a:r>
              <a:rPr lang="en-US" dirty="0"/>
              <a:t> </a:t>
            </a:r>
            <a:r>
              <a:rPr lang="en-US" dirty="0" err="1"/>
              <a:t>használata</a:t>
            </a:r>
            <a:r>
              <a:rPr lang="en-US" dirty="0"/>
              <a:t>).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Logika:</a:t>
            </a:r>
            <a:r>
              <a:rPr lang="en-US" dirty="0"/>
              <a:t> Az </a:t>
            </a:r>
            <a:r>
              <a:rPr lang="en-US" dirty="0" err="1"/>
              <a:t>útvonalak</a:t>
            </a:r>
            <a:r>
              <a:rPr lang="en-US" dirty="0"/>
              <a:t> (Routes) </a:t>
            </a:r>
            <a:r>
              <a:rPr lang="en-US" dirty="0" err="1"/>
              <a:t>összekötése</a:t>
            </a:r>
            <a:r>
              <a:rPr lang="en-US" dirty="0"/>
              <a:t> a </a:t>
            </a:r>
            <a:r>
              <a:rPr lang="en-US" dirty="0" err="1"/>
              <a:t>megfelelő</a:t>
            </a:r>
            <a:r>
              <a:rPr lang="en-US" dirty="0"/>
              <a:t> </a:t>
            </a:r>
            <a:r>
              <a:rPr lang="en-US" dirty="0" err="1"/>
              <a:t>kontroller</a:t>
            </a:r>
            <a:r>
              <a:rPr lang="en-US" dirty="0"/>
              <a:t> </a:t>
            </a:r>
            <a:r>
              <a:rPr lang="en-US" dirty="0" err="1"/>
              <a:t>funkciókkal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 err="1"/>
              <a:t>Validáció</a:t>
            </a:r>
            <a:r>
              <a:rPr lang="en-US" b="1" dirty="0"/>
              <a:t>:</a:t>
            </a:r>
            <a:r>
              <a:rPr lang="en-US" dirty="0"/>
              <a:t> A </a:t>
            </a:r>
            <a:r>
              <a:rPr lang="en-US" dirty="0" err="1"/>
              <a:t>beérkező</a:t>
            </a:r>
            <a:r>
              <a:rPr lang="en-US" dirty="0"/>
              <a:t> </a:t>
            </a:r>
            <a:r>
              <a:rPr lang="en-US" dirty="0" err="1"/>
              <a:t>adatok</a:t>
            </a:r>
            <a:r>
              <a:rPr lang="en-US" dirty="0"/>
              <a:t> </a:t>
            </a:r>
            <a:r>
              <a:rPr lang="en-US" dirty="0" err="1"/>
              <a:t>ellenőrzése</a:t>
            </a:r>
            <a:r>
              <a:rPr lang="en-US" dirty="0"/>
              <a:t>, </a:t>
            </a:r>
            <a:r>
              <a:rPr lang="en-US" dirty="0" err="1"/>
              <a:t>mielőtt</a:t>
            </a:r>
            <a:r>
              <a:rPr lang="en-US" dirty="0"/>
              <a:t> </a:t>
            </a:r>
            <a:r>
              <a:rPr lang="en-US" dirty="0" err="1"/>
              <a:t>továbbkerülnének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adatbázis</a:t>
            </a:r>
            <a:r>
              <a:rPr lang="en-US" dirty="0"/>
              <a:t> </a:t>
            </a:r>
            <a:r>
              <a:rPr lang="en-US" dirty="0" err="1"/>
              <a:t>felé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3. </a:t>
            </a:r>
            <a:r>
              <a:rPr lang="en-US" dirty="0" err="1"/>
              <a:t>Adatbázis</a:t>
            </a:r>
            <a:r>
              <a:rPr lang="en-US" dirty="0"/>
              <a:t> </a:t>
            </a:r>
            <a:r>
              <a:rPr lang="en-US" dirty="0" err="1"/>
              <a:t>létrehozása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 err="1"/>
              <a:t>Modellezés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Táblák</a:t>
            </a:r>
            <a:r>
              <a:rPr lang="en-US" dirty="0"/>
              <a:t>/</a:t>
            </a:r>
            <a:r>
              <a:rPr lang="en-US" dirty="0" err="1"/>
              <a:t>Kollekciók</a:t>
            </a:r>
            <a:r>
              <a:rPr lang="en-US" dirty="0"/>
              <a:t> </a:t>
            </a:r>
            <a:r>
              <a:rPr lang="en-US" dirty="0" err="1"/>
              <a:t>definiálása</a:t>
            </a:r>
            <a:r>
              <a:rPr lang="en-US" dirty="0"/>
              <a:t> (pl. SQL vs. NoSQL </a:t>
            </a:r>
            <a:r>
              <a:rPr lang="en-US" dirty="0" err="1"/>
              <a:t>döntés</a:t>
            </a:r>
            <a:r>
              <a:rPr lang="en-US" dirty="0"/>
              <a:t>) Mi a </a:t>
            </a:r>
            <a:r>
              <a:rPr lang="en-US" dirty="0" err="1"/>
              <a:t>Sql</a:t>
            </a:r>
            <a:r>
              <a:rPr lang="en-US" dirty="0"/>
              <a:t>-t </a:t>
            </a:r>
            <a:r>
              <a:rPr lang="en-US" dirty="0" err="1"/>
              <a:t>választottuk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 err="1"/>
              <a:t>Séma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Adattípusok</a:t>
            </a:r>
            <a:r>
              <a:rPr lang="en-US" dirty="0"/>
              <a:t> </a:t>
            </a:r>
            <a:r>
              <a:rPr lang="en-US" dirty="0" err="1"/>
              <a:t>meghatározása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a </a:t>
            </a:r>
            <a:r>
              <a:rPr lang="en-US" dirty="0" err="1"/>
              <a:t>rekordok</a:t>
            </a:r>
            <a:r>
              <a:rPr lang="en-US" dirty="0"/>
              <a:t> </a:t>
            </a:r>
            <a:r>
              <a:rPr lang="en-US" dirty="0" err="1"/>
              <a:t>közötti</a:t>
            </a:r>
            <a:r>
              <a:rPr lang="en-US" dirty="0"/>
              <a:t> </a:t>
            </a:r>
            <a:r>
              <a:rPr lang="en-US" dirty="0" err="1"/>
              <a:t>kapcsolatok</a:t>
            </a:r>
            <a:r>
              <a:rPr lang="en-US" dirty="0"/>
              <a:t> (1:N, N:M) </a:t>
            </a:r>
            <a:r>
              <a:rPr lang="en-US" dirty="0" err="1"/>
              <a:t>felépítése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4. </a:t>
            </a:r>
            <a:r>
              <a:rPr lang="en-US" dirty="0" err="1"/>
              <a:t>Külső</a:t>
            </a:r>
            <a:r>
              <a:rPr lang="en-US" dirty="0"/>
              <a:t> API </a:t>
            </a:r>
            <a:r>
              <a:rPr lang="en-US" dirty="0" err="1"/>
              <a:t>kezelés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 err="1"/>
              <a:t>Integráció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Harmadik</a:t>
            </a:r>
            <a:r>
              <a:rPr lang="en-US" dirty="0"/>
              <a:t> </a:t>
            </a:r>
            <a:r>
              <a:rPr lang="en-US" dirty="0" err="1"/>
              <a:t>féltől</a:t>
            </a:r>
            <a:r>
              <a:rPr lang="en-US" dirty="0"/>
              <a:t> </a:t>
            </a:r>
            <a:r>
              <a:rPr lang="en-US" dirty="0" err="1"/>
              <a:t>származó</a:t>
            </a:r>
            <a:r>
              <a:rPr lang="en-US" dirty="0"/>
              <a:t> </a:t>
            </a:r>
            <a:r>
              <a:rPr lang="en-US" dirty="0" err="1"/>
              <a:t>adatok</a:t>
            </a:r>
            <a:r>
              <a:rPr lang="en-US" dirty="0"/>
              <a:t> </a:t>
            </a:r>
            <a:r>
              <a:rPr lang="en-US" dirty="0" err="1"/>
              <a:t>beillesztése</a:t>
            </a:r>
            <a:r>
              <a:rPr lang="en-US" dirty="0"/>
              <a:t> (pl. </a:t>
            </a:r>
            <a:r>
              <a:rPr lang="en-US" dirty="0" err="1"/>
              <a:t>fizetési</a:t>
            </a:r>
            <a:r>
              <a:rPr lang="en-US" dirty="0"/>
              <a:t> </a:t>
            </a:r>
            <a:r>
              <a:rPr lang="en-US" dirty="0" err="1"/>
              <a:t>kapuk</a:t>
            </a:r>
            <a:r>
              <a:rPr lang="en-US" dirty="0"/>
              <a:t>, </a:t>
            </a:r>
            <a:r>
              <a:rPr lang="en-US" dirty="0" err="1"/>
              <a:t>időjárás</a:t>
            </a:r>
            <a:r>
              <a:rPr lang="en-US" dirty="0"/>
              <a:t> </a:t>
            </a:r>
            <a:r>
              <a:rPr lang="en-US" dirty="0" err="1"/>
              <a:t>adatok</a:t>
            </a:r>
            <a:r>
              <a:rPr lang="en-US" dirty="0"/>
              <a:t>, </a:t>
            </a:r>
            <a:r>
              <a:rPr lang="en-US" dirty="0" err="1"/>
              <a:t>térképek</a:t>
            </a:r>
            <a:r>
              <a:rPr lang="en-US" dirty="0"/>
              <a:t>).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 err="1"/>
              <a:t>Megvalósítás</a:t>
            </a:r>
            <a:r>
              <a:rPr lang="en-US" b="1" dirty="0"/>
              <a:t>:</a:t>
            </a:r>
            <a:r>
              <a:rPr lang="en-US" dirty="0"/>
              <a:t> HTTP </a:t>
            </a:r>
            <a:r>
              <a:rPr lang="en-US" dirty="0" err="1"/>
              <a:t>kliensek</a:t>
            </a:r>
            <a:r>
              <a:rPr lang="en-US" dirty="0"/>
              <a:t> </a:t>
            </a:r>
            <a:r>
              <a:rPr lang="en-US" dirty="0" err="1"/>
              <a:t>használata</a:t>
            </a:r>
            <a:r>
              <a:rPr lang="en-US" dirty="0"/>
              <a:t> (pl. Axios, Fetch) a backend </a:t>
            </a:r>
            <a:r>
              <a:rPr lang="en-US" dirty="0" err="1"/>
              <a:t>oldalon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 err="1"/>
              <a:t>Hibakezelés</a:t>
            </a:r>
            <a:r>
              <a:rPr lang="en-US" b="1" dirty="0"/>
              <a:t>:</a:t>
            </a:r>
            <a:r>
              <a:rPr lang="en-US" dirty="0"/>
              <a:t> Mi </a:t>
            </a:r>
            <a:r>
              <a:rPr lang="en-US" dirty="0" err="1"/>
              <a:t>történik</a:t>
            </a:r>
            <a:r>
              <a:rPr lang="en-US" dirty="0"/>
              <a:t>, ha a </a:t>
            </a:r>
            <a:r>
              <a:rPr lang="en-US" dirty="0" err="1"/>
              <a:t>külső</a:t>
            </a:r>
            <a:r>
              <a:rPr lang="en-US" dirty="0"/>
              <a:t> </a:t>
            </a:r>
            <a:r>
              <a:rPr lang="en-US" dirty="0" err="1"/>
              <a:t>szolgáltatás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elérhető</a:t>
            </a:r>
            <a:r>
              <a:rPr lang="en-US" dirty="0"/>
              <a:t>? (</a:t>
            </a:r>
            <a:r>
              <a:rPr lang="en-US" dirty="0" err="1"/>
              <a:t>Timeoutok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fallback </a:t>
            </a:r>
            <a:r>
              <a:rPr lang="en-US" dirty="0" err="1"/>
              <a:t>megoldások</a:t>
            </a:r>
            <a:r>
              <a:rPr lang="en-US" dirty="0"/>
              <a:t>).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5. Backend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Adatbázis</a:t>
            </a:r>
            <a:r>
              <a:rPr lang="en-US" dirty="0"/>
              <a:t> </a:t>
            </a:r>
            <a:r>
              <a:rPr lang="en-US" dirty="0" err="1"/>
              <a:t>tesztelés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 err="1"/>
              <a:t>Egységtesztek</a:t>
            </a:r>
            <a:r>
              <a:rPr lang="en-US" b="1" dirty="0"/>
              <a:t> (Unit Test):</a:t>
            </a:r>
            <a:r>
              <a:rPr lang="en-US" dirty="0"/>
              <a:t> Az </a:t>
            </a:r>
            <a:r>
              <a:rPr lang="en-US" dirty="0" err="1"/>
              <a:t>egyes</a:t>
            </a:r>
            <a:r>
              <a:rPr lang="en-US" dirty="0"/>
              <a:t> </a:t>
            </a:r>
            <a:r>
              <a:rPr lang="en-US" dirty="0" err="1"/>
              <a:t>funkciók</a:t>
            </a:r>
            <a:r>
              <a:rPr lang="en-US" dirty="0"/>
              <a:t> </a:t>
            </a:r>
            <a:r>
              <a:rPr lang="en-US" dirty="0" err="1"/>
              <a:t>elszigetelt</a:t>
            </a:r>
            <a:r>
              <a:rPr lang="en-US" dirty="0"/>
              <a:t> </a:t>
            </a:r>
            <a:r>
              <a:rPr lang="en-US" dirty="0" err="1"/>
              <a:t>vizsgálata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 err="1"/>
              <a:t>Integrációs</a:t>
            </a:r>
            <a:r>
              <a:rPr lang="en-US" b="1" dirty="0"/>
              <a:t> </a:t>
            </a:r>
            <a:r>
              <a:rPr lang="en-US" b="1" dirty="0" err="1"/>
              <a:t>tesztek</a:t>
            </a:r>
            <a:r>
              <a:rPr lang="en-US" b="1" dirty="0"/>
              <a:t>:</a:t>
            </a:r>
            <a:r>
              <a:rPr lang="en-US" dirty="0"/>
              <a:t> A backend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adatbázis</a:t>
            </a:r>
            <a:r>
              <a:rPr lang="en-US" dirty="0"/>
              <a:t> </a:t>
            </a:r>
            <a:r>
              <a:rPr lang="en-US" dirty="0" err="1"/>
              <a:t>közötti</a:t>
            </a:r>
            <a:r>
              <a:rPr lang="en-US" dirty="0"/>
              <a:t> </a:t>
            </a:r>
            <a:r>
              <a:rPr lang="en-US" dirty="0" err="1"/>
              <a:t>kommunikáció</a:t>
            </a:r>
            <a:r>
              <a:rPr lang="en-US" dirty="0"/>
              <a:t> </a:t>
            </a:r>
            <a:r>
              <a:rPr lang="en-US" dirty="0" err="1"/>
              <a:t>ellenőrzése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 err="1"/>
              <a:t>Eszközök</a:t>
            </a:r>
            <a:r>
              <a:rPr lang="en-US" b="1" dirty="0"/>
              <a:t>:</a:t>
            </a:r>
            <a:r>
              <a:rPr lang="en-US" dirty="0"/>
              <a:t> Postman a </a:t>
            </a:r>
            <a:r>
              <a:rPr lang="en-US" dirty="0" err="1"/>
              <a:t>manuális</a:t>
            </a:r>
            <a:r>
              <a:rPr lang="en-US" dirty="0"/>
              <a:t> </a:t>
            </a:r>
            <a:r>
              <a:rPr lang="en-US" dirty="0" err="1"/>
              <a:t>teszteléshez</a:t>
            </a:r>
            <a:r>
              <a:rPr lang="en-US" dirty="0"/>
              <a:t>, </a:t>
            </a:r>
            <a:r>
              <a:rPr lang="en-US" dirty="0" err="1"/>
              <a:t>vagy</a:t>
            </a:r>
            <a:r>
              <a:rPr lang="en-US" dirty="0"/>
              <a:t> automata </a:t>
            </a:r>
            <a:r>
              <a:rPr lang="en-US" dirty="0" err="1"/>
              <a:t>keretrendszerek</a:t>
            </a:r>
            <a:r>
              <a:rPr lang="en-US" dirty="0"/>
              <a:t> (pl. Jest, Mocha).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BF588-9114-4048-909F-074FDC8DCD8F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2659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4 féle felhasználónk van: sima felhasználó, moderátor, </a:t>
            </a:r>
            <a:r>
              <a:rPr lang="hu-HU" dirty="0" err="1"/>
              <a:t>admin</a:t>
            </a:r>
            <a:r>
              <a:rPr lang="hu-HU" dirty="0"/>
              <a:t> és </a:t>
            </a:r>
            <a:r>
              <a:rPr lang="hu-HU" dirty="0" err="1"/>
              <a:t>superadmin</a:t>
            </a:r>
            <a:r>
              <a:rPr lang="hu-HU" dirty="0"/>
              <a:t>.</a:t>
            </a:r>
          </a:p>
          <a:p>
            <a:endParaRPr lang="hu-HU" dirty="0"/>
          </a:p>
          <a:p>
            <a:r>
              <a:rPr lang="hu-HU" dirty="0"/>
              <a:t>A sima felhasználó hozzáfér a weboldal összes funkciójához a moderátor és az </a:t>
            </a:r>
            <a:r>
              <a:rPr lang="hu-HU" dirty="0" err="1"/>
              <a:t>admin</a:t>
            </a:r>
            <a:r>
              <a:rPr lang="hu-HU" dirty="0"/>
              <a:t> műveleteken kívül. Többek között meg tudja nézni az oldalt, tud regisztrálni vagy bejelentkezni, tud lépegetni az oldalak között és minden egyéb funkciót elér. Ezeket a funkciókat egy későbbi diában fogom részletezni.</a:t>
            </a:r>
          </a:p>
          <a:p>
            <a:endParaRPr lang="hu-HU" dirty="0"/>
          </a:p>
          <a:p>
            <a:r>
              <a:rPr lang="hu-HU" dirty="0"/>
              <a:t>A moderátor hozzáfér minden funkcióhoz, amihez a felhasználó, és még pluszba ő felel a közösségi részbe bevitt adatok hitelességéért. Ilyen a megosztani kívánt benzinkutak elfogadása vagy elutasítása és a már megosztott benzinkutak törlése.</a:t>
            </a:r>
          </a:p>
          <a:p>
            <a:endParaRPr lang="hu-HU" dirty="0"/>
          </a:p>
          <a:p>
            <a:r>
              <a:rPr lang="hu-HU" dirty="0"/>
              <a:t>A következő felhasználónk az </a:t>
            </a:r>
            <a:r>
              <a:rPr lang="hu-HU" dirty="0" err="1"/>
              <a:t>admin</a:t>
            </a:r>
            <a:r>
              <a:rPr lang="hu-HU" dirty="0"/>
              <a:t>, aki szintén hozzáfér minden felhasználói funkcióhoz és emellett módosíthatja a felhasználók profil adatait(név, email, jelszó, jog) vagy törölheti a felhasználókat.</a:t>
            </a:r>
          </a:p>
          <a:p>
            <a:endParaRPr lang="hu-HU" dirty="0"/>
          </a:p>
          <a:p>
            <a:r>
              <a:rPr lang="hu-HU" dirty="0"/>
              <a:t>Az utolsó jogosultság a </a:t>
            </a:r>
            <a:r>
              <a:rPr lang="hu-HU" dirty="0" err="1"/>
              <a:t>superadmin</a:t>
            </a:r>
            <a:r>
              <a:rPr lang="hu-HU" dirty="0"/>
              <a:t>, aki annyiban különbözik az </a:t>
            </a:r>
            <a:r>
              <a:rPr lang="hu-HU" dirty="0" err="1"/>
              <a:t>admintól</a:t>
            </a:r>
            <a:r>
              <a:rPr lang="hu-HU" dirty="0"/>
              <a:t>, hogy belőle egy van és csak ő tudja kezelni a többi </a:t>
            </a:r>
            <a:r>
              <a:rPr lang="hu-HU" dirty="0" err="1"/>
              <a:t>admin</a:t>
            </a:r>
            <a:r>
              <a:rPr lang="hu-HU" dirty="0"/>
              <a:t> profilját vagy </a:t>
            </a:r>
            <a:r>
              <a:rPr lang="hu-HU" dirty="0" err="1"/>
              <a:t>admin</a:t>
            </a:r>
            <a:r>
              <a:rPr lang="hu-HU" dirty="0"/>
              <a:t> jogot adni másoknak.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BF588-9114-4048-909F-074FDC8DCD8F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660433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 b="1" err="1"/>
              <a:t>Felhasználók</a:t>
            </a:r>
            <a:r>
              <a:rPr lang="en-US" b="1"/>
              <a:t>:</a:t>
            </a:r>
            <a:r>
              <a:rPr lang="en-US"/>
              <a:t> Egyedi user </a:t>
            </a:r>
            <a:r>
              <a:rPr lang="en-US" err="1"/>
              <a:t>modell</a:t>
            </a:r>
            <a:r>
              <a:rPr lang="en-US"/>
              <a:t>, </a:t>
            </a:r>
            <a:r>
              <a:rPr lang="en-US" err="1"/>
              <a:t>jogosultságok</a:t>
            </a:r>
            <a:r>
              <a:rPr lang="en-US"/>
              <a:t> (auth), </a:t>
            </a:r>
            <a:r>
              <a:rPr lang="en-US" err="1"/>
              <a:t>és</a:t>
            </a:r>
            <a:r>
              <a:rPr lang="en-US"/>
              <a:t> </a:t>
            </a:r>
            <a:r>
              <a:rPr lang="en-US" err="1"/>
              <a:t>autókhoz</a:t>
            </a:r>
            <a:r>
              <a:rPr lang="en-US"/>
              <a:t> </a:t>
            </a:r>
            <a:r>
              <a:rPr lang="en-US" err="1"/>
              <a:t>való</a:t>
            </a:r>
            <a:r>
              <a:rPr lang="en-US"/>
              <a:t> </a:t>
            </a:r>
            <a:r>
              <a:rPr lang="en-US" err="1"/>
              <a:t>rendelés</a:t>
            </a:r>
            <a:r>
              <a:rPr lang="en-US"/>
              <a:t> (</a:t>
            </a:r>
            <a:r>
              <a:rPr lang="en-US" err="1"/>
              <a:t>car_user</a:t>
            </a:r>
            <a:r>
              <a:rPr lang="en-US"/>
              <a:t>).</a:t>
            </a:r>
          </a:p>
          <a:p>
            <a:pPr marL="171450" indent="-171450">
              <a:buFont typeface="Arial"/>
              <a:buChar char="•"/>
            </a:pPr>
            <a:r>
              <a:rPr lang="en-US" b="1" err="1"/>
              <a:t>Autó</a:t>
            </a:r>
            <a:r>
              <a:rPr lang="en-US" b="1"/>
              <a:t> </a:t>
            </a:r>
            <a:r>
              <a:rPr lang="en-US" b="1" err="1"/>
              <a:t>törzsadatok</a:t>
            </a:r>
            <a:r>
              <a:rPr lang="en-US" b="1"/>
              <a:t>:</a:t>
            </a:r>
            <a:r>
              <a:rPr lang="en-US"/>
              <a:t> </a:t>
            </a:r>
            <a:r>
              <a:rPr lang="en-US" err="1"/>
              <a:t>Márkák</a:t>
            </a:r>
            <a:r>
              <a:rPr lang="en-US"/>
              <a:t>, </a:t>
            </a:r>
            <a:r>
              <a:rPr lang="en-US" err="1"/>
              <a:t>modellek</a:t>
            </a:r>
            <a:r>
              <a:rPr lang="en-US"/>
              <a:t> </a:t>
            </a:r>
            <a:r>
              <a:rPr lang="en-US" err="1"/>
              <a:t>és</a:t>
            </a:r>
            <a:r>
              <a:rPr lang="en-US"/>
              <a:t> </a:t>
            </a:r>
            <a:r>
              <a:rPr lang="en-US" err="1"/>
              <a:t>üzemanyagtípusok</a:t>
            </a:r>
            <a:r>
              <a:rPr lang="en-US"/>
              <a:t> fix </a:t>
            </a:r>
            <a:r>
              <a:rPr lang="en-US" err="1"/>
              <a:t>adatbázisa</a:t>
            </a:r>
            <a:r>
              <a:rPr lang="en-US"/>
              <a:t> a </a:t>
            </a:r>
            <a:r>
              <a:rPr lang="en-US" err="1"/>
              <a:t>konzisztencia</a:t>
            </a:r>
            <a:r>
              <a:rPr lang="en-US"/>
              <a:t> </a:t>
            </a:r>
            <a:r>
              <a:rPr lang="en-US" err="1"/>
              <a:t>miatt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b="1" err="1"/>
              <a:t>Autóhasználat</a:t>
            </a:r>
            <a:r>
              <a:rPr lang="en-US" b="1"/>
              <a:t>:</a:t>
            </a:r>
            <a:r>
              <a:rPr lang="en-US"/>
              <a:t> A "</a:t>
            </a:r>
            <a:r>
              <a:rPr lang="en-US" err="1"/>
              <a:t>napi</a:t>
            </a:r>
            <a:r>
              <a:rPr lang="en-US"/>
              <a:t> </a:t>
            </a:r>
            <a:r>
              <a:rPr lang="en-US" err="1"/>
              <a:t>működés</a:t>
            </a:r>
            <a:r>
              <a:rPr lang="en-US"/>
              <a:t>" </a:t>
            </a:r>
            <a:r>
              <a:rPr lang="en-US" err="1"/>
              <a:t>magja</a:t>
            </a:r>
            <a:r>
              <a:rPr lang="en-US"/>
              <a:t>: </a:t>
            </a:r>
            <a:r>
              <a:rPr lang="en-US" err="1"/>
              <a:t>utak</a:t>
            </a:r>
            <a:r>
              <a:rPr lang="en-US"/>
              <a:t> (route), </a:t>
            </a:r>
            <a:r>
              <a:rPr lang="en-US" err="1"/>
              <a:t>tankolások</a:t>
            </a:r>
            <a:r>
              <a:rPr lang="en-US"/>
              <a:t> (fueling) </a:t>
            </a:r>
            <a:r>
              <a:rPr lang="en-US" err="1"/>
              <a:t>és</a:t>
            </a:r>
            <a:r>
              <a:rPr lang="en-US"/>
              <a:t> </a:t>
            </a:r>
            <a:r>
              <a:rPr lang="en-US" err="1"/>
              <a:t>szerviztörténet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b="1" err="1"/>
              <a:t>Közösség</a:t>
            </a:r>
            <a:r>
              <a:rPr lang="en-US" b="1"/>
              <a:t>:</a:t>
            </a:r>
            <a:r>
              <a:rPr lang="en-US"/>
              <a:t> </a:t>
            </a:r>
            <a:r>
              <a:rPr lang="en-US" err="1"/>
              <a:t>Megosztási</a:t>
            </a:r>
            <a:r>
              <a:rPr lang="en-US"/>
              <a:t> </a:t>
            </a:r>
            <a:r>
              <a:rPr lang="en-US" err="1"/>
              <a:t>beállítások</a:t>
            </a:r>
            <a:r>
              <a:rPr lang="en-US"/>
              <a:t> </a:t>
            </a:r>
            <a:r>
              <a:rPr lang="en-US" err="1"/>
              <a:t>és</a:t>
            </a:r>
            <a:r>
              <a:rPr lang="en-US"/>
              <a:t> </a:t>
            </a:r>
            <a:r>
              <a:rPr lang="en-US" err="1"/>
              <a:t>közösségi</a:t>
            </a:r>
            <a:r>
              <a:rPr lang="en-US"/>
              <a:t> </a:t>
            </a:r>
            <a:r>
              <a:rPr lang="en-US" err="1"/>
              <a:t>benzinkút-adatok</a:t>
            </a:r>
            <a:r>
              <a:rPr lang="en-US"/>
              <a:t> </a:t>
            </a:r>
            <a:r>
              <a:rPr lang="en-US" err="1"/>
              <a:t>kezelése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b="1" err="1"/>
              <a:t>Rendszerháttér</a:t>
            </a:r>
            <a:r>
              <a:rPr lang="en-US" b="1"/>
              <a:t>:</a:t>
            </a:r>
            <a:r>
              <a:rPr lang="en-US"/>
              <a:t> Django </a:t>
            </a:r>
            <a:r>
              <a:rPr lang="en-US" err="1"/>
              <a:t>beépített</a:t>
            </a:r>
            <a:r>
              <a:rPr lang="en-US"/>
              <a:t> </a:t>
            </a:r>
            <a:r>
              <a:rPr lang="en-US" err="1"/>
              <a:t>táblái</a:t>
            </a:r>
            <a:r>
              <a:rPr lang="en-US"/>
              <a:t> (admin </a:t>
            </a:r>
            <a:r>
              <a:rPr lang="en-US" err="1"/>
              <a:t>logok</a:t>
            </a:r>
            <a:r>
              <a:rPr lang="en-US"/>
              <a:t>, </a:t>
            </a:r>
            <a:r>
              <a:rPr lang="en-US" err="1"/>
              <a:t>munkamenetek</a:t>
            </a:r>
            <a:r>
              <a:rPr lang="en-US"/>
              <a:t>, </a:t>
            </a:r>
            <a:r>
              <a:rPr lang="en-US" err="1"/>
              <a:t>migrációk</a:t>
            </a:r>
            <a:r>
              <a:rPr lang="en-US"/>
              <a:t>) a </a:t>
            </a:r>
            <a:r>
              <a:rPr lang="en-US" err="1"/>
              <a:t>stabilitásért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endParaRPr lang="en-US" b="1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BF588-9114-4048-909F-074FDC8DCD8F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08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Frontenden szükségem volt </a:t>
            </a:r>
            <a:r>
              <a:rPr lang="hu-HU" dirty="0" err="1"/>
              <a:t>react</a:t>
            </a:r>
            <a:r>
              <a:rPr lang="hu-HU" dirty="0"/>
              <a:t>-re, ami az egész frontendnek az alapja, </a:t>
            </a:r>
            <a:r>
              <a:rPr lang="hu-HU" dirty="0" err="1"/>
              <a:t>bootstrapre</a:t>
            </a:r>
            <a:r>
              <a:rPr lang="hu-HU" dirty="0"/>
              <a:t> az elrendezés és egyes helyeken a </a:t>
            </a:r>
            <a:r>
              <a:rPr lang="hu-HU" dirty="0" err="1"/>
              <a:t>reszponzivitás</a:t>
            </a:r>
            <a:r>
              <a:rPr lang="hu-HU" dirty="0"/>
              <a:t> miatt, CSS-re a részletesebb </a:t>
            </a:r>
            <a:r>
              <a:rPr lang="hu-HU" dirty="0" err="1"/>
              <a:t>designoláshoz</a:t>
            </a:r>
            <a:r>
              <a:rPr lang="hu-HU" dirty="0"/>
              <a:t> és </a:t>
            </a:r>
            <a:r>
              <a:rPr lang="hu-HU" dirty="0" err="1"/>
              <a:t>reszponzivitáshoz</a:t>
            </a:r>
            <a:r>
              <a:rPr lang="hu-HU" dirty="0"/>
              <a:t>, chart.js-re a grafikonok létrehozásához és végül </a:t>
            </a:r>
            <a:r>
              <a:rPr lang="hu-HU" dirty="0" err="1"/>
              <a:t>vitest</a:t>
            </a:r>
            <a:r>
              <a:rPr lang="hu-HU" dirty="0"/>
              <a:t>-re a unit tesztek készítéséhez. Azért ezeket a technológiákat választottam, mert az iskolában is ezt tanuljuk és a vizsgára is ezekre lesz szükség, így kézenfekvő volt ezeket használni.</a:t>
            </a:r>
          </a:p>
          <a:p>
            <a:endParaRPr lang="hu-HU" dirty="0"/>
          </a:p>
          <a:p>
            <a:r>
              <a:rPr lang="hu-HU" dirty="0"/>
              <a:t>Végül azok a technológiák, amiket mindketten használtunk: Visual </a:t>
            </a:r>
            <a:r>
              <a:rPr lang="hu-HU" dirty="0" err="1"/>
              <a:t>Studio</a:t>
            </a:r>
            <a:r>
              <a:rPr lang="hu-HU" dirty="0"/>
              <a:t> </a:t>
            </a:r>
            <a:r>
              <a:rPr lang="hu-HU" dirty="0" err="1"/>
              <a:t>Code</a:t>
            </a:r>
            <a:r>
              <a:rPr lang="hu-HU" dirty="0"/>
              <a:t>, a fejlesztői környezet, ahol a kódokat írtuk, GitHub a verziókezeléshez, és a társalgási platformok: </a:t>
            </a:r>
            <a:r>
              <a:rPr lang="hu-HU" dirty="0" err="1"/>
              <a:t>Teams</a:t>
            </a:r>
            <a:r>
              <a:rPr lang="hu-HU" dirty="0"/>
              <a:t>, Messenger és </a:t>
            </a:r>
            <a:r>
              <a:rPr lang="hu-HU" dirty="0" err="1"/>
              <a:t>discord</a:t>
            </a:r>
            <a:r>
              <a:rPr lang="hu-HU" dirty="0"/>
              <a:t>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BF588-9114-4048-909F-074FDC8DCD8F}" type="slidenum">
              <a:rPr lang="hu-HU" smtClean="0"/>
              <a:t>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487230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Néha elakadtunk a projekttel, ekkor az interneten kellett segítség után kutatnunk. </a:t>
            </a:r>
          </a:p>
          <a:p>
            <a:r>
              <a:rPr lang="hu-HU" dirty="0"/>
              <a:t>Nekem frontenden számos alkalommal segített a </a:t>
            </a:r>
            <a:r>
              <a:rPr lang="hu-HU" dirty="0" err="1"/>
              <a:t>react</a:t>
            </a:r>
            <a:r>
              <a:rPr lang="hu-HU" dirty="0"/>
              <a:t>, a </a:t>
            </a:r>
            <a:r>
              <a:rPr lang="hu-HU" dirty="0" err="1"/>
              <a:t>bootstrap</a:t>
            </a:r>
            <a:r>
              <a:rPr lang="hu-HU" dirty="0"/>
              <a:t>, a chart.js és a </a:t>
            </a:r>
            <a:r>
              <a:rPr lang="hu-HU" dirty="0" err="1"/>
              <a:t>vitest</a:t>
            </a:r>
            <a:r>
              <a:rPr lang="hu-HU" dirty="0"/>
              <a:t> hivatalos dokumentációi, és a w3schools, főképp CSS-ben.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BF588-9114-4048-909F-074FDC8DCD8F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398802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Ahogy korábban említettem, most részletezni fogom a funkciókat. Ahogy látható, sok funkció található a weboldalunkon, ezek egy része CRUD műveletek, azaz létrehozás, lekérdezés, módosítás, törlés. Ilyen műveleteket lehet végezni az autóknál, tankolásoknál, benzinkutaknál, szervizeknél és eseményeknél.</a:t>
            </a:r>
          </a:p>
          <a:p>
            <a:r>
              <a:rPr lang="hu-HU" dirty="0"/>
              <a:t>Emellett vannak másmilyen típusú funkciók, mint a regisztráció, bejelentkezés, kijelentkezés, profil adatok módosítása, ezek a fiókhoz kapcsolódóak, Átlagfogyasztást lehet számítani egy teszttel; Költési limitet lehet beállítani; utat tervezhetünk, amiből kiderül a hossza, az ideje és a várható fogyasztás; a mentett adatokból statisztikákat kapunk; meg tudjuk osztani a benzinkutakat a többi felhasználóval és össze tudjuk hasonlítani a statisztikáinkat az övéikkel. </a:t>
            </a:r>
          </a:p>
          <a:p>
            <a:r>
              <a:rPr lang="hu-HU" dirty="0"/>
              <a:t>A moderátorok ellenőrizni tudják a benzinkutakat mielőtt mindenki láthatná őket, az </a:t>
            </a:r>
            <a:r>
              <a:rPr lang="hu-HU" dirty="0" err="1"/>
              <a:t>admin</a:t>
            </a:r>
            <a:r>
              <a:rPr lang="hu-HU" dirty="0"/>
              <a:t> pedig a profilok adatait tudja módosítani.</a:t>
            </a:r>
          </a:p>
          <a:p>
            <a:endParaRPr lang="hu-HU" dirty="0"/>
          </a:p>
          <a:p>
            <a:r>
              <a:rPr lang="hu-HU" dirty="0"/>
              <a:t>De vannak olyan funkciók is, amelyek nem konkrét műveletekhez tartoznak. Ilyen például a </a:t>
            </a:r>
            <a:r>
              <a:rPr lang="hu-HU" dirty="0" err="1"/>
              <a:t>reszponzivitás</a:t>
            </a:r>
            <a:r>
              <a:rPr lang="hu-HU" dirty="0"/>
              <a:t>, hogy az oldal minden eszközön jól jelenjen meg, felhasználóbarát kialakítás, egységes design és többször használható komponensek (amik együtt járnak), hibakezelés és validáció. Ezek főként a felhasználó használati élményét javítják.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BF588-9114-4048-909F-074FDC8DCD8F}" type="slidenum">
              <a:rPr lang="hu-HU" smtClean="0"/>
              <a:t>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454650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1. </a:t>
            </a:r>
            <a:r>
              <a:rPr lang="en-US" err="1"/>
              <a:t>Biztonság</a:t>
            </a:r>
            <a:r>
              <a:rPr lang="en-US"/>
              <a:t> </a:t>
            </a:r>
            <a:r>
              <a:rPr lang="en-US" err="1"/>
              <a:t>és</a:t>
            </a:r>
            <a:r>
              <a:rPr lang="en-US"/>
              <a:t> </a:t>
            </a:r>
            <a:r>
              <a:rPr lang="en-US" err="1"/>
              <a:t>Hozzáférés</a:t>
            </a:r>
            <a:endParaRPr lang="en-US" err="1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/>
              <a:t>JWT:</a:t>
            </a:r>
            <a:r>
              <a:rPr lang="en-US"/>
              <a:t> </a:t>
            </a:r>
            <a:r>
              <a:rPr lang="en-US" err="1"/>
              <a:t>Titkosított</a:t>
            </a:r>
            <a:r>
              <a:rPr lang="en-US"/>
              <a:t> token, stateless </a:t>
            </a:r>
            <a:r>
              <a:rPr lang="en-US" err="1"/>
              <a:t>azonosítás</a:t>
            </a:r>
            <a:r>
              <a:rPr lang="en-US"/>
              <a:t>, Header.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err="1"/>
              <a:t>Jogosultság</a:t>
            </a:r>
            <a:r>
              <a:rPr lang="en-US" b="1"/>
              <a:t>:</a:t>
            </a:r>
            <a:r>
              <a:rPr lang="en-US"/>
              <a:t> Role-ok (Admin/User), </a:t>
            </a:r>
            <a:r>
              <a:rPr lang="en-US" err="1"/>
              <a:t>hozzáférési</a:t>
            </a:r>
            <a:r>
              <a:rPr lang="en-US"/>
              <a:t> </a:t>
            </a:r>
            <a:r>
              <a:rPr lang="en-US" err="1"/>
              <a:t>szintek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/>
              <a:t>Admin:</a:t>
            </a:r>
            <a:r>
              <a:rPr lang="en-US"/>
              <a:t> </a:t>
            </a:r>
            <a:r>
              <a:rPr lang="en-US" err="1"/>
              <a:t>Központi</a:t>
            </a:r>
            <a:r>
              <a:rPr lang="en-US"/>
              <a:t> </a:t>
            </a:r>
            <a:r>
              <a:rPr lang="en-US" err="1"/>
              <a:t>felügyelet</a:t>
            </a:r>
            <a:r>
              <a:rPr lang="en-US"/>
              <a:t>, </a:t>
            </a:r>
            <a:r>
              <a:rPr lang="en-US" err="1"/>
              <a:t>moderáció</a:t>
            </a:r>
            <a:r>
              <a:rPr lang="en-US"/>
              <a:t>, </a:t>
            </a:r>
            <a:r>
              <a:rPr lang="en-US" err="1"/>
              <a:t>globális</a:t>
            </a:r>
            <a:r>
              <a:rPr lang="en-US"/>
              <a:t> </a:t>
            </a:r>
            <a:r>
              <a:rPr lang="en-US" err="1"/>
              <a:t>adatok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r>
              <a:rPr lang="en-US"/>
              <a:t>2. </a:t>
            </a:r>
            <a:r>
              <a:rPr lang="en-US" err="1"/>
              <a:t>Technikai</a:t>
            </a:r>
            <a:r>
              <a:rPr lang="en-US"/>
              <a:t> </a:t>
            </a:r>
            <a:r>
              <a:rPr lang="en-US" err="1"/>
              <a:t>Alapok</a:t>
            </a:r>
            <a:endParaRPr lang="en-US" err="1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/>
              <a:t>REST API:</a:t>
            </a:r>
            <a:r>
              <a:rPr lang="en-US"/>
              <a:t> HTTP </a:t>
            </a:r>
            <a:r>
              <a:rPr lang="en-US" err="1"/>
              <a:t>metódusok</a:t>
            </a:r>
            <a:r>
              <a:rPr lang="en-US"/>
              <a:t> (GET/POST), JSON </a:t>
            </a:r>
            <a:r>
              <a:rPr lang="en-US" err="1"/>
              <a:t>adatcsere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err="1"/>
              <a:t>Végpontok</a:t>
            </a:r>
            <a:r>
              <a:rPr lang="en-US" b="1"/>
              <a:t>:</a:t>
            </a:r>
            <a:r>
              <a:rPr lang="en-US"/>
              <a:t> </a:t>
            </a:r>
            <a:r>
              <a:rPr lang="en-US" err="1"/>
              <a:t>Tiszta</a:t>
            </a:r>
            <a:r>
              <a:rPr lang="en-US"/>
              <a:t> URL </a:t>
            </a:r>
            <a:r>
              <a:rPr lang="en-US" err="1"/>
              <a:t>struktúra</a:t>
            </a:r>
            <a:r>
              <a:rPr lang="en-US"/>
              <a:t>, </a:t>
            </a:r>
            <a:r>
              <a:rPr lang="en-US" err="1"/>
              <a:t>logikai</a:t>
            </a:r>
            <a:r>
              <a:rPr lang="en-US"/>
              <a:t> </a:t>
            </a:r>
            <a:r>
              <a:rPr lang="en-US" err="1"/>
              <a:t>szétválasztás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err="1"/>
              <a:t>Validáció</a:t>
            </a:r>
            <a:r>
              <a:rPr lang="en-US" b="1"/>
              <a:t>:</a:t>
            </a:r>
            <a:r>
              <a:rPr lang="en-US"/>
              <a:t> </a:t>
            </a:r>
            <a:r>
              <a:rPr lang="en-US" err="1"/>
              <a:t>Bemeneti</a:t>
            </a:r>
            <a:r>
              <a:rPr lang="en-US"/>
              <a:t> </a:t>
            </a:r>
            <a:r>
              <a:rPr lang="en-US" err="1"/>
              <a:t>ellenőrzés</a:t>
            </a:r>
            <a:r>
              <a:rPr lang="en-US"/>
              <a:t>, </a:t>
            </a:r>
            <a:r>
              <a:rPr lang="en-US" err="1"/>
              <a:t>hibaüzenetek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r>
              <a:rPr lang="en-US"/>
              <a:t>3. </a:t>
            </a:r>
            <a:r>
              <a:rPr lang="en-US" err="1"/>
              <a:t>Autó</a:t>
            </a:r>
            <a:r>
              <a:rPr lang="en-US"/>
              <a:t> </a:t>
            </a:r>
            <a:r>
              <a:rPr lang="en-US" err="1"/>
              <a:t>és</a:t>
            </a:r>
            <a:r>
              <a:rPr lang="en-US"/>
              <a:t> </a:t>
            </a:r>
            <a:r>
              <a:rPr lang="en-US" err="1"/>
              <a:t>Szerviz</a:t>
            </a:r>
            <a:endParaRPr lang="en-US" err="1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err="1"/>
              <a:t>Autó</a:t>
            </a:r>
            <a:r>
              <a:rPr lang="en-US" b="1"/>
              <a:t> </a:t>
            </a:r>
            <a:r>
              <a:rPr lang="en-US" b="1" err="1"/>
              <a:t>adatok</a:t>
            </a:r>
            <a:r>
              <a:rPr lang="en-US" b="1"/>
              <a:t>:</a:t>
            </a:r>
            <a:r>
              <a:rPr lang="en-US"/>
              <a:t> </a:t>
            </a:r>
            <a:r>
              <a:rPr lang="en-US" err="1"/>
              <a:t>Paraméterek</a:t>
            </a:r>
            <a:r>
              <a:rPr lang="en-US"/>
              <a:t>, </a:t>
            </a:r>
            <a:r>
              <a:rPr lang="en-US" err="1"/>
              <a:t>fogyasztás</a:t>
            </a:r>
            <a:r>
              <a:rPr lang="en-US"/>
              <a:t>, </a:t>
            </a:r>
            <a:r>
              <a:rPr lang="en-US" err="1"/>
              <a:t>tulajdonos-kapcsolat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err="1"/>
              <a:t>Szerviz</a:t>
            </a:r>
            <a:r>
              <a:rPr lang="en-US" b="1"/>
              <a:t>:</a:t>
            </a:r>
            <a:r>
              <a:rPr lang="en-US"/>
              <a:t> </a:t>
            </a:r>
            <a:r>
              <a:rPr lang="en-US" err="1"/>
              <a:t>Karbantartási</a:t>
            </a:r>
            <a:r>
              <a:rPr lang="en-US"/>
              <a:t> </a:t>
            </a:r>
            <a:r>
              <a:rPr lang="en-US" err="1"/>
              <a:t>napló</a:t>
            </a:r>
            <a:r>
              <a:rPr lang="en-US"/>
              <a:t>, </a:t>
            </a:r>
            <a:r>
              <a:rPr lang="en-US" err="1"/>
              <a:t>költségkövetés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err="1"/>
              <a:t>Emlékeztetők</a:t>
            </a:r>
            <a:r>
              <a:rPr lang="en-US" b="1"/>
              <a:t>:</a:t>
            </a:r>
            <a:r>
              <a:rPr lang="en-US"/>
              <a:t> </a:t>
            </a:r>
            <a:r>
              <a:rPr lang="en-US" err="1"/>
              <a:t>Dátum</a:t>
            </a:r>
            <a:r>
              <a:rPr lang="en-US"/>
              <a:t>/KM </a:t>
            </a:r>
            <a:r>
              <a:rPr lang="en-US" err="1"/>
              <a:t>alapú</a:t>
            </a:r>
            <a:r>
              <a:rPr lang="en-US"/>
              <a:t> </a:t>
            </a:r>
            <a:r>
              <a:rPr lang="en-US" err="1"/>
              <a:t>értesítések</a:t>
            </a:r>
            <a:r>
              <a:rPr lang="en-US"/>
              <a:t> (pl. </a:t>
            </a:r>
            <a:r>
              <a:rPr lang="en-US" err="1"/>
              <a:t>olajcsere</a:t>
            </a:r>
            <a:r>
              <a:rPr lang="en-US"/>
              <a:t>).</a:t>
            </a:r>
            <a:endParaRPr lang="en-US">
              <a:ea typeface="Calibri"/>
              <a:cs typeface="Calibri"/>
            </a:endParaRPr>
          </a:p>
          <a:p>
            <a:r>
              <a:rPr lang="en-US"/>
              <a:t>4. </a:t>
            </a:r>
            <a:r>
              <a:rPr lang="en-US" err="1"/>
              <a:t>Utak</a:t>
            </a:r>
            <a:r>
              <a:rPr lang="en-US"/>
              <a:t> </a:t>
            </a:r>
            <a:r>
              <a:rPr lang="en-US" err="1"/>
              <a:t>és</a:t>
            </a:r>
            <a:r>
              <a:rPr lang="en-US"/>
              <a:t> </a:t>
            </a:r>
            <a:r>
              <a:rPr lang="en-US" err="1"/>
              <a:t>Tankolás</a:t>
            </a:r>
            <a:endParaRPr lang="en-US" err="1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err="1"/>
              <a:t>Út</a:t>
            </a:r>
            <a:r>
              <a:rPr lang="en-US" b="1"/>
              <a:t> </a:t>
            </a:r>
            <a:r>
              <a:rPr lang="en-US" b="1" err="1"/>
              <a:t>adatok</a:t>
            </a:r>
            <a:r>
              <a:rPr lang="en-US" b="1"/>
              <a:t>:</a:t>
            </a:r>
            <a:r>
              <a:rPr lang="en-US"/>
              <a:t> </a:t>
            </a:r>
            <a:r>
              <a:rPr lang="en-US" err="1"/>
              <a:t>Címkezelés</a:t>
            </a:r>
            <a:r>
              <a:rPr lang="en-US"/>
              <a:t>, </a:t>
            </a:r>
            <a:r>
              <a:rPr lang="en-US" err="1"/>
              <a:t>távolság</a:t>
            </a:r>
            <a:r>
              <a:rPr lang="en-US"/>
              <a:t> </a:t>
            </a:r>
            <a:r>
              <a:rPr lang="en-US" err="1"/>
              <a:t>és</a:t>
            </a:r>
            <a:r>
              <a:rPr lang="en-US"/>
              <a:t> </a:t>
            </a:r>
            <a:r>
              <a:rPr lang="en-US" err="1"/>
              <a:t>menetidő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err="1"/>
              <a:t>Üzemanyag</a:t>
            </a:r>
            <a:r>
              <a:rPr lang="en-US" b="1"/>
              <a:t>:</a:t>
            </a:r>
            <a:r>
              <a:rPr lang="en-US"/>
              <a:t> </a:t>
            </a:r>
            <a:r>
              <a:rPr lang="en-US" err="1"/>
              <a:t>Literek</a:t>
            </a:r>
            <a:r>
              <a:rPr lang="en-US"/>
              <a:t>, </a:t>
            </a:r>
            <a:r>
              <a:rPr lang="en-US" err="1"/>
              <a:t>árak</a:t>
            </a:r>
            <a:r>
              <a:rPr lang="en-US"/>
              <a:t>, </a:t>
            </a:r>
            <a:r>
              <a:rPr lang="en-US" err="1"/>
              <a:t>benzinkutak</a:t>
            </a:r>
            <a:r>
              <a:rPr lang="en-US"/>
              <a:t> </a:t>
            </a:r>
            <a:r>
              <a:rPr lang="en-US" err="1"/>
              <a:t>összekötése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/>
              <a:t>Logika:</a:t>
            </a:r>
            <a:r>
              <a:rPr lang="en-US"/>
              <a:t> Automata </a:t>
            </a:r>
            <a:r>
              <a:rPr lang="en-US" err="1"/>
              <a:t>átlagfogyasztás</a:t>
            </a:r>
            <a:r>
              <a:rPr lang="en-US"/>
              <a:t> </a:t>
            </a:r>
            <a:r>
              <a:rPr lang="en-US" err="1"/>
              <a:t>és</a:t>
            </a:r>
            <a:r>
              <a:rPr lang="en-US"/>
              <a:t> </a:t>
            </a:r>
            <a:r>
              <a:rPr lang="en-US" err="1"/>
              <a:t>költség</a:t>
            </a:r>
            <a:r>
              <a:rPr lang="en-US"/>
              <a:t> </a:t>
            </a:r>
            <a:r>
              <a:rPr lang="en-US" err="1"/>
              <a:t>kalkuláció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r>
              <a:rPr lang="en-US"/>
              <a:t>5. </a:t>
            </a:r>
            <a:r>
              <a:rPr lang="en-US" err="1"/>
              <a:t>Statisztika</a:t>
            </a:r>
            <a:r>
              <a:rPr lang="en-US"/>
              <a:t> </a:t>
            </a:r>
            <a:r>
              <a:rPr lang="en-US" err="1"/>
              <a:t>és</a:t>
            </a:r>
            <a:r>
              <a:rPr lang="en-US"/>
              <a:t> </a:t>
            </a:r>
            <a:r>
              <a:rPr lang="en-US" err="1"/>
              <a:t>Közösség</a:t>
            </a:r>
            <a:endParaRPr lang="en-US" err="1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err="1"/>
              <a:t>Statisztika</a:t>
            </a:r>
            <a:r>
              <a:rPr lang="en-US" b="1"/>
              <a:t>:</a:t>
            </a:r>
            <a:r>
              <a:rPr lang="en-US"/>
              <a:t> Havi </a:t>
            </a:r>
            <a:r>
              <a:rPr lang="en-US" err="1"/>
              <a:t>riportok</a:t>
            </a:r>
            <a:r>
              <a:rPr lang="en-US"/>
              <a:t>, </a:t>
            </a:r>
            <a:r>
              <a:rPr lang="en-US" err="1"/>
              <a:t>futásteljesítmény</a:t>
            </a:r>
            <a:r>
              <a:rPr lang="en-US"/>
              <a:t> </a:t>
            </a:r>
            <a:r>
              <a:rPr lang="en-US" err="1"/>
              <a:t>elemzés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err="1"/>
              <a:t>Közösség</a:t>
            </a:r>
            <a:r>
              <a:rPr lang="en-US" b="1"/>
              <a:t>:</a:t>
            </a:r>
            <a:r>
              <a:rPr lang="en-US"/>
              <a:t> </a:t>
            </a:r>
            <a:r>
              <a:rPr lang="en-US" err="1"/>
              <a:t>Autó</a:t>
            </a:r>
            <a:r>
              <a:rPr lang="en-US"/>
              <a:t> </a:t>
            </a:r>
            <a:r>
              <a:rPr lang="en-US" err="1"/>
              <a:t>megosztás</a:t>
            </a:r>
            <a:r>
              <a:rPr lang="en-US"/>
              <a:t>, </a:t>
            </a:r>
            <a:r>
              <a:rPr lang="en-US" err="1"/>
              <a:t>benzinkutak</a:t>
            </a:r>
            <a:r>
              <a:rPr lang="en-US"/>
              <a:t> </a:t>
            </a:r>
            <a:r>
              <a:rPr lang="en-US" err="1"/>
              <a:t>közös</a:t>
            </a:r>
            <a:r>
              <a:rPr lang="en-US"/>
              <a:t> </a:t>
            </a:r>
            <a:r>
              <a:rPr lang="en-US" err="1"/>
              <a:t>adatbázisa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b="1"/>
              <a:t>Workflow:</a:t>
            </a:r>
            <a:r>
              <a:rPr lang="en-US"/>
              <a:t> User </a:t>
            </a:r>
            <a:r>
              <a:rPr lang="en-US" err="1"/>
              <a:t>beküldés</a:t>
            </a:r>
            <a:r>
              <a:rPr lang="en-US"/>
              <a:t> → Admin </a:t>
            </a:r>
            <a:r>
              <a:rPr lang="en-US" err="1"/>
              <a:t>jóváhagyás</a:t>
            </a:r>
            <a:r>
              <a:rPr lang="en-US"/>
              <a:t>.</a:t>
            </a:r>
            <a:br>
              <a:rPr lang="en-US">
                <a:ea typeface="Calibri"/>
                <a:cs typeface="+mn-lt"/>
              </a:rPr>
            </a:br>
            <a:endParaRPr lang="en-US">
              <a:ea typeface="Calibri"/>
              <a:cs typeface="+mn-lt"/>
            </a:endParaRPr>
          </a:p>
          <a:p>
            <a:r>
              <a:rPr lang="en-US">
                <a:ea typeface="Calibri"/>
                <a:cs typeface="+mn-lt"/>
              </a:rPr>
              <a:t>Nem </a:t>
            </a:r>
            <a:r>
              <a:rPr lang="en-US" err="1">
                <a:ea typeface="Calibri"/>
                <a:cs typeface="+mn-lt"/>
              </a:rPr>
              <a:t>fukcionális</a:t>
            </a:r>
            <a:br>
              <a:rPr lang="en-US">
                <a:ea typeface="Calibri"/>
                <a:cs typeface="+mn-lt"/>
              </a:rPr>
            </a:br>
            <a:r>
              <a:rPr lang="en-US"/>
              <a:t>1. </a:t>
            </a:r>
            <a:r>
              <a:rPr lang="en-US" err="1"/>
              <a:t>Biztonság</a:t>
            </a:r>
            <a:r>
              <a:rPr lang="en-US"/>
              <a:t> (</a:t>
            </a:r>
            <a:r>
              <a:rPr lang="en-US" err="1"/>
              <a:t>Jelszavak</a:t>
            </a:r>
            <a:r>
              <a:rPr lang="en-US"/>
              <a:t> </a:t>
            </a:r>
            <a:r>
              <a:rPr lang="en-US" err="1"/>
              <a:t>és</a:t>
            </a:r>
            <a:r>
              <a:rPr lang="en-US"/>
              <a:t> </a:t>
            </a:r>
            <a:r>
              <a:rPr lang="en-US" err="1"/>
              <a:t>Adatok</a:t>
            </a:r>
            <a:r>
              <a:rPr lang="en-US"/>
              <a:t>)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b="1"/>
              <a:t>Hashing:</a:t>
            </a:r>
            <a:r>
              <a:rPr lang="en-US"/>
              <a:t> PBKDF2 / Argon2 </a:t>
            </a:r>
            <a:r>
              <a:rPr lang="en-US" err="1"/>
              <a:t>algoritmus</a:t>
            </a:r>
            <a:r>
              <a:rPr lang="en-US"/>
              <a:t> (</a:t>
            </a:r>
            <a:r>
              <a:rPr lang="en-US" err="1"/>
              <a:t>soha</a:t>
            </a:r>
            <a:r>
              <a:rPr lang="en-US"/>
              <a:t> </a:t>
            </a:r>
            <a:r>
              <a:rPr lang="en-US" err="1"/>
              <a:t>nem</a:t>
            </a:r>
            <a:r>
              <a:rPr lang="en-US"/>
              <a:t> </a:t>
            </a:r>
            <a:r>
              <a:rPr lang="en-US" err="1"/>
              <a:t>tárolunk</a:t>
            </a:r>
            <a:r>
              <a:rPr lang="en-US"/>
              <a:t> sima </a:t>
            </a:r>
            <a:r>
              <a:rPr lang="en-US" err="1"/>
              <a:t>szöveges</a:t>
            </a:r>
            <a:r>
              <a:rPr lang="en-US"/>
              <a:t> </a:t>
            </a:r>
            <a:r>
              <a:rPr lang="en-US" err="1"/>
              <a:t>jelszót</a:t>
            </a:r>
            <a:r>
              <a:rPr lang="en-US"/>
              <a:t>).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b="1" err="1"/>
              <a:t>Titkosítás</a:t>
            </a:r>
            <a:r>
              <a:rPr lang="en-US" b="1"/>
              <a:t>:</a:t>
            </a:r>
            <a:r>
              <a:rPr lang="en-US"/>
              <a:t> </a:t>
            </a:r>
            <a:r>
              <a:rPr lang="en-US" err="1"/>
              <a:t>Érzékeny</a:t>
            </a:r>
            <a:r>
              <a:rPr lang="en-US"/>
              <a:t> </a:t>
            </a:r>
            <a:r>
              <a:rPr lang="en-US" err="1"/>
              <a:t>adatok</a:t>
            </a:r>
            <a:r>
              <a:rPr lang="en-US"/>
              <a:t> (pl. API </a:t>
            </a:r>
            <a:r>
              <a:rPr lang="en-US" err="1"/>
              <a:t>kulcsok</a:t>
            </a:r>
            <a:r>
              <a:rPr lang="en-US"/>
              <a:t>) </a:t>
            </a:r>
            <a:r>
              <a:rPr lang="en-US" err="1"/>
              <a:t>védelme</a:t>
            </a:r>
            <a:r>
              <a:rPr lang="en-US"/>
              <a:t> </a:t>
            </a:r>
            <a:r>
              <a:rPr lang="en-US" err="1"/>
              <a:t>környezeti</a:t>
            </a:r>
            <a:r>
              <a:rPr lang="en-US"/>
              <a:t> </a:t>
            </a:r>
            <a:r>
              <a:rPr lang="en-US" err="1"/>
              <a:t>változókkal</a:t>
            </a:r>
            <a:r>
              <a:rPr lang="en-US"/>
              <a:t> (.env).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b="1" err="1"/>
              <a:t>Adatvédelem</a:t>
            </a:r>
            <a:r>
              <a:rPr lang="en-US" b="1"/>
              <a:t>:</a:t>
            </a:r>
            <a:r>
              <a:rPr lang="en-US"/>
              <a:t> SQL injection </a:t>
            </a:r>
            <a:r>
              <a:rPr lang="en-US" err="1"/>
              <a:t>elleni</a:t>
            </a:r>
            <a:r>
              <a:rPr lang="en-US"/>
              <a:t> </a:t>
            </a:r>
            <a:r>
              <a:rPr lang="en-US" err="1"/>
              <a:t>védelem</a:t>
            </a:r>
            <a:r>
              <a:rPr lang="en-US"/>
              <a:t> (Django ORM </a:t>
            </a:r>
            <a:r>
              <a:rPr lang="en-US" err="1"/>
              <a:t>alapból</a:t>
            </a:r>
            <a:r>
              <a:rPr lang="en-US"/>
              <a:t> </a:t>
            </a:r>
            <a:r>
              <a:rPr lang="en-US" err="1"/>
              <a:t>tudja</a:t>
            </a:r>
            <a:r>
              <a:rPr lang="en-US"/>
              <a:t>), XSS </a:t>
            </a:r>
            <a:r>
              <a:rPr lang="en-US" err="1"/>
              <a:t>szűrés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/>
              <a:t>2. Logika </a:t>
            </a:r>
            <a:r>
              <a:rPr lang="en-US" err="1"/>
              <a:t>és</a:t>
            </a:r>
            <a:r>
              <a:rPr lang="en-US"/>
              <a:t> </a:t>
            </a:r>
            <a:r>
              <a:rPr lang="en-US" err="1"/>
              <a:t>Validáció</a:t>
            </a:r>
            <a:endParaRPr lang="en-US" err="1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b="1" err="1"/>
              <a:t>Validáció</a:t>
            </a:r>
            <a:r>
              <a:rPr lang="en-US" b="1"/>
              <a:t>:</a:t>
            </a:r>
            <a:r>
              <a:rPr lang="en-US"/>
              <a:t> </a:t>
            </a:r>
            <a:r>
              <a:rPr lang="en-US" err="1"/>
              <a:t>Típusellenőrzés</a:t>
            </a:r>
            <a:r>
              <a:rPr lang="en-US"/>
              <a:t> (</a:t>
            </a:r>
            <a:r>
              <a:rPr lang="en-US" err="1"/>
              <a:t>szám</a:t>
            </a:r>
            <a:r>
              <a:rPr lang="en-US"/>
              <a:t>-e?), </a:t>
            </a:r>
            <a:r>
              <a:rPr lang="en-US" err="1"/>
              <a:t>kényszerek</a:t>
            </a:r>
            <a:r>
              <a:rPr lang="en-US"/>
              <a:t> (pl. </a:t>
            </a:r>
            <a:r>
              <a:rPr lang="en-US" err="1"/>
              <a:t>rendszám</a:t>
            </a:r>
            <a:r>
              <a:rPr lang="en-US"/>
              <a:t> </a:t>
            </a:r>
            <a:r>
              <a:rPr lang="en-US" err="1"/>
              <a:t>formátum</a:t>
            </a:r>
            <a:r>
              <a:rPr lang="en-US"/>
              <a:t>), </a:t>
            </a:r>
            <a:r>
              <a:rPr lang="en-US" err="1"/>
              <a:t>kötelező</a:t>
            </a:r>
            <a:r>
              <a:rPr lang="en-US"/>
              <a:t> </a:t>
            </a:r>
            <a:r>
              <a:rPr lang="en-US" err="1"/>
              <a:t>mezők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b="1" err="1"/>
              <a:t>Üzleti</a:t>
            </a:r>
            <a:r>
              <a:rPr lang="en-US" b="1"/>
              <a:t> </a:t>
            </a:r>
            <a:r>
              <a:rPr lang="en-US" b="1" err="1"/>
              <a:t>logika</a:t>
            </a:r>
            <a:r>
              <a:rPr lang="en-US" b="1"/>
              <a:t>:</a:t>
            </a:r>
            <a:r>
              <a:rPr lang="en-US"/>
              <a:t> </a:t>
            </a:r>
            <a:r>
              <a:rPr lang="en-US" err="1"/>
              <a:t>Logikai</a:t>
            </a:r>
            <a:r>
              <a:rPr lang="en-US"/>
              <a:t> </a:t>
            </a:r>
            <a:r>
              <a:rPr lang="en-US" err="1"/>
              <a:t>szűrés</a:t>
            </a:r>
            <a:r>
              <a:rPr lang="en-US"/>
              <a:t> (pl. </a:t>
            </a:r>
            <a:r>
              <a:rPr lang="en-US" err="1"/>
              <a:t>nem</a:t>
            </a:r>
            <a:r>
              <a:rPr lang="en-US"/>
              <a:t> </a:t>
            </a:r>
            <a:r>
              <a:rPr lang="en-US" err="1"/>
              <a:t>lehet</a:t>
            </a:r>
            <a:r>
              <a:rPr lang="en-US"/>
              <a:t> </a:t>
            </a:r>
            <a:r>
              <a:rPr lang="en-US" err="1"/>
              <a:t>negatív</a:t>
            </a:r>
            <a:r>
              <a:rPr lang="en-US"/>
              <a:t> a </a:t>
            </a:r>
            <a:r>
              <a:rPr lang="en-US" err="1"/>
              <a:t>tankolt</a:t>
            </a:r>
            <a:r>
              <a:rPr lang="en-US"/>
              <a:t> liter).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b="1" err="1"/>
              <a:t>Tisztítás</a:t>
            </a:r>
            <a:r>
              <a:rPr lang="en-US" b="1"/>
              <a:t>:</a:t>
            </a:r>
            <a:r>
              <a:rPr lang="en-US"/>
              <a:t> clean() </a:t>
            </a:r>
            <a:r>
              <a:rPr lang="en-US" err="1"/>
              <a:t>metódusok</a:t>
            </a:r>
            <a:r>
              <a:rPr lang="en-US"/>
              <a:t> a </a:t>
            </a:r>
            <a:r>
              <a:rPr lang="en-US" err="1"/>
              <a:t>modellekben</a:t>
            </a:r>
            <a:r>
              <a:rPr lang="en-US"/>
              <a:t> </a:t>
            </a:r>
            <a:r>
              <a:rPr lang="en-US" err="1"/>
              <a:t>az</a:t>
            </a:r>
            <a:r>
              <a:rPr lang="en-US"/>
              <a:t> </a:t>
            </a:r>
            <a:r>
              <a:rPr lang="en-US" err="1"/>
              <a:t>adatkonzisztencia</a:t>
            </a:r>
            <a:r>
              <a:rPr lang="en-US"/>
              <a:t> </a:t>
            </a:r>
            <a:r>
              <a:rPr lang="en-US" err="1"/>
              <a:t>miatt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/>
              <a:t>3. </a:t>
            </a:r>
            <a:r>
              <a:rPr lang="en-US" err="1"/>
              <a:t>Hibakezelés</a:t>
            </a:r>
            <a:r>
              <a:rPr lang="en-US"/>
              <a:t> (Error Handling)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b="1"/>
              <a:t>Try-Except:</a:t>
            </a:r>
            <a:r>
              <a:rPr lang="en-US"/>
              <a:t> </a:t>
            </a:r>
            <a:r>
              <a:rPr lang="en-US" err="1"/>
              <a:t>Váratlan</a:t>
            </a:r>
            <a:r>
              <a:rPr lang="en-US"/>
              <a:t> </a:t>
            </a:r>
            <a:r>
              <a:rPr lang="en-US" err="1"/>
              <a:t>leállások</a:t>
            </a:r>
            <a:r>
              <a:rPr lang="en-US"/>
              <a:t> </a:t>
            </a:r>
            <a:r>
              <a:rPr lang="en-US" err="1"/>
              <a:t>megelőzése</a:t>
            </a:r>
            <a:r>
              <a:rPr lang="en-US"/>
              <a:t> a backend </a:t>
            </a:r>
            <a:r>
              <a:rPr lang="en-US" err="1"/>
              <a:t>oldalon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b="1"/>
              <a:t>HTTP </a:t>
            </a:r>
            <a:r>
              <a:rPr lang="en-US" b="1" err="1"/>
              <a:t>státuszkódok</a:t>
            </a:r>
            <a:r>
              <a:rPr lang="en-US" b="1"/>
              <a:t>:</a:t>
            </a:r>
            <a:r>
              <a:rPr lang="en-US"/>
              <a:t> Pontos </a:t>
            </a:r>
            <a:r>
              <a:rPr lang="en-US" err="1"/>
              <a:t>visszajelzés</a:t>
            </a:r>
            <a:r>
              <a:rPr lang="en-US"/>
              <a:t> a </a:t>
            </a:r>
            <a:r>
              <a:rPr lang="en-US" err="1"/>
              <a:t>kliensnek</a:t>
            </a:r>
            <a:r>
              <a:rPr lang="en-US"/>
              <a:t> (200 OK, 400 Bad Request, 401 Unauthorized, 404 Not Found).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b="1"/>
              <a:t>User feedback:</a:t>
            </a:r>
            <a:r>
              <a:rPr lang="en-US"/>
              <a:t> </a:t>
            </a:r>
            <a:r>
              <a:rPr lang="en-US" err="1"/>
              <a:t>Érthető</a:t>
            </a:r>
            <a:r>
              <a:rPr lang="en-US"/>
              <a:t> </a:t>
            </a:r>
            <a:r>
              <a:rPr lang="en-US" err="1"/>
              <a:t>hibaüzenetek</a:t>
            </a:r>
            <a:r>
              <a:rPr lang="en-US"/>
              <a:t> </a:t>
            </a:r>
            <a:r>
              <a:rPr lang="en-US" err="1"/>
              <a:t>küldése</a:t>
            </a:r>
            <a:r>
              <a:rPr lang="en-US"/>
              <a:t> a frontend </a:t>
            </a:r>
            <a:r>
              <a:rPr lang="en-US" err="1"/>
              <a:t>felé</a:t>
            </a:r>
            <a:r>
              <a:rPr lang="en-US"/>
              <a:t> a </a:t>
            </a:r>
            <a:r>
              <a:rPr lang="en-US" err="1"/>
              <a:t>technikai</a:t>
            </a:r>
            <a:r>
              <a:rPr lang="en-US"/>
              <a:t> </a:t>
            </a:r>
            <a:r>
              <a:rPr lang="en-US" err="1"/>
              <a:t>részletek</a:t>
            </a:r>
            <a:r>
              <a:rPr lang="en-US"/>
              <a:t> </a:t>
            </a:r>
            <a:r>
              <a:rPr lang="en-US" err="1"/>
              <a:t>elrejtésével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>
              <a:ea typeface="Calibri"/>
              <a:cs typeface="+mn-lt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BF588-9114-4048-909F-074FDC8DCD8F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121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T:</a:t>
            </a:r>
          </a:p>
          <a:p>
            <a:r>
              <a:rPr lang="hu-HU" dirty="0"/>
              <a:t>Összegezve minden tervet megvalósítottunk, és még túl is szárnyaltuk magunkat, mivel a tervezettnél még több funkciót sikerült implementálnunk. Voltak </a:t>
            </a:r>
            <a:r>
              <a:rPr lang="hu-HU" dirty="0" err="1"/>
              <a:t>kiseb</a:t>
            </a:r>
            <a:r>
              <a:rPr lang="hu-HU" dirty="0"/>
              <a:t>-nagyobb változtatások </a:t>
            </a:r>
          </a:p>
          <a:p>
            <a:r>
              <a:rPr lang="hu-HU" dirty="0"/>
              <a:t>designban, működésben, kialakításban, de ezek mind csak jobbá tették az oldalt. Sikerült felhasználóbaráttá alakítani az oldalt és a fejlesztés során elsajátítottuk a használt technológiákat.</a:t>
            </a:r>
          </a:p>
          <a:p>
            <a:endParaRPr lang="hu-HU" dirty="0"/>
          </a:p>
          <a:p>
            <a:r>
              <a:rPr lang="hu-HU" dirty="0"/>
              <a:t>D:</a:t>
            </a:r>
          </a:p>
          <a:p>
            <a:r>
              <a:rPr lang="hu-HU" dirty="0"/>
              <a:t>Gondoltunk arra is, hogy hogyan lehetne folytatni. </a:t>
            </a:r>
          </a:p>
          <a:p>
            <a:r>
              <a:rPr lang="hu-HU" dirty="0"/>
              <a:t>Implementálhatnánk egy API-t, ami segítségével a márkát és a modellt legördülő listából tudnánk választani.</a:t>
            </a:r>
          </a:p>
          <a:p>
            <a:r>
              <a:rPr lang="hu-HU" dirty="0"/>
              <a:t>A határidőket lehetne látványosabban jelezni, jobban a felhasználó tudtára adni az esemény közeledtét.</a:t>
            </a:r>
          </a:p>
          <a:p>
            <a:r>
              <a:rPr lang="hu-HU" dirty="0"/>
              <a:t>GPS használatával nagyot javulna az oldal, rengeteg új lehetőséget nyitna meg.</a:t>
            </a:r>
          </a:p>
          <a:p>
            <a:r>
              <a:rPr lang="hu-HU" dirty="0"/>
              <a:t>Személyre lehetne szabni a menüt, hogy könnyebben elérhetőek legyenek a szükséges funkciók.</a:t>
            </a:r>
          </a:p>
          <a:p>
            <a:r>
              <a:rPr lang="hu-HU" dirty="0"/>
              <a:t>Autókat oszthatnának meg egymás között az emberek. Ez főképp a cégeknek segítene, hogy nyomon követhessék az összes céges autót például.</a:t>
            </a:r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BF588-9114-4048-909F-074FDC8DCD8F}" type="slidenum">
              <a:rPr lang="hu-HU" smtClean="0"/>
              <a:t>12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987544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Ezzel elérkeztünk a bemutató végére. Köszönjük szépen a figyelmet és várjuk a kérdéseket.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BF588-9114-4048-909F-074FDC8DCD8F}" type="slidenum">
              <a:rPr lang="hu-HU" smtClean="0"/>
              <a:t>13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71085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Alcím mintájának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31746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10502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6358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4695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9168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97832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78127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03084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3066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63091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72255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F1901C-D33B-4565-A7E4-5DF903098DB6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98062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églalap 8">
            <a:extLst>
              <a:ext uri="{FF2B5EF4-FFF2-40B4-BE49-F238E27FC236}">
                <a16:creationId xmlns:a16="http://schemas.microsoft.com/office/drawing/2014/main" id="{CCB6ABA4-89FF-F06B-8AD9-27AAF30276AB}"/>
              </a:ext>
            </a:extLst>
          </p:cNvPr>
          <p:cNvSpPr/>
          <p:nvPr/>
        </p:nvSpPr>
        <p:spPr>
          <a:xfrm>
            <a:off x="14526" y="2470"/>
            <a:ext cx="12179040" cy="685977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57150"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81A242DD-EDD8-706F-C315-F002B68152C2}"/>
              </a:ext>
            </a:extLst>
          </p:cNvPr>
          <p:cNvSpPr/>
          <p:nvPr/>
        </p:nvSpPr>
        <p:spPr>
          <a:xfrm>
            <a:off x="502791" y="453852"/>
            <a:ext cx="11189731" cy="595485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rgbClr val="FFFFFF"/>
              </a:solidFill>
            </a:endParaRPr>
          </a:p>
        </p:txBody>
      </p:sp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56198" y="674198"/>
            <a:ext cx="9144000" cy="1378756"/>
          </a:xfrm>
        </p:spPr>
        <p:txBody>
          <a:bodyPr>
            <a:normAutofit fontScale="90000"/>
          </a:bodyPr>
          <a:lstStyle/>
          <a:p>
            <a:r>
              <a:rPr lang="hu-HU" sz="9600" b="1">
                <a:solidFill>
                  <a:schemeClr val="bg1"/>
                </a:solidFill>
                <a:latin typeface="Segoe UI"/>
                <a:cs typeface="Segoe UI"/>
              </a:rPr>
              <a:t>AutoMate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9C51C476-FB97-1088-C49E-A8F7B7BBC250}"/>
              </a:ext>
            </a:extLst>
          </p:cNvPr>
          <p:cNvSpPr txBox="1"/>
          <p:nvPr/>
        </p:nvSpPr>
        <p:spPr>
          <a:xfrm>
            <a:off x="1918176" y="4618732"/>
            <a:ext cx="2464158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hu-HU" sz="2400" b="1">
                <a:solidFill>
                  <a:srgbClr val="4099FF"/>
                </a:solidFill>
                <a:latin typeface="Segoe UI"/>
                <a:cs typeface="Segoe UI"/>
              </a:rPr>
              <a:t>Csapattagok   |</a:t>
            </a:r>
          </a:p>
          <a:p>
            <a:pPr algn="r"/>
            <a:r>
              <a:rPr lang="hu-HU" sz="2400" b="1">
                <a:solidFill>
                  <a:srgbClr val="4099FF"/>
                </a:solidFill>
                <a:latin typeface="Segoe UI"/>
                <a:cs typeface="Segoe UI"/>
              </a:rPr>
              <a:t>  |</a:t>
            </a:r>
          </a:p>
          <a:p>
            <a:pPr algn="r"/>
            <a:r>
              <a:rPr lang="hu-HU" sz="2400" b="1">
                <a:solidFill>
                  <a:srgbClr val="94C6FF"/>
                </a:solidFill>
                <a:latin typeface="Segoe UI"/>
                <a:cs typeface="Segoe UI"/>
              </a:rPr>
              <a:t>Iskola   |</a:t>
            </a:r>
          </a:p>
          <a:p>
            <a:pPr algn="r"/>
            <a:r>
              <a:rPr lang="hu-HU" sz="2400" b="1">
                <a:solidFill>
                  <a:srgbClr val="D9EBFF"/>
                </a:solidFill>
                <a:latin typeface="Segoe UI"/>
                <a:cs typeface="Segoe UI"/>
              </a:rPr>
              <a:t>Konzulens   |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2FF0B844-FB26-DF3F-188D-E5BFFCC0D840}"/>
              </a:ext>
            </a:extLst>
          </p:cNvPr>
          <p:cNvSpPr txBox="1"/>
          <p:nvPr/>
        </p:nvSpPr>
        <p:spPr>
          <a:xfrm>
            <a:off x="4371404" y="4621727"/>
            <a:ext cx="6148238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400" b="1">
                <a:solidFill>
                  <a:srgbClr val="4099FF"/>
                </a:solidFill>
                <a:latin typeface="Segoe UI"/>
                <a:cs typeface="Segoe UI"/>
              </a:rPr>
              <a:t>Oláh Áron Dániel</a:t>
            </a:r>
          </a:p>
          <a:p>
            <a:r>
              <a:rPr lang="hu-HU" sz="2400" b="1">
                <a:solidFill>
                  <a:srgbClr val="4099FF"/>
                </a:solidFill>
                <a:latin typeface="Segoe UI"/>
                <a:cs typeface="Segoe UI"/>
              </a:rPr>
              <a:t>Vanák Tamás</a:t>
            </a:r>
          </a:p>
          <a:p>
            <a:r>
              <a:rPr lang="hu-HU" sz="2400" b="1">
                <a:solidFill>
                  <a:srgbClr val="94C6FF"/>
                </a:solidFill>
                <a:latin typeface="Segoe UI"/>
                <a:cs typeface="Segoe UI"/>
              </a:rPr>
              <a:t>BMSZC Bolyai János Műszaki Technikum</a:t>
            </a:r>
          </a:p>
          <a:p>
            <a:r>
              <a:rPr lang="hu-HU" sz="2400" b="1">
                <a:solidFill>
                  <a:srgbClr val="D9EBFF"/>
                </a:solidFill>
                <a:latin typeface="Segoe UI"/>
                <a:cs typeface="Segoe UI"/>
              </a:rPr>
              <a:t>Dorogházi Donát</a:t>
            </a:r>
          </a:p>
        </p:txBody>
      </p:sp>
      <p:pic>
        <p:nvPicPr>
          <p:cNvPr id="15" name="Kép 14" descr="A képen embléma, szimbólum, Védjegy, szöveg látható&#10;&#10;Lehet, hogy az AI által létrehozott tartalom helytelen.">
            <a:extLst>
              <a:ext uri="{FF2B5EF4-FFF2-40B4-BE49-F238E27FC236}">
                <a16:creationId xmlns:a16="http://schemas.microsoft.com/office/drawing/2014/main" id="{A1CD715A-F731-C936-AF33-FC4C1C9FA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9212" y="2128493"/>
            <a:ext cx="2288704" cy="2275000"/>
          </a:xfrm>
          <a:prstGeom prst="rect">
            <a:avLst/>
          </a:prstGeom>
        </p:spPr>
      </p:pic>
      <p:sp>
        <p:nvSpPr>
          <p:cNvPr id="3" name="Ellipszis 2">
            <a:extLst>
              <a:ext uri="{FF2B5EF4-FFF2-40B4-BE49-F238E27FC236}">
                <a16:creationId xmlns:a16="http://schemas.microsoft.com/office/drawing/2014/main" id="{EEFEE45C-2BE2-7601-B688-320AD41B6264}"/>
              </a:ext>
            </a:extLst>
          </p:cNvPr>
          <p:cNvSpPr/>
          <p:nvPr/>
        </p:nvSpPr>
        <p:spPr>
          <a:xfrm>
            <a:off x="-1204920" y="-341493"/>
            <a:ext cx="2454088" cy="2465294"/>
          </a:xfrm>
          <a:prstGeom prst="ellipse">
            <a:avLst/>
          </a:prstGeom>
          <a:solidFill>
            <a:srgbClr val="075DBF"/>
          </a:solidFill>
          <a:ln>
            <a:solidFill>
              <a:srgbClr val="075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Ellipszis 5">
            <a:extLst>
              <a:ext uri="{FF2B5EF4-FFF2-40B4-BE49-F238E27FC236}">
                <a16:creationId xmlns:a16="http://schemas.microsoft.com/office/drawing/2014/main" id="{C359B664-97DD-909B-8D6C-4F367B24DBBA}"/>
              </a:ext>
            </a:extLst>
          </p:cNvPr>
          <p:cNvSpPr/>
          <p:nvPr/>
        </p:nvSpPr>
        <p:spPr>
          <a:xfrm>
            <a:off x="238398" y="-583540"/>
            <a:ext cx="1683124" cy="1766047"/>
          </a:xfrm>
          <a:prstGeom prst="ellipse">
            <a:avLst/>
          </a:prstGeom>
          <a:solidFill>
            <a:srgbClr val="0C7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Ellipszis 6">
            <a:extLst>
              <a:ext uri="{FF2B5EF4-FFF2-40B4-BE49-F238E27FC236}">
                <a16:creationId xmlns:a16="http://schemas.microsoft.com/office/drawing/2014/main" id="{19A964D7-D1C8-F668-A7ED-A32C98870D87}"/>
              </a:ext>
            </a:extLst>
          </p:cNvPr>
          <p:cNvSpPr/>
          <p:nvPr/>
        </p:nvSpPr>
        <p:spPr>
          <a:xfrm>
            <a:off x="1457598" y="-709045"/>
            <a:ext cx="1423148" cy="1425389"/>
          </a:xfrm>
          <a:prstGeom prst="ellipse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Ellipszis 9">
            <a:extLst>
              <a:ext uri="{FF2B5EF4-FFF2-40B4-BE49-F238E27FC236}">
                <a16:creationId xmlns:a16="http://schemas.microsoft.com/office/drawing/2014/main" id="{E8615518-541C-CBB5-7B16-36C33E1667F6}"/>
              </a:ext>
            </a:extLst>
          </p:cNvPr>
          <p:cNvSpPr/>
          <p:nvPr/>
        </p:nvSpPr>
        <p:spPr>
          <a:xfrm>
            <a:off x="2461645" y="-583539"/>
            <a:ext cx="1181101" cy="1174377"/>
          </a:xfrm>
          <a:prstGeom prst="ellipse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Ellipszis 10">
            <a:extLst>
              <a:ext uri="{FF2B5EF4-FFF2-40B4-BE49-F238E27FC236}">
                <a16:creationId xmlns:a16="http://schemas.microsoft.com/office/drawing/2014/main" id="{11600B0D-062D-DC3B-2E16-1EF7B330A749}"/>
              </a:ext>
            </a:extLst>
          </p:cNvPr>
          <p:cNvSpPr/>
          <p:nvPr/>
        </p:nvSpPr>
        <p:spPr>
          <a:xfrm>
            <a:off x="10969152" y="4714601"/>
            <a:ext cx="2454088" cy="2465294"/>
          </a:xfrm>
          <a:prstGeom prst="ellipse">
            <a:avLst/>
          </a:prstGeom>
          <a:solidFill>
            <a:srgbClr val="075DBF"/>
          </a:solidFill>
          <a:ln>
            <a:solidFill>
              <a:srgbClr val="075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Ellipszis 11">
            <a:extLst>
              <a:ext uri="{FF2B5EF4-FFF2-40B4-BE49-F238E27FC236}">
                <a16:creationId xmlns:a16="http://schemas.microsoft.com/office/drawing/2014/main" id="{3E03A354-3A78-15B0-49DB-9E933D332959}"/>
              </a:ext>
            </a:extLst>
          </p:cNvPr>
          <p:cNvSpPr/>
          <p:nvPr/>
        </p:nvSpPr>
        <p:spPr>
          <a:xfrm>
            <a:off x="10386444" y="5521424"/>
            <a:ext cx="1683124" cy="1766047"/>
          </a:xfrm>
          <a:prstGeom prst="ellipse">
            <a:avLst/>
          </a:prstGeom>
          <a:solidFill>
            <a:srgbClr val="0C7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Ellipszis 12">
            <a:extLst>
              <a:ext uri="{FF2B5EF4-FFF2-40B4-BE49-F238E27FC236}">
                <a16:creationId xmlns:a16="http://schemas.microsoft.com/office/drawing/2014/main" id="{4A07C1F7-112B-2FFC-9753-85660894F1D5}"/>
              </a:ext>
            </a:extLst>
          </p:cNvPr>
          <p:cNvSpPr/>
          <p:nvPr/>
        </p:nvSpPr>
        <p:spPr>
          <a:xfrm>
            <a:off x="9678233" y="5942767"/>
            <a:ext cx="1423148" cy="1425389"/>
          </a:xfrm>
          <a:prstGeom prst="ellipse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Ellipszis 13">
            <a:extLst>
              <a:ext uri="{FF2B5EF4-FFF2-40B4-BE49-F238E27FC236}">
                <a16:creationId xmlns:a16="http://schemas.microsoft.com/office/drawing/2014/main" id="{6EE3F1D8-5967-CD09-7377-055CF23D1371}"/>
              </a:ext>
            </a:extLst>
          </p:cNvPr>
          <p:cNvSpPr/>
          <p:nvPr/>
        </p:nvSpPr>
        <p:spPr>
          <a:xfrm>
            <a:off x="8862445" y="6274462"/>
            <a:ext cx="1181101" cy="1174377"/>
          </a:xfrm>
          <a:prstGeom prst="ellipse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ADE5BBE2-9E00-8249-EA15-A304BC31CA13}"/>
              </a:ext>
            </a:extLst>
          </p:cNvPr>
          <p:cNvSpPr txBox="1"/>
          <p:nvPr/>
        </p:nvSpPr>
        <p:spPr>
          <a:xfrm>
            <a:off x="405653" y="6470276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hu-HU" b="1">
                <a:solidFill>
                  <a:srgbClr val="FFFFFF"/>
                </a:solidFill>
                <a:latin typeface="Segoe UI"/>
                <a:cs typeface="Segoe UI"/>
              </a:rPr>
              <a:t>1/12</a:t>
            </a:r>
          </a:p>
        </p:txBody>
      </p:sp>
      <p:pic>
        <p:nvPicPr>
          <p:cNvPr id="16" name="Kép 15" descr="A képen autó, jármű, Szárazföldi jármű, Autómatrica látható&#10;&#10;Lehet, hogy az AI által létrehozott tartalom helytelen.">
            <a:extLst>
              <a:ext uri="{FF2B5EF4-FFF2-40B4-BE49-F238E27FC236}">
                <a16:creationId xmlns:a16="http://schemas.microsoft.com/office/drawing/2014/main" id="{CF8921D8-77C3-9ACA-2660-110B205318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819" y="2478512"/>
            <a:ext cx="4135460" cy="1579005"/>
          </a:xfrm>
          <a:prstGeom prst="rect">
            <a:avLst/>
          </a:prstGeom>
        </p:spPr>
      </p:pic>
      <p:pic>
        <p:nvPicPr>
          <p:cNvPr id="18" name="Kép 17" descr="A képen jármű, autó, Szárazföldi jármű, Autómatrica látható&#10;&#10;Lehet, hogy az AI által létrehozott tartalom helytelen.">
            <a:extLst>
              <a:ext uri="{FF2B5EF4-FFF2-40B4-BE49-F238E27FC236}">
                <a16:creationId xmlns:a16="http://schemas.microsoft.com/office/drawing/2014/main" id="{05E2912B-88F7-59CA-97F9-F754341F3C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0184" y="2478512"/>
            <a:ext cx="4199855" cy="1568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748471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>
            <a:extLst>
              <a:ext uri="{FF2B5EF4-FFF2-40B4-BE49-F238E27FC236}">
                <a16:creationId xmlns:a16="http://schemas.microsoft.com/office/drawing/2014/main" id="{37550697-0BDC-2D5B-CB8B-B9FC1D10B745}"/>
              </a:ext>
            </a:extLst>
          </p:cNvPr>
          <p:cNvSpPr/>
          <p:nvPr/>
        </p:nvSpPr>
        <p:spPr>
          <a:xfrm>
            <a:off x="14526" y="2470"/>
            <a:ext cx="12179040" cy="685977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57150"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2ECB39AB-63C1-E8BD-9CAE-4640AD60D350}"/>
              </a:ext>
            </a:extLst>
          </p:cNvPr>
          <p:cNvSpPr/>
          <p:nvPr/>
        </p:nvSpPr>
        <p:spPr>
          <a:xfrm>
            <a:off x="502791" y="453852"/>
            <a:ext cx="11189731" cy="595485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rgbClr val="FFFFFF"/>
              </a:solidFill>
            </a:endParaRPr>
          </a:p>
        </p:txBody>
      </p:sp>
      <p:sp>
        <p:nvSpPr>
          <p:cNvPr id="7" name="Ellipszis 6">
            <a:extLst>
              <a:ext uri="{FF2B5EF4-FFF2-40B4-BE49-F238E27FC236}">
                <a16:creationId xmlns:a16="http://schemas.microsoft.com/office/drawing/2014/main" id="{9DE28F46-1908-3CAC-10E9-D29E224B1825}"/>
              </a:ext>
            </a:extLst>
          </p:cNvPr>
          <p:cNvSpPr/>
          <p:nvPr/>
        </p:nvSpPr>
        <p:spPr>
          <a:xfrm>
            <a:off x="-1204920" y="-341493"/>
            <a:ext cx="2454088" cy="2465294"/>
          </a:xfrm>
          <a:prstGeom prst="ellipse">
            <a:avLst/>
          </a:prstGeom>
          <a:solidFill>
            <a:srgbClr val="075DBF"/>
          </a:solidFill>
          <a:ln>
            <a:solidFill>
              <a:srgbClr val="075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Ellipszis 8">
            <a:extLst>
              <a:ext uri="{FF2B5EF4-FFF2-40B4-BE49-F238E27FC236}">
                <a16:creationId xmlns:a16="http://schemas.microsoft.com/office/drawing/2014/main" id="{1015D4B0-C1C5-4214-8D74-C1FC819FF1B9}"/>
              </a:ext>
            </a:extLst>
          </p:cNvPr>
          <p:cNvSpPr/>
          <p:nvPr/>
        </p:nvSpPr>
        <p:spPr>
          <a:xfrm>
            <a:off x="238398" y="-583540"/>
            <a:ext cx="1683124" cy="1766047"/>
          </a:xfrm>
          <a:prstGeom prst="ellipse">
            <a:avLst/>
          </a:prstGeom>
          <a:solidFill>
            <a:srgbClr val="0C7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Ellipszis 10">
            <a:extLst>
              <a:ext uri="{FF2B5EF4-FFF2-40B4-BE49-F238E27FC236}">
                <a16:creationId xmlns:a16="http://schemas.microsoft.com/office/drawing/2014/main" id="{181DB8FC-29C4-6277-799E-94F5740D136E}"/>
              </a:ext>
            </a:extLst>
          </p:cNvPr>
          <p:cNvSpPr/>
          <p:nvPr/>
        </p:nvSpPr>
        <p:spPr>
          <a:xfrm>
            <a:off x="1457598" y="-709045"/>
            <a:ext cx="1423148" cy="1425389"/>
          </a:xfrm>
          <a:prstGeom prst="ellipse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Ellipszis 12">
            <a:extLst>
              <a:ext uri="{FF2B5EF4-FFF2-40B4-BE49-F238E27FC236}">
                <a16:creationId xmlns:a16="http://schemas.microsoft.com/office/drawing/2014/main" id="{5466264A-1D88-9FD8-01D2-CAB0FC9D0520}"/>
              </a:ext>
            </a:extLst>
          </p:cNvPr>
          <p:cNvSpPr/>
          <p:nvPr/>
        </p:nvSpPr>
        <p:spPr>
          <a:xfrm>
            <a:off x="2461645" y="-583539"/>
            <a:ext cx="1181101" cy="1174377"/>
          </a:xfrm>
          <a:prstGeom prst="ellipse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Ellipszis 14">
            <a:extLst>
              <a:ext uri="{FF2B5EF4-FFF2-40B4-BE49-F238E27FC236}">
                <a16:creationId xmlns:a16="http://schemas.microsoft.com/office/drawing/2014/main" id="{D2FEDAE9-68FA-E1C5-60B1-7244C04B25C7}"/>
              </a:ext>
            </a:extLst>
          </p:cNvPr>
          <p:cNvSpPr/>
          <p:nvPr/>
        </p:nvSpPr>
        <p:spPr>
          <a:xfrm>
            <a:off x="10969152" y="4714601"/>
            <a:ext cx="2454088" cy="2465294"/>
          </a:xfrm>
          <a:prstGeom prst="ellipse">
            <a:avLst/>
          </a:prstGeom>
          <a:solidFill>
            <a:srgbClr val="075DBF"/>
          </a:solidFill>
          <a:ln>
            <a:solidFill>
              <a:srgbClr val="075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Ellipszis 16">
            <a:extLst>
              <a:ext uri="{FF2B5EF4-FFF2-40B4-BE49-F238E27FC236}">
                <a16:creationId xmlns:a16="http://schemas.microsoft.com/office/drawing/2014/main" id="{621C979D-B311-2CC7-FB70-A3B63B40334D}"/>
              </a:ext>
            </a:extLst>
          </p:cNvPr>
          <p:cNvSpPr/>
          <p:nvPr/>
        </p:nvSpPr>
        <p:spPr>
          <a:xfrm>
            <a:off x="10386444" y="5521424"/>
            <a:ext cx="1683124" cy="1766047"/>
          </a:xfrm>
          <a:prstGeom prst="ellipse">
            <a:avLst/>
          </a:prstGeom>
          <a:solidFill>
            <a:srgbClr val="0C7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Ellipszis 18">
            <a:extLst>
              <a:ext uri="{FF2B5EF4-FFF2-40B4-BE49-F238E27FC236}">
                <a16:creationId xmlns:a16="http://schemas.microsoft.com/office/drawing/2014/main" id="{962813D7-CA2F-B0C0-4264-D597C5DB1858}"/>
              </a:ext>
            </a:extLst>
          </p:cNvPr>
          <p:cNvSpPr/>
          <p:nvPr/>
        </p:nvSpPr>
        <p:spPr>
          <a:xfrm>
            <a:off x="9678233" y="5942767"/>
            <a:ext cx="1423148" cy="1425389"/>
          </a:xfrm>
          <a:prstGeom prst="ellipse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" name="Ellipszis 20">
            <a:extLst>
              <a:ext uri="{FF2B5EF4-FFF2-40B4-BE49-F238E27FC236}">
                <a16:creationId xmlns:a16="http://schemas.microsoft.com/office/drawing/2014/main" id="{18BB42FC-554F-9411-4B81-396822ACE97E}"/>
              </a:ext>
            </a:extLst>
          </p:cNvPr>
          <p:cNvSpPr/>
          <p:nvPr/>
        </p:nvSpPr>
        <p:spPr>
          <a:xfrm>
            <a:off x="8862445" y="6274462"/>
            <a:ext cx="1181101" cy="1174377"/>
          </a:xfrm>
          <a:prstGeom prst="ellipse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6789ED8F-0580-F88F-4098-09E92D954EBF}"/>
              </a:ext>
            </a:extLst>
          </p:cNvPr>
          <p:cNvSpPr txBox="1"/>
          <p:nvPr/>
        </p:nvSpPr>
        <p:spPr>
          <a:xfrm>
            <a:off x="405653" y="6470276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hu-HU" b="1">
                <a:solidFill>
                  <a:srgbClr val="FFFFFF"/>
                </a:solidFill>
                <a:latin typeface="Segoe UI"/>
                <a:cs typeface="Segoe UI"/>
              </a:rPr>
              <a:t>2/12</a:t>
            </a:r>
          </a:p>
        </p:txBody>
      </p:sp>
      <p:sp>
        <p:nvSpPr>
          <p:cNvPr id="25" name="Cím 1">
            <a:extLst>
              <a:ext uri="{FF2B5EF4-FFF2-40B4-BE49-F238E27FC236}">
                <a16:creationId xmlns:a16="http://schemas.microsoft.com/office/drawing/2014/main" id="{42DEA5EA-FCFC-761F-5F22-BBB08C5BFEB3}"/>
              </a:ext>
            </a:extLst>
          </p:cNvPr>
          <p:cNvSpPr txBox="1">
            <a:spLocks/>
          </p:cNvSpPr>
          <p:nvPr/>
        </p:nvSpPr>
        <p:spPr>
          <a:xfrm>
            <a:off x="5304" y="719020"/>
            <a:ext cx="12183034" cy="813981"/>
          </a:xfrm>
          <a:prstGeom prst="rect">
            <a:avLst/>
          </a:prstGeom>
        </p:spPr>
        <p:txBody>
          <a:bodyPr lIns="91440" tIns="45720" rIns="91440" bIns="4572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4800" b="1">
                <a:solidFill>
                  <a:schemeClr val="bg1"/>
                </a:solidFill>
                <a:latin typeface="Segoe UI"/>
                <a:cs typeface="Segoe UI"/>
              </a:rPr>
              <a:t>Motiváció &amp; Bevezetés</a:t>
            </a:r>
            <a:endParaRPr lang="hu-HU" sz="4800">
              <a:solidFill>
                <a:schemeClr val="bg1"/>
              </a:solidFill>
            </a:endParaRPr>
          </a:p>
        </p:txBody>
      </p:sp>
      <p:sp>
        <p:nvSpPr>
          <p:cNvPr id="26" name="Szövegdoboz 25">
            <a:extLst>
              <a:ext uri="{FF2B5EF4-FFF2-40B4-BE49-F238E27FC236}">
                <a16:creationId xmlns:a16="http://schemas.microsoft.com/office/drawing/2014/main" id="{5B9496C0-8A4A-B9DC-FB1E-C3B37F9F51FD}"/>
              </a:ext>
            </a:extLst>
          </p:cNvPr>
          <p:cNvSpPr txBox="1"/>
          <p:nvPr/>
        </p:nvSpPr>
        <p:spPr>
          <a:xfrm>
            <a:off x="1082369" y="1984166"/>
            <a:ext cx="364988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Hasznos a mindennapokban</a:t>
            </a:r>
          </a:p>
        </p:txBody>
      </p:sp>
      <p:cxnSp>
        <p:nvCxnSpPr>
          <p:cNvPr id="28" name="Egyenes összekötő nyíllal 27">
            <a:extLst>
              <a:ext uri="{FF2B5EF4-FFF2-40B4-BE49-F238E27FC236}">
                <a16:creationId xmlns:a16="http://schemas.microsoft.com/office/drawing/2014/main" id="{4ED4BF7E-0466-3463-8077-4456C5ACB904}"/>
              </a:ext>
            </a:extLst>
          </p:cNvPr>
          <p:cNvCxnSpPr/>
          <p:nvPr/>
        </p:nvCxnSpPr>
        <p:spPr>
          <a:xfrm>
            <a:off x="6012172" y="1512348"/>
            <a:ext cx="34381" cy="1333180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Szövegdoboz 28">
            <a:extLst>
              <a:ext uri="{FF2B5EF4-FFF2-40B4-BE49-F238E27FC236}">
                <a16:creationId xmlns:a16="http://schemas.microsoft.com/office/drawing/2014/main" id="{CCF0F7E9-B484-EF6D-8BE4-E745014FAE63}"/>
              </a:ext>
            </a:extLst>
          </p:cNvPr>
          <p:cNvSpPr txBox="1"/>
          <p:nvPr/>
        </p:nvSpPr>
        <p:spPr>
          <a:xfrm>
            <a:off x="1082368" y="3064469"/>
            <a:ext cx="364988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Sok embert érint</a:t>
            </a:r>
          </a:p>
        </p:txBody>
      </p:sp>
      <p:sp>
        <p:nvSpPr>
          <p:cNvPr id="30" name="Szövegdoboz 29">
            <a:extLst>
              <a:ext uri="{FF2B5EF4-FFF2-40B4-BE49-F238E27FC236}">
                <a16:creationId xmlns:a16="http://schemas.microsoft.com/office/drawing/2014/main" id="{55586AAA-9B6C-B742-6C73-5EA77D352FFA}"/>
              </a:ext>
            </a:extLst>
          </p:cNvPr>
          <p:cNvSpPr txBox="1"/>
          <p:nvPr/>
        </p:nvSpPr>
        <p:spPr>
          <a:xfrm>
            <a:off x="1082367" y="4144772"/>
            <a:ext cx="364988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Nincs rá megoldás</a:t>
            </a:r>
          </a:p>
        </p:txBody>
      </p:sp>
      <p:sp>
        <p:nvSpPr>
          <p:cNvPr id="31" name="Szövegdoboz 30">
            <a:extLst>
              <a:ext uri="{FF2B5EF4-FFF2-40B4-BE49-F238E27FC236}">
                <a16:creationId xmlns:a16="http://schemas.microsoft.com/office/drawing/2014/main" id="{D4384E00-002B-D65D-4CF2-F2E6E0A18AB0}"/>
              </a:ext>
            </a:extLst>
          </p:cNvPr>
          <p:cNvSpPr txBox="1"/>
          <p:nvPr/>
        </p:nvSpPr>
        <p:spPr>
          <a:xfrm>
            <a:off x="1082367" y="5225075"/>
            <a:ext cx="364988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Minden adat egy helyen</a:t>
            </a:r>
          </a:p>
        </p:txBody>
      </p:sp>
      <p:sp>
        <p:nvSpPr>
          <p:cNvPr id="33" name="Szövegdoboz 32">
            <a:extLst>
              <a:ext uri="{FF2B5EF4-FFF2-40B4-BE49-F238E27FC236}">
                <a16:creationId xmlns:a16="http://schemas.microsoft.com/office/drawing/2014/main" id="{12FA9A79-4373-63FB-ABAF-D54FA38D0ABC}"/>
              </a:ext>
            </a:extLst>
          </p:cNvPr>
          <p:cNvSpPr txBox="1"/>
          <p:nvPr/>
        </p:nvSpPr>
        <p:spPr>
          <a:xfrm>
            <a:off x="6917938" y="1984165"/>
            <a:ext cx="418038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Autóhasználat nyomon követése</a:t>
            </a:r>
          </a:p>
        </p:txBody>
      </p:sp>
      <p:sp>
        <p:nvSpPr>
          <p:cNvPr id="34" name="Szövegdoboz 33">
            <a:extLst>
              <a:ext uri="{FF2B5EF4-FFF2-40B4-BE49-F238E27FC236}">
                <a16:creationId xmlns:a16="http://schemas.microsoft.com/office/drawing/2014/main" id="{0AFCDE54-09EF-7E00-4642-AC18FB7EFFC1}"/>
              </a:ext>
            </a:extLst>
          </p:cNvPr>
          <p:cNvSpPr txBox="1"/>
          <p:nvPr/>
        </p:nvSpPr>
        <p:spPr>
          <a:xfrm>
            <a:off x="6917938" y="2861913"/>
            <a:ext cx="418038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Utak &amp; Tankolások</a:t>
            </a:r>
          </a:p>
        </p:txBody>
      </p:sp>
      <p:sp>
        <p:nvSpPr>
          <p:cNvPr id="35" name="Szövegdoboz 34">
            <a:extLst>
              <a:ext uri="{FF2B5EF4-FFF2-40B4-BE49-F238E27FC236}">
                <a16:creationId xmlns:a16="http://schemas.microsoft.com/office/drawing/2014/main" id="{8EEC2714-24F3-81B4-5F78-AE91665000CE}"/>
              </a:ext>
            </a:extLst>
          </p:cNvPr>
          <p:cNvSpPr txBox="1"/>
          <p:nvPr/>
        </p:nvSpPr>
        <p:spPr>
          <a:xfrm>
            <a:off x="6917937" y="4347330"/>
            <a:ext cx="418038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Szervizek &amp; Események</a:t>
            </a:r>
            <a:endParaRPr lang="hu-HU"/>
          </a:p>
        </p:txBody>
      </p:sp>
      <p:sp>
        <p:nvSpPr>
          <p:cNvPr id="36" name="Szövegdoboz 35">
            <a:extLst>
              <a:ext uri="{FF2B5EF4-FFF2-40B4-BE49-F238E27FC236}">
                <a16:creationId xmlns:a16="http://schemas.microsoft.com/office/drawing/2014/main" id="{93A2B4FA-703D-589F-52CE-B8C4503F35AD}"/>
              </a:ext>
            </a:extLst>
          </p:cNvPr>
          <p:cNvSpPr txBox="1"/>
          <p:nvPr/>
        </p:nvSpPr>
        <p:spPr>
          <a:xfrm>
            <a:off x="6329556" y="5225076"/>
            <a:ext cx="476876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Fogyasztás &amp; Költségek &amp; Statisztikák</a:t>
            </a:r>
            <a:endParaRPr lang="hu-HU"/>
          </a:p>
        </p:txBody>
      </p:sp>
      <p:sp>
        <p:nvSpPr>
          <p:cNvPr id="37" name="Szövegdoboz 36">
            <a:extLst>
              <a:ext uri="{FF2B5EF4-FFF2-40B4-BE49-F238E27FC236}">
                <a16:creationId xmlns:a16="http://schemas.microsoft.com/office/drawing/2014/main" id="{0A68E665-11F2-E0F5-65F6-4CDECE52B293}"/>
              </a:ext>
            </a:extLst>
          </p:cNvPr>
          <p:cNvSpPr txBox="1"/>
          <p:nvPr/>
        </p:nvSpPr>
        <p:spPr>
          <a:xfrm>
            <a:off x="6917937" y="3575684"/>
            <a:ext cx="418038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Benzinkutak</a:t>
            </a:r>
            <a:endParaRPr lang="hu-HU"/>
          </a:p>
        </p:txBody>
      </p:sp>
      <p:cxnSp>
        <p:nvCxnSpPr>
          <p:cNvPr id="8" name="Egyenes összekötő nyíllal 7">
            <a:extLst>
              <a:ext uri="{FF2B5EF4-FFF2-40B4-BE49-F238E27FC236}">
                <a16:creationId xmlns:a16="http://schemas.microsoft.com/office/drawing/2014/main" id="{9D7EEACF-31C7-317A-DD92-D6E6B476EEE0}"/>
              </a:ext>
            </a:extLst>
          </p:cNvPr>
          <p:cNvCxnSpPr>
            <a:cxnSpLocks/>
          </p:cNvCxnSpPr>
          <p:nvPr/>
        </p:nvCxnSpPr>
        <p:spPr>
          <a:xfrm>
            <a:off x="6070045" y="4714676"/>
            <a:ext cx="15090" cy="1323535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2" name="Kép 11" descr="A képen clipart, Grafika,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D59E4618-E095-1050-E0D4-4EE9722CF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0969" y="3129082"/>
            <a:ext cx="1303961" cy="1284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77415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37A8B-C738-1DD7-E173-AB8B29CAB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>
            <a:extLst>
              <a:ext uri="{FF2B5EF4-FFF2-40B4-BE49-F238E27FC236}">
                <a16:creationId xmlns:a16="http://schemas.microsoft.com/office/drawing/2014/main" id="{3BE8CB95-244F-5009-CDD2-674A1855C8B3}"/>
              </a:ext>
            </a:extLst>
          </p:cNvPr>
          <p:cNvSpPr/>
          <p:nvPr/>
        </p:nvSpPr>
        <p:spPr>
          <a:xfrm>
            <a:off x="14526" y="2470"/>
            <a:ext cx="12179040" cy="685977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57150"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CB1B832D-CD1D-A1D6-2574-4CB7A1B0F8C8}"/>
              </a:ext>
            </a:extLst>
          </p:cNvPr>
          <p:cNvSpPr/>
          <p:nvPr/>
        </p:nvSpPr>
        <p:spPr>
          <a:xfrm>
            <a:off x="502791" y="453852"/>
            <a:ext cx="11189731" cy="595485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rgbClr val="FFFFFF"/>
              </a:solidFill>
            </a:endParaRPr>
          </a:p>
        </p:txBody>
      </p:sp>
      <p:sp>
        <p:nvSpPr>
          <p:cNvPr id="7" name="Ellipszis 6">
            <a:extLst>
              <a:ext uri="{FF2B5EF4-FFF2-40B4-BE49-F238E27FC236}">
                <a16:creationId xmlns:a16="http://schemas.microsoft.com/office/drawing/2014/main" id="{7A3BCA7C-81BE-144E-CE8D-5484885E35F8}"/>
              </a:ext>
            </a:extLst>
          </p:cNvPr>
          <p:cNvSpPr/>
          <p:nvPr/>
        </p:nvSpPr>
        <p:spPr>
          <a:xfrm>
            <a:off x="-1204920" y="-341493"/>
            <a:ext cx="2454088" cy="2465294"/>
          </a:xfrm>
          <a:prstGeom prst="ellipse">
            <a:avLst/>
          </a:prstGeom>
          <a:solidFill>
            <a:srgbClr val="075DBF"/>
          </a:solidFill>
          <a:ln>
            <a:solidFill>
              <a:srgbClr val="075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Ellipszis 8">
            <a:extLst>
              <a:ext uri="{FF2B5EF4-FFF2-40B4-BE49-F238E27FC236}">
                <a16:creationId xmlns:a16="http://schemas.microsoft.com/office/drawing/2014/main" id="{56E1326F-9440-1E51-220A-6AFB306E3627}"/>
              </a:ext>
            </a:extLst>
          </p:cNvPr>
          <p:cNvSpPr/>
          <p:nvPr/>
        </p:nvSpPr>
        <p:spPr>
          <a:xfrm>
            <a:off x="238398" y="-583540"/>
            <a:ext cx="1683124" cy="1766047"/>
          </a:xfrm>
          <a:prstGeom prst="ellipse">
            <a:avLst/>
          </a:prstGeom>
          <a:solidFill>
            <a:srgbClr val="0C7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Ellipszis 10">
            <a:extLst>
              <a:ext uri="{FF2B5EF4-FFF2-40B4-BE49-F238E27FC236}">
                <a16:creationId xmlns:a16="http://schemas.microsoft.com/office/drawing/2014/main" id="{D6536E97-A658-21AF-ACB9-5C8C1294C7C8}"/>
              </a:ext>
            </a:extLst>
          </p:cNvPr>
          <p:cNvSpPr/>
          <p:nvPr/>
        </p:nvSpPr>
        <p:spPr>
          <a:xfrm>
            <a:off x="1457598" y="-709045"/>
            <a:ext cx="1423148" cy="1425389"/>
          </a:xfrm>
          <a:prstGeom prst="ellipse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Ellipszis 12">
            <a:extLst>
              <a:ext uri="{FF2B5EF4-FFF2-40B4-BE49-F238E27FC236}">
                <a16:creationId xmlns:a16="http://schemas.microsoft.com/office/drawing/2014/main" id="{A672FDCB-0176-4D85-9BA8-7A7ABAA1B5C4}"/>
              </a:ext>
            </a:extLst>
          </p:cNvPr>
          <p:cNvSpPr/>
          <p:nvPr/>
        </p:nvSpPr>
        <p:spPr>
          <a:xfrm>
            <a:off x="2461645" y="-583539"/>
            <a:ext cx="1181101" cy="1174377"/>
          </a:xfrm>
          <a:prstGeom prst="ellipse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Ellipszis 14">
            <a:extLst>
              <a:ext uri="{FF2B5EF4-FFF2-40B4-BE49-F238E27FC236}">
                <a16:creationId xmlns:a16="http://schemas.microsoft.com/office/drawing/2014/main" id="{5549785B-B04E-7DF3-DCF7-412E738DFA3C}"/>
              </a:ext>
            </a:extLst>
          </p:cNvPr>
          <p:cNvSpPr/>
          <p:nvPr/>
        </p:nvSpPr>
        <p:spPr>
          <a:xfrm>
            <a:off x="10969152" y="4714601"/>
            <a:ext cx="2454088" cy="2465294"/>
          </a:xfrm>
          <a:prstGeom prst="ellipse">
            <a:avLst/>
          </a:prstGeom>
          <a:solidFill>
            <a:srgbClr val="075DBF"/>
          </a:solidFill>
          <a:ln>
            <a:solidFill>
              <a:srgbClr val="075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Ellipszis 16">
            <a:extLst>
              <a:ext uri="{FF2B5EF4-FFF2-40B4-BE49-F238E27FC236}">
                <a16:creationId xmlns:a16="http://schemas.microsoft.com/office/drawing/2014/main" id="{C5E0E244-447B-6044-DA7B-54248A92955C}"/>
              </a:ext>
            </a:extLst>
          </p:cNvPr>
          <p:cNvSpPr/>
          <p:nvPr/>
        </p:nvSpPr>
        <p:spPr>
          <a:xfrm>
            <a:off x="10386444" y="5521424"/>
            <a:ext cx="1683124" cy="1766047"/>
          </a:xfrm>
          <a:prstGeom prst="ellipse">
            <a:avLst/>
          </a:prstGeom>
          <a:solidFill>
            <a:srgbClr val="0C7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Ellipszis 18">
            <a:extLst>
              <a:ext uri="{FF2B5EF4-FFF2-40B4-BE49-F238E27FC236}">
                <a16:creationId xmlns:a16="http://schemas.microsoft.com/office/drawing/2014/main" id="{7070D760-2090-8CFE-94F9-ED98E401705B}"/>
              </a:ext>
            </a:extLst>
          </p:cNvPr>
          <p:cNvSpPr/>
          <p:nvPr/>
        </p:nvSpPr>
        <p:spPr>
          <a:xfrm>
            <a:off x="9678233" y="5942767"/>
            <a:ext cx="1423148" cy="1425389"/>
          </a:xfrm>
          <a:prstGeom prst="ellipse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" name="Ellipszis 20">
            <a:extLst>
              <a:ext uri="{FF2B5EF4-FFF2-40B4-BE49-F238E27FC236}">
                <a16:creationId xmlns:a16="http://schemas.microsoft.com/office/drawing/2014/main" id="{89AAA6F1-9313-4917-B744-54DBB6975E0C}"/>
              </a:ext>
            </a:extLst>
          </p:cNvPr>
          <p:cNvSpPr/>
          <p:nvPr/>
        </p:nvSpPr>
        <p:spPr>
          <a:xfrm>
            <a:off x="8862445" y="6274462"/>
            <a:ext cx="1181101" cy="1174377"/>
          </a:xfrm>
          <a:prstGeom prst="ellipse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380EE07B-3DAF-F522-5C6C-3C2A1B34E1EE}"/>
              </a:ext>
            </a:extLst>
          </p:cNvPr>
          <p:cNvSpPr txBox="1"/>
          <p:nvPr/>
        </p:nvSpPr>
        <p:spPr>
          <a:xfrm>
            <a:off x="405653" y="6470276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hu-HU" b="1">
                <a:solidFill>
                  <a:srgbClr val="FFFFFF"/>
                </a:solidFill>
                <a:latin typeface="Segoe UI"/>
                <a:cs typeface="Segoe UI"/>
              </a:rPr>
              <a:t>3/12</a:t>
            </a:r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5A8BD611-930F-1351-729E-DC855029AA84}"/>
              </a:ext>
            </a:extLst>
          </p:cNvPr>
          <p:cNvSpPr txBox="1">
            <a:spLocks/>
          </p:cNvSpPr>
          <p:nvPr/>
        </p:nvSpPr>
        <p:spPr>
          <a:xfrm>
            <a:off x="5304" y="719020"/>
            <a:ext cx="12183034" cy="813981"/>
          </a:xfrm>
          <a:prstGeom prst="rect">
            <a:avLst/>
          </a:prstGeom>
        </p:spPr>
        <p:txBody>
          <a:bodyPr lIns="91440" tIns="45720" rIns="91440" bIns="4572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4800" b="1">
                <a:solidFill>
                  <a:schemeClr val="bg1"/>
                </a:solidFill>
                <a:latin typeface="Segoe UI"/>
                <a:cs typeface="Segoe UI"/>
              </a:rPr>
              <a:t>Munkamegosztás</a:t>
            </a:r>
            <a:endParaRPr lang="hu-HU">
              <a:solidFill>
                <a:schemeClr val="bg1"/>
              </a:solidFill>
            </a:endParaRPr>
          </a:p>
        </p:txBody>
      </p:sp>
      <p:sp>
        <p:nvSpPr>
          <p:cNvPr id="16" name="Téglalap 15">
            <a:extLst>
              <a:ext uri="{FF2B5EF4-FFF2-40B4-BE49-F238E27FC236}">
                <a16:creationId xmlns:a16="http://schemas.microsoft.com/office/drawing/2014/main" id="{3CFE06D8-45C3-8CF6-65B8-3C4D27B5C7E7}"/>
              </a:ext>
            </a:extLst>
          </p:cNvPr>
          <p:cNvSpPr/>
          <p:nvPr/>
        </p:nvSpPr>
        <p:spPr>
          <a:xfrm>
            <a:off x="2343563" y="2594979"/>
            <a:ext cx="3376377" cy="3512421"/>
          </a:xfrm>
          <a:prstGeom prst="rect">
            <a:avLst/>
          </a:prstGeom>
          <a:solidFill>
            <a:srgbClr val="0536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96F96E6E-2116-3F1F-8AEE-0FE68024875A}"/>
              </a:ext>
            </a:extLst>
          </p:cNvPr>
          <p:cNvSpPr/>
          <p:nvPr/>
        </p:nvSpPr>
        <p:spPr>
          <a:xfrm>
            <a:off x="2200128" y="2451543"/>
            <a:ext cx="3376377" cy="3512421"/>
          </a:xfrm>
          <a:prstGeom prst="rect">
            <a:avLst/>
          </a:prstGeom>
          <a:solidFill>
            <a:srgbClr val="075D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57290104-6EDE-3878-F8EA-A88CCBDA2D6C}"/>
              </a:ext>
            </a:extLst>
          </p:cNvPr>
          <p:cNvSpPr txBox="1"/>
          <p:nvPr/>
        </p:nvSpPr>
        <p:spPr>
          <a:xfrm>
            <a:off x="6266329" y="1609164"/>
            <a:ext cx="2985247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400" b="1">
                <a:solidFill>
                  <a:srgbClr val="4099FF"/>
                </a:solidFill>
                <a:latin typeface="Segoe UI"/>
              </a:rPr>
              <a:t>Oláh Áron Dániel</a:t>
            </a:r>
            <a:endParaRPr lang="hu-HU"/>
          </a:p>
          <a:p>
            <a:r>
              <a:rPr lang="hu-HU" b="1">
                <a:solidFill>
                  <a:srgbClr val="94C6FF"/>
                </a:solidFill>
                <a:latin typeface="Segoe UI"/>
                <a:cs typeface="Segoe UI"/>
              </a:rPr>
              <a:t>backend</a:t>
            </a:r>
          </a:p>
        </p:txBody>
      </p:sp>
      <p:sp>
        <p:nvSpPr>
          <p:cNvPr id="20" name="Téglalap 19">
            <a:extLst>
              <a:ext uri="{FF2B5EF4-FFF2-40B4-BE49-F238E27FC236}">
                <a16:creationId xmlns:a16="http://schemas.microsoft.com/office/drawing/2014/main" id="{9D87C899-8E76-7A61-6B2E-D32F527C446E}"/>
              </a:ext>
            </a:extLst>
          </p:cNvPr>
          <p:cNvSpPr/>
          <p:nvPr/>
        </p:nvSpPr>
        <p:spPr>
          <a:xfrm>
            <a:off x="6422504" y="2612908"/>
            <a:ext cx="3376377" cy="3512421"/>
          </a:xfrm>
          <a:prstGeom prst="rect">
            <a:avLst/>
          </a:prstGeom>
          <a:solidFill>
            <a:srgbClr val="0536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" name="Téglalap 21">
            <a:extLst>
              <a:ext uri="{FF2B5EF4-FFF2-40B4-BE49-F238E27FC236}">
                <a16:creationId xmlns:a16="http://schemas.microsoft.com/office/drawing/2014/main" id="{6DD4E4A7-E6BB-A6A2-DEA2-4091F92EBD4C}"/>
              </a:ext>
            </a:extLst>
          </p:cNvPr>
          <p:cNvSpPr/>
          <p:nvPr/>
        </p:nvSpPr>
        <p:spPr>
          <a:xfrm>
            <a:off x="6279069" y="2497014"/>
            <a:ext cx="3376377" cy="3512421"/>
          </a:xfrm>
          <a:prstGeom prst="rect">
            <a:avLst/>
          </a:prstGeom>
          <a:solidFill>
            <a:srgbClr val="075D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hu-HU"/>
          </a:p>
        </p:txBody>
      </p:sp>
      <p:cxnSp>
        <p:nvCxnSpPr>
          <p:cNvPr id="26" name="Egyenes összekötő nyíllal 25">
            <a:extLst>
              <a:ext uri="{FF2B5EF4-FFF2-40B4-BE49-F238E27FC236}">
                <a16:creationId xmlns:a16="http://schemas.microsoft.com/office/drawing/2014/main" id="{63AF8B37-5D75-A1AA-626A-B358BBEFDE81}"/>
              </a:ext>
            </a:extLst>
          </p:cNvPr>
          <p:cNvCxnSpPr/>
          <p:nvPr/>
        </p:nvCxnSpPr>
        <p:spPr>
          <a:xfrm flipH="1">
            <a:off x="1958648" y="2453642"/>
            <a:ext cx="1477" cy="3493674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Egyenes összekötő nyíllal 26">
            <a:extLst>
              <a:ext uri="{FF2B5EF4-FFF2-40B4-BE49-F238E27FC236}">
                <a16:creationId xmlns:a16="http://schemas.microsoft.com/office/drawing/2014/main" id="{39EB1F3E-AD6B-B0FF-A1E3-DEB009A2A6A3}"/>
              </a:ext>
            </a:extLst>
          </p:cNvPr>
          <p:cNvCxnSpPr>
            <a:cxnSpLocks/>
          </p:cNvCxnSpPr>
          <p:nvPr/>
        </p:nvCxnSpPr>
        <p:spPr>
          <a:xfrm>
            <a:off x="1700148" y="2857053"/>
            <a:ext cx="34381" cy="2749603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Egyenes összekötő nyíllal 27">
            <a:extLst>
              <a:ext uri="{FF2B5EF4-FFF2-40B4-BE49-F238E27FC236}">
                <a16:creationId xmlns:a16="http://schemas.microsoft.com/office/drawing/2014/main" id="{61B4F3AD-5223-C7D1-E9D5-1A4E4160F8B5}"/>
              </a:ext>
            </a:extLst>
          </p:cNvPr>
          <p:cNvCxnSpPr>
            <a:cxnSpLocks/>
          </p:cNvCxnSpPr>
          <p:nvPr/>
        </p:nvCxnSpPr>
        <p:spPr>
          <a:xfrm>
            <a:off x="1461888" y="3323217"/>
            <a:ext cx="7487" cy="1835205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Egyenes összekötő nyíllal 28">
            <a:extLst>
              <a:ext uri="{FF2B5EF4-FFF2-40B4-BE49-F238E27FC236}">
                <a16:creationId xmlns:a16="http://schemas.microsoft.com/office/drawing/2014/main" id="{6C7510C4-DA52-AC87-C2D0-4896180621ED}"/>
              </a:ext>
            </a:extLst>
          </p:cNvPr>
          <p:cNvCxnSpPr>
            <a:cxnSpLocks/>
          </p:cNvCxnSpPr>
          <p:nvPr/>
        </p:nvCxnSpPr>
        <p:spPr>
          <a:xfrm flipH="1">
            <a:off x="9982059" y="2498465"/>
            <a:ext cx="1477" cy="3493674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Egyenes összekötő nyíllal 29">
            <a:extLst>
              <a:ext uri="{FF2B5EF4-FFF2-40B4-BE49-F238E27FC236}">
                <a16:creationId xmlns:a16="http://schemas.microsoft.com/office/drawing/2014/main" id="{63AF8B37-5D75-A1AA-626A-B358BBEFDE81}"/>
              </a:ext>
            </a:extLst>
          </p:cNvPr>
          <p:cNvCxnSpPr/>
          <p:nvPr/>
        </p:nvCxnSpPr>
        <p:spPr>
          <a:xfrm flipH="1">
            <a:off x="1958648" y="2453642"/>
            <a:ext cx="1477" cy="3493674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Egyenes összekötő nyíllal 30">
            <a:extLst>
              <a:ext uri="{FF2B5EF4-FFF2-40B4-BE49-F238E27FC236}">
                <a16:creationId xmlns:a16="http://schemas.microsoft.com/office/drawing/2014/main" id="{E6F32362-2C37-FF49-2859-52190CB5FF9F}"/>
              </a:ext>
            </a:extLst>
          </p:cNvPr>
          <p:cNvCxnSpPr/>
          <p:nvPr/>
        </p:nvCxnSpPr>
        <p:spPr>
          <a:xfrm flipH="1">
            <a:off x="1958648" y="2453642"/>
            <a:ext cx="1477" cy="3493674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Egyenes összekötő nyíllal 31">
            <a:extLst>
              <a:ext uri="{FF2B5EF4-FFF2-40B4-BE49-F238E27FC236}">
                <a16:creationId xmlns:a16="http://schemas.microsoft.com/office/drawing/2014/main" id="{2410F9FE-6BAC-B4BB-58BC-6AA74B146000}"/>
              </a:ext>
            </a:extLst>
          </p:cNvPr>
          <p:cNvCxnSpPr/>
          <p:nvPr/>
        </p:nvCxnSpPr>
        <p:spPr>
          <a:xfrm flipH="1">
            <a:off x="1958648" y="2453642"/>
            <a:ext cx="1477" cy="3493674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Egyenes összekötő nyíllal 32">
            <a:extLst>
              <a:ext uri="{FF2B5EF4-FFF2-40B4-BE49-F238E27FC236}">
                <a16:creationId xmlns:a16="http://schemas.microsoft.com/office/drawing/2014/main" id="{57497E17-C202-873F-01F2-29D521853AF5}"/>
              </a:ext>
            </a:extLst>
          </p:cNvPr>
          <p:cNvCxnSpPr/>
          <p:nvPr/>
        </p:nvCxnSpPr>
        <p:spPr>
          <a:xfrm flipH="1">
            <a:off x="1958648" y="2453642"/>
            <a:ext cx="1477" cy="3493674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Egyenes összekötő nyíllal 33">
            <a:extLst>
              <a:ext uri="{FF2B5EF4-FFF2-40B4-BE49-F238E27FC236}">
                <a16:creationId xmlns:a16="http://schemas.microsoft.com/office/drawing/2014/main" id="{C3AC7E7F-830D-DC56-F2C7-8EEB9C16C822}"/>
              </a:ext>
            </a:extLst>
          </p:cNvPr>
          <p:cNvCxnSpPr/>
          <p:nvPr/>
        </p:nvCxnSpPr>
        <p:spPr>
          <a:xfrm flipH="1">
            <a:off x="1958648" y="2453642"/>
            <a:ext cx="1477" cy="3493674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Egyenes összekötő nyíllal 34">
            <a:extLst>
              <a:ext uri="{FF2B5EF4-FFF2-40B4-BE49-F238E27FC236}">
                <a16:creationId xmlns:a16="http://schemas.microsoft.com/office/drawing/2014/main" id="{A23171F6-F3F6-9BC9-7600-33E5378474D2}"/>
              </a:ext>
            </a:extLst>
          </p:cNvPr>
          <p:cNvCxnSpPr/>
          <p:nvPr/>
        </p:nvCxnSpPr>
        <p:spPr>
          <a:xfrm flipH="1">
            <a:off x="1958648" y="2453642"/>
            <a:ext cx="1477" cy="3493674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Egyenes összekötő nyíllal 35">
            <a:extLst>
              <a:ext uri="{FF2B5EF4-FFF2-40B4-BE49-F238E27FC236}">
                <a16:creationId xmlns:a16="http://schemas.microsoft.com/office/drawing/2014/main" id="{C9021D00-8990-441C-F7AB-873ED6AAEFAB}"/>
              </a:ext>
            </a:extLst>
          </p:cNvPr>
          <p:cNvCxnSpPr/>
          <p:nvPr/>
        </p:nvCxnSpPr>
        <p:spPr>
          <a:xfrm flipH="1">
            <a:off x="1958648" y="2453642"/>
            <a:ext cx="1477" cy="3493674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Egyenes összekötő nyíllal 36">
            <a:extLst>
              <a:ext uri="{FF2B5EF4-FFF2-40B4-BE49-F238E27FC236}">
                <a16:creationId xmlns:a16="http://schemas.microsoft.com/office/drawing/2014/main" id="{7E2B4D12-CF99-F2BB-5659-D7EC6843CCC3}"/>
              </a:ext>
            </a:extLst>
          </p:cNvPr>
          <p:cNvCxnSpPr>
            <a:cxnSpLocks/>
          </p:cNvCxnSpPr>
          <p:nvPr/>
        </p:nvCxnSpPr>
        <p:spPr>
          <a:xfrm>
            <a:off x="10216619" y="2874982"/>
            <a:ext cx="34381" cy="2749603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Egyenes összekötő nyíllal 37">
            <a:extLst>
              <a:ext uri="{FF2B5EF4-FFF2-40B4-BE49-F238E27FC236}">
                <a16:creationId xmlns:a16="http://schemas.microsoft.com/office/drawing/2014/main" id="{BDA924C0-BD9E-FC2A-9984-CFEA8C4936CA}"/>
              </a:ext>
            </a:extLst>
          </p:cNvPr>
          <p:cNvCxnSpPr>
            <a:cxnSpLocks/>
          </p:cNvCxnSpPr>
          <p:nvPr/>
        </p:nvCxnSpPr>
        <p:spPr>
          <a:xfrm>
            <a:off x="10458539" y="3287358"/>
            <a:ext cx="7487" cy="1835205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Szövegdoboz 40">
            <a:extLst>
              <a:ext uri="{FF2B5EF4-FFF2-40B4-BE49-F238E27FC236}">
                <a16:creationId xmlns:a16="http://schemas.microsoft.com/office/drawing/2014/main" id="{EA45E8A0-91BA-7BC3-2FD4-4D9A2A5BA72F}"/>
              </a:ext>
            </a:extLst>
          </p:cNvPr>
          <p:cNvSpPr txBox="1"/>
          <p:nvPr/>
        </p:nvSpPr>
        <p:spPr>
          <a:xfrm>
            <a:off x="2346393" y="3077860"/>
            <a:ext cx="3649882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/>
              <a:buChar char="-"/>
            </a:pPr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UI/UX</a:t>
            </a:r>
          </a:p>
          <a:p>
            <a:pPr marL="342900" indent="-342900">
              <a:buFont typeface="Calibri"/>
              <a:buChar char="-"/>
            </a:pPr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Navigáció</a:t>
            </a:r>
          </a:p>
          <a:p>
            <a:pPr marL="342900" indent="-342900">
              <a:buFont typeface="Calibri"/>
              <a:buChar char="-"/>
            </a:pPr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API-kapcsolat</a:t>
            </a:r>
          </a:p>
          <a:p>
            <a:pPr marL="342900" indent="-342900">
              <a:buFont typeface="Calibri"/>
              <a:buChar char="-"/>
            </a:pPr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Adatok megjelenítése</a:t>
            </a:r>
          </a:p>
          <a:p>
            <a:pPr marL="342900" indent="-342900">
              <a:buFont typeface="Calibri"/>
              <a:buChar char="-"/>
            </a:pPr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Grafikonok</a:t>
            </a:r>
          </a:p>
          <a:p>
            <a:pPr marL="342900" indent="-342900">
              <a:buFont typeface="Calibri"/>
              <a:buChar char="-"/>
            </a:pPr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Hibakezelés</a:t>
            </a:r>
          </a:p>
          <a:p>
            <a:pPr marL="342900" indent="-342900">
              <a:buFont typeface="Calibri"/>
              <a:buChar char="-"/>
            </a:pPr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Frontend tesztelés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60F2BDD3-9F6A-B4F0-6B64-DE3E2CF40211}"/>
              </a:ext>
            </a:extLst>
          </p:cNvPr>
          <p:cNvSpPr txBox="1"/>
          <p:nvPr/>
        </p:nvSpPr>
        <p:spPr>
          <a:xfrm>
            <a:off x="6424703" y="3077860"/>
            <a:ext cx="3649882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/>
              <a:buChar char="-"/>
            </a:pPr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Token kezelés</a:t>
            </a:r>
          </a:p>
          <a:p>
            <a:pPr marL="342900" indent="-342900">
              <a:buFont typeface="Calibri"/>
              <a:buChar char="-"/>
            </a:pPr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API végpontok létrehozása</a:t>
            </a:r>
          </a:p>
          <a:p>
            <a:pPr marL="342900" indent="-342900">
              <a:buFont typeface="Calibri"/>
              <a:buChar char="-"/>
            </a:pPr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Adatbázis létrehozása</a:t>
            </a:r>
          </a:p>
          <a:p>
            <a:pPr marL="342900" indent="-342900">
              <a:buFont typeface="Calibri"/>
              <a:buChar char="-"/>
            </a:pPr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Külső API kezelés</a:t>
            </a:r>
          </a:p>
          <a:p>
            <a:pPr marL="342900" indent="-342900">
              <a:buFont typeface="Calibri"/>
              <a:buChar char="-"/>
            </a:pPr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Backend és Adatbázis tesztelés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08CF37FC-7D06-D95F-09C5-90E0978B8A3A}"/>
              </a:ext>
            </a:extLst>
          </p:cNvPr>
          <p:cNvSpPr txBox="1"/>
          <p:nvPr/>
        </p:nvSpPr>
        <p:spPr>
          <a:xfrm>
            <a:off x="2142565" y="1591235"/>
            <a:ext cx="2043953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400" b="1" i="0" u="none" strike="noStrike" baseline="0">
                <a:solidFill>
                  <a:srgbClr val="4099FF"/>
                </a:solidFill>
                <a:latin typeface="Segoe UI"/>
              </a:rPr>
              <a:t>Vanák Tamás</a:t>
            </a:r>
          </a:p>
          <a:p>
            <a:r>
              <a:rPr lang="hu-HU" b="1">
                <a:solidFill>
                  <a:srgbClr val="94C6FF"/>
                </a:solidFill>
                <a:latin typeface="Segoe UI"/>
                <a:cs typeface="Segoe UI"/>
              </a:rPr>
              <a:t>frontend</a:t>
            </a:r>
          </a:p>
        </p:txBody>
      </p:sp>
    </p:spTree>
    <p:extLst>
      <p:ext uri="{BB962C8B-B14F-4D97-AF65-F5344CB8AC3E}">
        <p14:creationId xmlns:p14="http://schemas.microsoft.com/office/powerpoint/2010/main" val="33881959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958D5-4F52-4327-AB8E-FB0A62E9F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>
            <a:extLst>
              <a:ext uri="{FF2B5EF4-FFF2-40B4-BE49-F238E27FC236}">
                <a16:creationId xmlns:a16="http://schemas.microsoft.com/office/drawing/2014/main" id="{27FFE24D-CE99-ACEE-EAF5-1CFDEE5E795C}"/>
              </a:ext>
            </a:extLst>
          </p:cNvPr>
          <p:cNvSpPr/>
          <p:nvPr/>
        </p:nvSpPr>
        <p:spPr>
          <a:xfrm>
            <a:off x="14526" y="2470"/>
            <a:ext cx="12179040" cy="685977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57150"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51C8FF5F-68F6-B82C-661B-FE5B030FA856}"/>
              </a:ext>
            </a:extLst>
          </p:cNvPr>
          <p:cNvSpPr/>
          <p:nvPr/>
        </p:nvSpPr>
        <p:spPr>
          <a:xfrm>
            <a:off x="502791" y="453852"/>
            <a:ext cx="11189731" cy="595485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rgbClr val="FFFFFF"/>
              </a:solidFill>
            </a:endParaRPr>
          </a:p>
        </p:txBody>
      </p:sp>
      <p:sp>
        <p:nvSpPr>
          <p:cNvPr id="7" name="Ellipszis 6">
            <a:extLst>
              <a:ext uri="{FF2B5EF4-FFF2-40B4-BE49-F238E27FC236}">
                <a16:creationId xmlns:a16="http://schemas.microsoft.com/office/drawing/2014/main" id="{D5E4B50C-CDD8-E240-3EA6-2ED6874CF975}"/>
              </a:ext>
            </a:extLst>
          </p:cNvPr>
          <p:cNvSpPr/>
          <p:nvPr/>
        </p:nvSpPr>
        <p:spPr>
          <a:xfrm>
            <a:off x="-1204920" y="-341493"/>
            <a:ext cx="2454088" cy="2465294"/>
          </a:xfrm>
          <a:prstGeom prst="ellipse">
            <a:avLst/>
          </a:prstGeom>
          <a:solidFill>
            <a:srgbClr val="075DBF"/>
          </a:solidFill>
          <a:ln>
            <a:solidFill>
              <a:srgbClr val="075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Ellipszis 8">
            <a:extLst>
              <a:ext uri="{FF2B5EF4-FFF2-40B4-BE49-F238E27FC236}">
                <a16:creationId xmlns:a16="http://schemas.microsoft.com/office/drawing/2014/main" id="{5EF5AD4E-57A4-E88C-DAFE-3B2B48F2AA97}"/>
              </a:ext>
            </a:extLst>
          </p:cNvPr>
          <p:cNvSpPr/>
          <p:nvPr/>
        </p:nvSpPr>
        <p:spPr>
          <a:xfrm>
            <a:off x="238398" y="-583540"/>
            <a:ext cx="1683124" cy="1766047"/>
          </a:xfrm>
          <a:prstGeom prst="ellipse">
            <a:avLst/>
          </a:prstGeom>
          <a:solidFill>
            <a:srgbClr val="0C7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Ellipszis 10">
            <a:extLst>
              <a:ext uri="{FF2B5EF4-FFF2-40B4-BE49-F238E27FC236}">
                <a16:creationId xmlns:a16="http://schemas.microsoft.com/office/drawing/2014/main" id="{97336808-A3D0-AC95-299C-8F8C6FF49A75}"/>
              </a:ext>
            </a:extLst>
          </p:cNvPr>
          <p:cNvSpPr/>
          <p:nvPr/>
        </p:nvSpPr>
        <p:spPr>
          <a:xfrm>
            <a:off x="1457598" y="-709045"/>
            <a:ext cx="1423148" cy="1425389"/>
          </a:xfrm>
          <a:prstGeom prst="ellipse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Ellipszis 12">
            <a:extLst>
              <a:ext uri="{FF2B5EF4-FFF2-40B4-BE49-F238E27FC236}">
                <a16:creationId xmlns:a16="http://schemas.microsoft.com/office/drawing/2014/main" id="{90CC80D3-023B-A9FD-1B1C-28399CC1913C}"/>
              </a:ext>
            </a:extLst>
          </p:cNvPr>
          <p:cNvSpPr/>
          <p:nvPr/>
        </p:nvSpPr>
        <p:spPr>
          <a:xfrm>
            <a:off x="2461645" y="-583539"/>
            <a:ext cx="1181101" cy="1174377"/>
          </a:xfrm>
          <a:prstGeom prst="ellipse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Ellipszis 14">
            <a:extLst>
              <a:ext uri="{FF2B5EF4-FFF2-40B4-BE49-F238E27FC236}">
                <a16:creationId xmlns:a16="http://schemas.microsoft.com/office/drawing/2014/main" id="{421B866A-99D3-53AE-882D-B671EAABEBC5}"/>
              </a:ext>
            </a:extLst>
          </p:cNvPr>
          <p:cNvSpPr/>
          <p:nvPr/>
        </p:nvSpPr>
        <p:spPr>
          <a:xfrm>
            <a:off x="10969152" y="4714601"/>
            <a:ext cx="2454088" cy="2465294"/>
          </a:xfrm>
          <a:prstGeom prst="ellipse">
            <a:avLst/>
          </a:prstGeom>
          <a:solidFill>
            <a:srgbClr val="075DBF"/>
          </a:solidFill>
          <a:ln>
            <a:solidFill>
              <a:srgbClr val="075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Ellipszis 16">
            <a:extLst>
              <a:ext uri="{FF2B5EF4-FFF2-40B4-BE49-F238E27FC236}">
                <a16:creationId xmlns:a16="http://schemas.microsoft.com/office/drawing/2014/main" id="{7C82A868-A79B-5EB0-E4F3-9685CC36C58A}"/>
              </a:ext>
            </a:extLst>
          </p:cNvPr>
          <p:cNvSpPr/>
          <p:nvPr/>
        </p:nvSpPr>
        <p:spPr>
          <a:xfrm>
            <a:off x="10386444" y="5521424"/>
            <a:ext cx="1683124" cy="1766047"/>
          </a:xfrm>
          <a:prstGeom prst="ellipse">
            <a:avLst/>
          </a:prstGeom>
          <a:solidFill>
            <a:srgbClr val="0C7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Ellipszis 18">
            <a:extLst>
              <a:ext uri="{FF2B5EF4-FFF2-40B4-BE49-F238E27FC236}">
                <a16:creationId xmlns:a16="http://schemas.microsoft.com/office/drawing/2014/main" id="{828C8206-01DB-4017-C667-6889F6CEAFF7}"/>
              </a:ext>
            </a:extLst>
          </p:cNvPr>
          <p:cNvSpPr/>
          <p:nvPr/>
        </p:nvSpPr>
        <p:spPr>
          <a:xfrm>
            <a:off x="9678233" y="5942767"/>
            <a:ext cx="1423148" cy="1425389"/>
          </a:xfrm>
          <a:prstGeom prst="ellipse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" name="Ellipszis 20">
            <a:extLst>
              <a:ext uri="{FF2B5EF4-FFF2-40B4-BE49-F238E27FC236}">
                <a16:creationId xmlns:a16="http://schemas.microsoft.com/office/drawing/2014/main" id="{B5F8AEAF-69DD-6709-72F9-CFB5A212BDA2}"/>
              </a:ext>
            </a:extLst>
          </p:cNvPr>
          <p:cNvSpPr/>
          <p:nvPr/>
        </p:nvSpPr>
        <p:spPr>
          <a:xfrm>
            <a:off x="8862445" y="6274462"/>
            <a:ext cx="1181101" cy="1174377"/>
          </a:xfrm>
          <a:prstGeom prst="ellipse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35FEE61B-E269-40D1-5E66-D0557F8DC6CF}"/>
              </a:ext>
            </a:extLst>
          </p:cNvPr>
          <p:cNvSpPr txBox="1"/>
          <p:nvPr/>
        </p:nvSpPr>
        <p:spPr>
          <a:xfrm>
            <a:off x="405653" y="6470276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hu-HU" b="1">
                <a:solidFill>
                  <a:srgbClr val="FFFFFF"/>
                </a:solidFill>
                <a:latin typeface="Segoe UI"/>
                <a:cs typeface="Segoe UI"/>
              </a:rPr>
              <a:t>4/12</a:t>
            </a:r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E4023EF6-C54E-28B3-C075-9D078D26223E}"/>
              </a:ext>
            </a:extLst>
          </p:cNvPr>
          <p:cNvSpPr txBox="1">
            <a:spLocks/>
          </p:cNvSpPr>
          <p:nvPr/>
        </p:nvSpPr>
        <p:spPr>
          <a:xfrm>
            <a:off x="5304" y="719020"/>
            <a:ext cx="12183034" cy="813981"/>
          </a:xfrm>
          <a:prstGeom prst="rect">
            <a:avLst/>
          </a:prstGeom>
        </p:spPr>
        <p:txBody>
          <a:bodyPr lIns="91440" tIns="45720" rIns="91440" bIns="4572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4800" b="1">
                <a:solidFill>
                  <a:schemeClr val="bg1"/>
                </a:solidFill>
                <a:latin typeface="Segoe UI"/>
                <a:cs typeface="Segoe UI"/>
              </a:rPr>
              <a:t>Tervezés</a:t>
            </a:r>
            <a:endParaRPr lang="hu-HU"/>
          </a:p>
        </p:txBody>
      </p:sp>
      <p:sp>
        <p:nvSpPr>
          <p:cNvPr id="20" name="Szövegdoboz 9">
            <a:extLst>
              <a:ext uri="{FF2B5EF4-FFF2-40B4-BE49-F238E27FC236}">
                <a16:creationId xmlns:a16="http://schemas.microsoft.com/office/drawing/2014/main" id="{0A6F98A8-DCDA-CF3A-C189-04F00FD10E09}"/>
              </a:ext>
            </a:extLst>
          </p:cNvPr>
          <p:cNvSpPr txBox="1"/>
          <p:nvPr/>
        </p:nvSpPr>
        <p:spPr>
          <a:xfrm>
            <a:off x="1416423" y="3007660"/>
            <a:ext cx="1891554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hu-H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2400" b="1">
                <a:solidFill>
                  <a:srgbClr val="4099FF"/>
                </a:solidFill>
                <a:latin typeface="Segoe UI"/>
                <a:cs typeface="Segoe UI"/>
              </a:rPr>
              <a:t>Felhasználó</a:t>
            </a:r>
          </a:p>
        </p:txBody>
      </p:sp>
      <p:sp>
        <p:nvSpPr>
          <p:cNvPr id="22" name="Szövegdoboz 9">
            <a:extLst>
              <a:ext uri="{FF2B5EF4-FFF2-40B4-BE49-F238E27FC236}">
                <a16:creationId xmlns:a16="http://schemas.microsoft.com/office/drawing/2014/main" id="{E3EDA47E-FC62-1E7F-7E17-1CC7B68FE92F}"/>
              </a:ext>
            </a:extLst>
          </p:cNvPr>
          <p:cNvSpPr txBox="1"/>
          <p:nvPr/>
        </p:nvSpPr>
        <p:spPr>
          <a:xfrm>
            <a:off x="9448800" y="3018139"/>
            <a:ext cx="1174378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hu-H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2400" b="1">
                <a:solidFill>
                  <a:srgbClr val="4099FF"/>
                </a:solidFill>
                <a:latin typeface="Segoe UI"/>
                <a:cs typeface="Segoe UI"/>
              </a:rPr>
              <a:t>Admin</a:t>
            </a:r>
          </a:p>
        </p:txBody>
      </p:sp>
      <p:sp>
        <p:nvSpPr>
          <p:cNvPr id="24" name="Szövegdoboz 9">
            <a:extLst>
              <a:ext uri="{FF2B5EF4-FFF2-40B4-BE49-F238E27FC236}">
                <a16:creationId xmlns:a16="http://schemas.microsoft.com/office/drawing/2014/main" id="{64A001DD-6A19-3270-2FD3-6660AFBEA57E}"/>
              </a:ext>
            </a:extLst>
          </p:cNvPr>
          <p:cNvSpPr txBox="1"/>
          <p:nvPr/>
        </p:nvSpPr>
        <p:spPr>
          <a:xfrm>
            <a:off x="5235387" y="3012961"/>
            <a:ext cx="1730190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hu-H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2400" b="1">
                <a:solidFill>
                  <a:srgbClr val="4099FF"/>
                </a:solidFill>
                <a:latin typeface="Segoe UI"/>
                <a:cs typeface="Segoe UI"/>
              </a:rPr>
              <a:t>Moderátor</a:t>
            </a:r>
            <a:endParaRPr lang="hu-HU"/>
          </a:p>
        </p:txBody>
      </p:sp>
      <p:cxnSp>
        <p:nvCxnSpPr>
          <p:cNvPr id="28" name="Egyenes összekötő nyíllal 27">
            <a:extLst>
              <a:ext uri="{FF2B5EF4-FFF2-40B4-BE49-F238E27FC236}">
                <a16:creationId xmlns:a16="http://schemas.microsoft.com/office/drawing/2014/main" id="{6B5C807E-7B97-D08C-103C-3A66128DEF38}"/>
              </a:ext>
            </a:extLst>
          </p:cNvPr>
          <p:cNvCxnSpPr/>
          <p:nvPr/>
        </p:nvCxnSpPr>
        <p:spPr>
          <a:xfrm>
            <a:off x="4148460" y="3463325"/>
            <a:ext cx="1294" cy="2294373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Egyenes összekötő nyíllal 29">
            <a:extLst>
              <a:ext uri="{FF2B5EF4-FFF2-40B4-BE49-F238E27FC236}">
                <a16:creationId xmlns:a16="http://schemas.microsoft.com/office/drawing/2014/main" id="{4F274AB0-F164-0402-9C36-058C40B45CB4}"/>
              </a:ext>
            </a:extLst>
          </p:cNvPr>
          <p:cNvCxnSpPr/>
          <p:nvPr/>
        </p:nvCxnSpPr>
        <p:spPr>
          <a:xfrm>
            <a:off x="8048107" y="3463325"/>
            <a:ext cx="1294" cy="2294373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Szövegdoboz 32">
            <a:extLst>
              <a:ext uri="{FF2B5EF4-FFF2-40B4-BE49-F238E27FC236}">
                <a16:creationId xmlns:a16="http://schemas.microsoft.com/office/drawing/2014/main" id="{20FB83C6-7759-DFCB-BFB6-C72F36A287F4}"/>
              </a:ext>
            </a:extLst>
          </p:cNvPr>
          <p:cNvSpPr txBox="1"/>
          <p:nvPr/>
        </p:nvSpPr>
        <p:spPr>
          <a:xfrm>
            <a:off x="528629" y="4074983"/>
            <a:ext cx="3600472" cy="21441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Aft>
                <a:spcPts val="1000"/>
              </a:spcAft>
            </a:pPr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Főoldal megtekintése</a:t>
            </a:r>
            <a:endParaRPr lang="hu-HU"/>
          </a:p>
          <a:p>
            <a:pPr algn="ctr">
              <a:spcAft>
                <a:spcPts val="1000"/>
              </a:spcAft>
            </a:pPr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Bejelentkezés</a:t>
            </a:r>
          </a:p>
          <a:p>
            <a:pPr algn="ctr">
              <a:spcAft>
                <a:spcPts val="1000"/>
              </a:spcAft>
            </a:pPr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Regisztráció</a:t>
            </a:r>
          </a:p>
          <a:p>
            <a:pPr algn="ctr">
              <a:spcAft>
                <a:spcPts val="1000"/>
              </a:spcAft>
            </a:pPr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Navigálás az oldalak között</a:t>
            </a:r>
          </a:p>
          <a:p>
            <a:pPr algn="ctr">
              <a:spcAft>
                <a:spcPts val="1000"/>
              </a:spcAft>
            </a:pPr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Minden funkció használata</a:t>
            </a:r>
          </a:p>
        </p:txBody>
      </p:sp>
      <p:cxnSp>
        <p:nvCxnSpPr>
          <p:cNvPr id="34" name="Egyenes összekötő nyíllal 33">
            <a:extLst>
              <a:ext uri="{FF2B5EF4-FFF2-40B4-BE49-F238E27FC236}">
                <a16:creationId xmlns:a16="http://schemas.microsoft.com/office/drawing/2014/main" id="{387F5E2D-75D4-26D2-8271-D88FD68A3962}"/>
              </a:ext>
            </a:extLst>
          </p:cNvPr>
          <p:cNvCxnSpPr/>
          <p:nvPr/>
        </p:nvCxnSpPr>
        <p:spPr>
          <a:xfrm>
            <a:off x="1419658" y="3449120"/>
            <a:ext cx="1838273" cy="12108"/>
          </a:xfrm>
          <a:prstGeom prst="straightConnector1">
            <a:avLst/>
          </a:prstGeom>
          <a:ln>
            <a:solidFill>
              <a:srgbClr val="40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Egyenes összekötő nyíllal 34">
            <a:extLst>
              <a:ext uri="{FF2B5EF4-FFF2-40B4-BE49-F238E27FC236}">
                <a16:creationId xmlns:a16="http://schemas.microsoft.com/office/drawing/2014/main" id="{F933E45C-1D5A-BCEC-73B6-9D2413D1994F}"/>
              </a:ext>
            </a:extLst>
          </p:cNvPr>
          <p:cNvCxnSpPr>
            <a:cxnSpLocks/>
          </p:cNvCxnSpPr>
          <p:nvPr/>
        </p:nvCxnSpPr>
        <p:spPr>
          <a:xfrm>
            <a:off x="5143674" y="3445457"/>
            <a:ext cx="1870469" cy="12108"/>
          </a:xfrm>
          <a:prstGeom prst="straightConnector1">
            <a:avLst/>
          </a:prstGeom>
          <a:ln>
            <a:solidFill>
              <a:srgbClr val="40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Egyenes összekötő nyíllal 35">
            <a:extLst>
              <a:ext uri="{FF2B5EF4-FFF2-40B4-BE49-F238E27FC236}">
                <a16:creationId xmlns:a16="http://schemas.microsoft.com/office/drawing/2014/main" id="{2C5AF34A-A1B8-5EBB-87DC-A0530F9EBD70}"/>
              </a:ext>
            </a:extLst>
          </p:cNvPr>
          <p:cNvCxnSpPr>
            <a:cxnSpLocks/>
          </p:cNvCxnSpPr>
          <p:nvPr/>
        </p:nvCxnSpPr>
        <p:spPr>
          <a:xfrm>
            <a:off x="9079051" y="3459599"/>
            <a:ext cx="1816808" cy="12108"/>
          </a:xfrm>
          <a:prstGeom prst="straightConnector1">
            <a:avLst/>
          </a:prstGeom>
          <a:ln>
            <a:solidFill>
              <a:srgbClr val="40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Szövegdoboz 37">
            <a:extLst>
              <a:ext uri="{FF2B5EF4-FFF2-40B4-BE49-F238E27FC236}">
                <a16:creationId xmlns:a16="http://schemas.microsoft.com/office/drawing/2014/main" id="{DE7C3D08-1F53-F25F-E39C-F4DA2F5F476B}"/>
              </a:ext>
            </a:extLst>
          </p:cNvPr>
          <p:cNvSpPr txBox="1"/>
          <p:nvPr/>
        </p:nvSpPr>
        <p:spPr>
          <a:xfrm>
            <a:off x="4300069" y="4101027"/>
            <a:ext cx="3600472" cy="15799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Aft>
                <a:spcPts val="1000"/>
              </a:spcAft>
            </a:pPr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Minden felhasználói funkció</a:t>
            </a:r>
            <a:endParaRPr lang="hu-HU">
              <a:solidFill>
                <a:srgbClr val="000000"/>
              </a:solidFill>
              <a:latin typeface="Aptos" panose="020B0004020202020204"/>
              <a:cs typeface="Segoe UI"/>
            </a:endParaRPr>
          </a:p>
          <a:p>
            <a:pPr algn="ct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Benzinkutak </a:t>
            </a:r>
          </a:p>
          <a:p>
            <a:pPr algn="ctr">
              <a:spcAft>
                <a:spcPts val="1000"/>
              </a:spcAft>
            </a:pPr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elfogadása / elutasítása</a:t>
            </a:r>
          </a:p>
          <a:p>
            <a:pPr algn="ct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Benzinkutak törlése</a:t>
            </a:r>
          </a:p>
        </p:txBody>
      </p:sp>
      <p:sp>
        <p:nvSpPr>
          <p:cNvPr id="39" name="Szövegdoboz 38">
            <a:extLst>
              <a:ext uri="{FF2B5EF4-FFF2-40B4-BE49-F238E27FC236}">
                <a16:creationId xmlns:a16="http://schemas.microsoft.com/office/drawing/2014/main" id="{AAFC03AC-6C7B-5AC0-867B-D0A56801F126}"/>
              </a:ext>
            </a:extLst>
          </p:cNvPr>
          <p:cNvSpPr txBox="1"/>
          <p:nvPr/>
        </p:nvSpPr>
        <p:spPr>
          <a:xfrm>
            <a:off x="8067946" y="4087774"/>
            <a:ext cx="3600472" cy="11439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Aft>
                <a:spcPts val="1000"/>
              </a:spcAft>
            </a:pPr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Minden felhasználói funkció</a:t>
            </a:r>
            <a:endParaRPr lang="hu-HU">
              <a:solidFill>
                <a:srgbClr val="000000"/>
              </a:solidFill>
              <a:latin typeface="Aptos" panose="020B0004020202020204"/>
              <a:cs typeface="Segoe UI"/>
            </a:endParaRPr>
          </a:p>
          <a:p>
            <a:pPr algn="ct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Profilok </a:t>
            </a:r>
          </a:p>
          <a:p>
            <a:pPr algn="ct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módosítása &amp; törlése</a:t>
            </a:r>
            <a:endParaRPr lang="hu-HU"/>
          </a:p>
        </p:txBody>
      </p:sp>
      <p:pic>
        <p:nvPicPr>
          <p:cNvPr id="40" name="Kép 39">
            <a:extLst>
              <a:ext uri="{FF2B5EF4-FFF2-40B4-BE49-F238E27FC236}">
                <a16:creationId xmlns:a16="http://schemas.microsoft.com/office/drawing/2014/main" id="{41E3D222-FD53-BC61-C40D-14FACBDF9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389" y="2241177"/>
            <a:ext cx="1048872" cy="1021978"/>
          </a:xfrm>
          <a:prstGeom prst="rect">
            <a:avLst/>
          </a:prstGeom>
        </p:spPr>
      </p:pic>
      <p:pic>
        <p:nvPicPr>
          <p:cNvPr id="41" name="Kép 40" descr="A képen kör, Grafika, clipart,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4CE9B3BF-2DF3-C824-22E1-8F011BBB43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4318" y="2219584"/>
            <a:ext cx="1084730" cy="1013014"/>
          </a:xfrm>
          <a:prstGeom prst="rect">
            <a:avLst/>
          </a:prstGeom>
        </p:spPr>
      </p:pic>
      <p:pic>
        <p:nvPicPr>
          <p:cNvPr id="42" name="Kép 41" descr="A képen clipart, rajzfilm, fekete-fehér, illusztráció látható&#10;&#10;Lehet, hogy az AI által létrehozott tartalom helytelen.">
            <a:extLst>
              <a:ext uri="{FF2B5EF4-FFF2-40B4-BE49-F238E27FC236}">
                <a16:creationId xmlns:a16="http://schemas.microsoft.com/office/drawing/2014/main" id="{96177A7B-A181-EFEE-0EC9-ED33D55F17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3282" y="2162008"/>
            <a:ext cx="1165413" cy="1093695"/>
          </a:xfrm>
          <a:prstGeom prst="rect">
            <a:avLst/>
          </a:prstGeom>
        </p:spPr>
      </p:pic>
      <p:sp>
        <p:nvSpPr>
          <p:cNvPr id="6" name="Téglalap 5">
            <a:extLst>
              <a:ext uri="{FF2B5EF4-FFF2-40B4-BE49-F238E27FC236}">
                <a16:creationId xmlns:a16="http://schemas.microsoft.com/office/drawing/2014/main" id="{13B23E7E-917B-1812-FE2D-1D6B90F14BF1}"/>
              </a:ext>
            </a:extLst>
          </p:cNvPr>
          <p:cNvSpPr/>
          <p:nvPr/>
        </p:nvSpPr>
        <p:spPr>
          <a:xfrm>
            <a:off x="4200220" y="1489459"/>
            <a:ext cx="3703005" cy="509876"/>
          </a:xfrm>
          <a:prstGeom prst="rect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86E69659-1AE4-5A40-0997-ACD590855AA8}"/>
              </a:ext>
            </a:extLst>
          </p:cNvPr>
          <p:cNvSpPr txBox="1"/>
          <p:nvPr/>
        </p:nvSpPr>
        <p:spPr>
          <a:xfrm>
            <a:off x="4195482" y="1537447"/>
            <a:ext cx="3810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400" b="1">
                <a:solidFill>
                  <a:srgbClr val="196ECF"/>
                </a:solidFill>
                <a:latin typeface="Segoe UI"/>
              </a:rPr>
              <a:t>Felhasználói szerepkörök</a:t>
            </a:r>
            <a:endParaRPr lang="hu-HU" sz="2400" b="1" i="0" u="none" strike="noStrike" baseline="0">
              <a:solidFill>
                <a:srgbClr val="196ECF"/>
              </a:solidFill>
              <a:latin typeface="Segoe UI"/>
              <a:cs typeface="Segoe UI"/>
            </a:endParaRPr>
          </a:p>
        </p:txBody>
      </p:sp>
      <p:sp>
        <p:nvSpPr>
          <p:cNvPr id="2" name="Szövegdoboz 9">
            <a:extLst>
              <a:ext uri="{FF2B5EF4-FFF2-40B4-BE49-F238E27FC236}">
                <a16:creationId xmlns:a16="http://schemas.microsoft.com/office/drawing/2014/main" id="{C033E912-AFBB-297F-BB2E-37E8A008ECF6}"/>
              </a:ext>
            </a:extLst>
          </p:cNvPr>
          <p:cNvSpPr txBox="1"/>
          <p:nvPr/>
        </p:nvSpPr>
        <p:spPr>
          <a:xfrm>
            <a:off x="9071969" y="3447123"/>
            <a:ext cx="2004864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hu-H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2400" b="1">
                <a:solidFill>
                  <a:srgbClr val="4099FF"/>
                </a:solidFill>
                <a:latin typeface="Segoe UI"/>
                <a:cs typeface="Segoe UI"/>
              </a:rPr>
              <a:t>Superadmin</a:t>
            </a:r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78958877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98D3E-13B4-2E4A-1617-47AD3D9AC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>
            <a:extLst>
              <a:ext uri="{FF2B5EF4-FFF2-40B4-BE49-F238E27FC236}">
                <a16:creationId xmlns:a16="http://schemas.microsoft.com/office/drawing/2014/main" id="{62A935A0-DF2D-A074-739A-EF0C21FEA6C7}"/>
              </a:ext>
            </a:extLst>
          </p:cNvPr>
          <p:cNvSpPr/>
          <p:nvPr/>
        </p:nvSpPr>
        <p:spPr>
          <a:xfrm>
            <a:off x="14526" y="2470"/>
            <a:ext cx="12179040" cy="685977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57150"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CDE0DD97-7A37-9A4C-5F73-45570A7B3C02}"/>
              </a:ext>
            </a:extLst>
          </p:cNvPr>
          <p:cNvSpPr/>
          <p:nvPr/>
        </p:nvSpPr>
        <p:spPr>
          <a:xfrm>
            <a:off x="502791" y="453852"/>
            <a:ext cx="11189731" cy="595485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rgbClr val="FFFFFF"/>
              </a:solidFill>
            </a:endParaRPr>
          </a:p>
        </p:txBody>
      </p:sp>
      <p:sp>
        <p:nvSpPr>
          <p:cNvPr id="7" name="Ellipszis 6">
            <a:extLst>
              <a:ext uri="{FF2B5EF4-FFF2-40B4-BE49-F238E27FC236}">
                <a16:creationId xmlns:a16="http://schemas.microsoft.com/office/drawing/2014/main" id="{3D542B6D-3DB6-E924-5895-7E43E1D6BDC9}"/>
              </a:ext>
            </a:extLst>
          </p:cNvPr>
          <p:cNvSpPr/>
          <p:nvPr/>
        </p:nvSpPr>
        <p:spPr>
          <a:xfrm>
            <a:off x="-1204920" y="-341493"/>
            <a:ext cx="2454088" cy="2465294"/>
          </a:xfrm>
          <a:prstGeom prst="ellipse">
            <a:avLst/>
          </a:prstGeom>
          <a:solidFill>
            <a:srgbClr val="075DBF"/>
          </a:solidFill>
          <a:ln>
            <a:solidFill>
              <a:srgbClr val="075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Ellipszis 8">
            <a:extLst>
              <a:ext uri="{FF2B5EF4-FFF2-40B4-BE49-F238E27FC236}">
                <a16:creationId xmlns:a16="http://schemas.microsoft.com/office/drawing/2014/main" id="{205AB81D-1486-ACB8-4B6A-2A420419BF45}"/>
              </a:ext>
            </a:extLst>
          </p:cNvPr>
          <p:cNvSpPr/>
          <p:nvPr/>
        </p:nvSpPr>
        <p:spPr>
          <a:xfrm>
            <a:off x="238398" y="-583540"/>
            <a:ext cx="1683124" cy="1766047"/>
          </a:xfrm>
          <a:prstGeom prst="ellipse">
            <a:avLst/>
          </a:prstGeom>
          <a:solidFill>
            <a:srgbClr val="0C7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Ellipszis 10">
            <a:extLst>
              <a:ext uri="{FF2B5EF4-FFF2-40B4-BE49-F238E27FC236}">
                <a16:creationId xmlns:a16="http://schemas.microsoft.com/office/drawing/2014/main" id="{9541DB55-10CD-EC80-D059-76CD0211FE49}"/>
              </a:ext>
            </a:extLst>
          </p:cNvPr>
          <p:cNvSpPr/>
          <p:nvPr/>
        </p:nvSpPr>
        <p:spPr>
          <a:xfrm>
            <a:off x="1457598" y="-709045"/>
            <a:ext cx="1423148" cy="1425389"/>
          </a:xfrm>
          <a:prstGeom prst="ellipse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Ellipszis 12">
            <a:extLst>
              <a:ext uri="{FF2B5EF4-FFF2-40B4-BE49-F238E27FC236}">
                <a16:creationId xmlns:a16="http://schemas.microsoft.com/office/drawing/2014/main" id="{C9DC3AFA-E0D6-FC8F-D17B-57E8746AAF03}"/>
              </a:ext>
            </a:extLst>
          </p:cNvPr>
          <p:cNvSpPr/>
          <p:nvPr/>
        </p:nvSpPr>
        <p:spPr>
          <a:xfrm>
            <a:off x="2461645" y="-583539"/>
            <a:ext cx="1181101" cy="1174377"/>
          </a:xfrm>
          <a:prstGeom prst="ellipse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75E7DD0A-9910-701F-1BC6-951575CBFC7D}"/>
              </a:ext>
            </a:extLst>
          </p:cNvPr>
          <p:cNvSpPr txBox="1"/>
          <p:nvPr/>
        </p:nvSpPr>
        <p:spPr>
          <a:xfrm>
            <a:off x="405653" y="6470276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hu-HU" b="1">
                <a:solidFill>
                  <a:srgbClr val="FFFFFF"/>
                </a:solidFill>
                <a:latin typeface="Segoe UI"/>
                <a:cs typeface="Segoe UI"/>
              </a:rPr>
              <a:t>5/12</a:t>
            </a:r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6B35C31E-1DDE-CE03-B118-582A681D34F9}"/>
              </a:ext>
            </a:extLst>
          </p:cNvPr>
          <p:cNvSpPr txBox="1">
            <a:spLocks/>
          </p:cNvSpPr>
          <p:nvPr/>
        </p:nvSpPr>
        <p:spPr>
          <a:xfrm>
            <a:off x="5304" y="719020"/>
            <a:ext cx="12183034" cy="813981"/>
          </a:xfrm>
          <a:prstGeom prst="rect">
            <a:avLst/>
          </a:prstGeom>
        </p:spPr>
        <p:txBody>
          <a:bodyPr lIns="91440" tIns="45720" rIns="91440" bIns="4572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4800" b="1">
                <a:solidFill>
                  <a:schemeClr val="bg1"/>
                </a:solidFill>
                <a:latin typeface="Segoe UI"/>
                <a:cs typeface="Segoe UI"/>
              </a:rPr>
              <a:t>Tervezés</a:t>
            </a:r>
            <a:endParaRPr lang="hu-HU"/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134201C9-2650-9AB7-A4BD-710E64D09808}"/>
              </a:ext>
            </a:extLst>
          </p:cNvPr>
          <p:cNvSpPr/>
          <p:nvPr/>
        </p:nvSpPr>
        <p:spPr>
          <a:xfrm>
            <a:off x="5337854" y="1564585"/>
            <a:ext cx="1502865" cy="402553"/>
          </a:xfrm>
          <a:prstGeom prst="rect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6AEFD8C4-873A-278A-7012-BC43FDBF41A5}"/>
              </a:ext>
            </a:extLst>
          </p:cNvPr>
          <p:cNvSpPr txBox="1"/>
          <p:nvPr/>
        </p:nvSpPr>
        <p:spPr>
          <a:xfrm>
            <a:off x="4195482" y="1537447"/>
            <a:ext cx="3810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400" b="1">
                <a:solidFill>
                  <a:srgbClr val="075DBF"/>
                </a:solidFill>
                <a:latin typeface="Segoe UI"/>
              </a:rPr>
              <a:t>Adatbázis</a:t>
            </a:r>
            <a:endParaRPr lang="hu-HU">
              <a:solidFill>
                <a:srgbClr val="075DBF"/>
              </a:solidFill>
            </a:endParaRP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F3005ED5-2023-1F4A-20CE-F302A3151720}"/>
              </a:ext>
            </a:extLst>
          </p:cNvPr>
          <p:cNvSpPr/>
          <p:nvPr/>
        </p:nvSpPr>
        <p:spPr>
          <a:xfrm>
            <a:off x="896461" y="2278331"/>
            <a:ext cx="2419323" cy="2962376"/>
          </a:xfrm>
          <a:prstGeom prst="rect">
            <a:avLst/>
          </a:prstGeom>
          <a:solidFill>
            <a:srgbClr val="075D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Téglalap 13">
            <a:extLst>
              <a:ext uri="{FF2B5EF4-FFF2-40B4-BE49-F238E27FC236}">
                <a16:creationId xmlns:a16="http://schemas.microsoft.com/office/drawing/2014/main" id="{EA95ED6F-62F2-18E7-8C59-02711A3285B7}"/>
              </a:ext>
            </a:extLst>
          </p:cNvPr>
          <p:cNvSpPr/>
          <p:nvPr/>
        </p:nvSpPr>
        <p:spPr>
          <a:xfrm>
            <a:off x="3510298" y="2278331"/>
            <a:ext cx="2419323" cy="2962376"/>
          </a:xfrm>
          <a:prstGeom prst="rect">
            <a:avLst/>
          </a:prstGeom>
          <a:solidFill>
            <a:srgbClr val="075D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 15">
            <a:extLst>
              <a:ext uri="{FF2B5EF4-FFF2-40B4-BE49-F238E27FC236}">
                <a16:creationId xmlns:a16="http://schemas.microsoft.com/office/drawing/2014/main" id="{FFB8456C-A7D7-34E3-E9F3-6ED484676DC2}"/>
              </a:ext>
            </a:extLst>
          </p:cNvPr>
          <p:cNvSpPr/>
          <p:nvPr/>
        </p:nvSpPr>
        <p:spPr>
          <a:xfrm>
            <a:off x="6097554" y="2278330"/>
            <a:ext cx="2419323" cy="2962376"/>
          </a:xfrm>
          <a:prstGeom prst="rect">
            <a:avLst/>
          </a:prstGeom>
          <a:solidFill>
            <a:srgbClr val="075D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Téglalap 17">
            <a:extLst>
              <a:ext uri="{FF2B5EF4-FFF2-40B4-BE49-F238E27FC236}">
                <a16:creationId xmlns:a16="http://schemas.microsoft.com/office/drawing/2014/main" id="{5B9FBFE4-A35B-C4F1-EA37-C2439A0900C8}"/>
              </a:ext>
            </a:extLst>
          </p:cNvPr>
          <p:cNvSpPr/>
          <p:nvPr/>
        </p:nvSpPr>
        <p:spPr>
          <a:xfrm>
            <a:off x="8684809" y="2278331"/>
            <a:ext cx="2419323" cy="2962376"/>
          </a:xfrm>
          <a:prstGeom prst="rect">
            <a:avLst/>
          </a:prstGeom>
          <a:solidFill>
            <a:srgbClr val="075D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Ellipszis 14">
            <a:extLst>
              <a:ext uri="{FF2B5EF4-FFF2-40B4-BE49-F238E27FC236}">
                <a16:creationId xmlns:a16="http://schemas.microsoft.com/office/drawing/2014/main" id="{F3D6728D-0449-BABE-0D4C-4371C2C1F449}"/>
              </a:ext>
            </a:extLst>
          </p:cNvPr>
          <p:cNvSpPr/>
          <p:nvPr/>
        </p:nvSpPr>
        <p:spPr>
          <a:xfrm>
            <a:off x="10969152" y="4714601"/>
            <a:ext cx="2454088" cy="2465294"/>
          </a:xfrm>
          <a:prstGeom prst="ellipse">
            <a:avLst/>
          </a:prstGeom>
          <a:solidFill>
            <a:srgbClr val="075DBF"/>
          </a:solidFill>
          <a:ln>
            <a:solidFill>
              <a:srgbClr val="075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Ellipszis 16">
            <a:extLst>
              <a:ext uri="{FF2B5EF4-FFF2-40B4-BE49-F238E27FC236}">
                <a16:creationId xmlns:a16="http://schemas.microsoft.com/office/drawing/2014/main" id="{DBF9D162-5CC6-53E9-D222-125A234A3F72}"/>
              </a:ext>
            </a:extLst>
          </p:cNvPr>
          <p:cNvSpPr/>
          <p:nvPr/>
        </p:nvSpPr>
        <p:spPr>
          <a:xfrm>
            <a:off x="10386444" y="5521424"/>
            <a:ext cx="1683124" cy="1766047"/>
          </a:xfrm>
          <a:prstGeom prst="ellipse">
            <a:avLst/>
          </a:prstGeom>
          <a:solidFill>
            <a:srgbClr val="0C7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Ellipszis 18">
            <a:extLst>
              <a:ext uri="{FF2B5EF4-FFF2-40B4-BE49-F238E27FC236}">
                <a16:creationId xmlns:a16="http://schemas.microsoft.com/office/drawing/2014/main" id="{7D98C54C-5F21-028B-3693-BF43961D3965}"/>
              </a:ext>
            </a:extLst>
          </p:cNvPr>
          <p:cNvSpPr/>
          <p:nvPr/>
        </p:nvSpPr>
        <p:spPr>
          <a:xfrm>
            <a:off x="9678233" y="5942767"/>
            <a:ext cx="1423148" cy="1425389"/>
          </a:xfrm>
          <a:prstGeom prst="ellipse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" name="Ellipszis 20">
            <a:extLst>
              <a:ext uri="{FF2B5EF4-FFF2-40B4-BE49-F238E27FC236}">
                <a16:creationId xmlns:a16="http://schemas.microsoft.com/office/drawing/2014/main" id="{F6545E06-8362-EA21-F565-670D4095656B}"/>
              </a:ext>
            </a:extLst>
          </p:cNvPr>
          <p:cNvSpPr/>
          <p:nvPr/>
        </p:nvSpPr>
        <p:spPr>
          <a:xfrm>
            <a:off x="8862445" y="6274462"/>
            <a:ext cx="1181101" cy="1174377"/>
          </a:xfrm>
          <a:prstGeom prst="ellipse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" name="Téglalap 21">
            <a:extLst>
              <a:ext uri="{FF2B5EF4-FFF2-40B4-BE49-F238E27FC236}">
                <a16:creationId xmlns:a16="http://schemas.microsoft.com/office/drawing/2014/main" id="{D1247980-04A7-573E-66FF-82D53541251C}"/>
              </a:ext>
            </a:extLst>
          </p:cNvPr>
          <p:cNvSpPr/>
          <p:nvPr/>
        </p:nvSpPr>
        <p:spPr>
          <a:xfrm>
            <a:off x="896460" y="2278330"/>
            <a:ext cx="2419323" cy="499167"/>
          </a:xfrm>
          <a:prstGeom prst="rect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" name="Szövegdoboz 24">
            <a:extLst>
              <a:ext uri="{FF2B5EF4-FFF2-40B4-BE49-F238E27FC236}">
                <a16:creationId xmlns:a16="http://schemas.microsoft.com/office/drawing/2014/main" id="{90523A10-68E3-1E27-7299-4DB736EF3DDD}"/>
              </a:ext>
            </a:extLst>
          </p:cNvPr>
          <p:cNvSpPr txBox="1"/>
          <p:nvPr/>
        </p:nvSpPr>
        <p:spPr>
          <a:xfrm>
            <a:off x="1089838" y="2348023"/>
            <a:ext cx="204676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196ECF"/>
                </a:solidFill>
                <a:latin typeface="Segoe UI"/>
              </a:rPr>
              <a:t>Felhasználók</a:t>
            </a:r>
            <a:endParaRPr lang="hu-HU" sz="2000">
              <a:solidFill>
                <a:srgbClr val="196ECF"/>
              </a:solidFill>
            </a:endParaRPr>
          </a:p>
        </p:txBody>
      </p:sp>
      <p:sp>
        <p:nvSpPr>
          <p:cNvPr id="26" name="Téglalap 25">
            <a:extLst>
              <a:ext uri="{FF2B5EF4-FFF2-40B4-BE49-F238E27FC236}">
                <a16:creationId xmlns:a16="http://schemas.microsoft.com/office/drawing/2014/main" id="{5FD021F0-2905-5812-BF66-852B2624B5FF}"/>
              </a:ext>
            </a:extLst>
          </p:cNvPr>
          <p:cNvSpPr/>
          <p:nvPr/>
        </p:nvSpPr>
        <p:spPr>
          <a:xfrm>
            <a:off x="3510297" y="2278329"/>
            <a:ext cx="2419323" cy="499167"/>
          </a:xfrm>
          <a:prstGeom prst="rect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CDCFE748-32FB-F7EA-44B4-C3FD347DDE51}"/>
              </a:ext>
            </a:extLst>
          </p:cNvPr>
          <p:cNvSpPr txBox="1"/>
          <p:nvPr/>
        </p:nvSpPr>
        <p:spPr>
          <a:xfrm>
            <a:off x="3703675" y="2348022"/>
            <a:ext cx="204676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196ECF"/>
                </a:solidFill>
                <a:latin typeface="Segoe UI"/>
              </a:rPr>
              <a:t>Autó</a:t>
            </a:r>
            <a:endParaRPr lang="hu-HU" sz="2000">
              <a:solidFill>
                <a:srgbClr val="196ECF"/>
              </a:solidFill>
            </a:endParaRPr>
          </a:p>
        </p:txBody>
      </p:sp>
      <p:sp>
        <p:nvSpPr>
          <p:cNvPr id="28" name="Téglalap 27">
            <a:extLst>
              <a:ext uri="{FF2B5EF4-FFF2-40B4-BE49-F238E27FC236}">
                <a16:creationId xmlns:a16="http://schemas.microsoft.com/office/drawing/2014/main" id="{B9023193-845A-F8D7-8661-4FEFD5B172FC}"/>
              </a:ext>
            </a:extLst>
          </p:cNvPr>
          <p:cNvSpPr/>
          <p:nvPr/>
        </p:nvSpPr>
        <p:spPr>
          <a:xfrm>
            <a:off x="6097552" y="2278329"/>
            <a:ext cx="2419323" cy="499167"/>
          </a:xfrm>
          <a:prstGeom prst="rect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9" name="Szövegdoboz 28">
            <a:extLst>
              <a:ext uri="{FF2B5EF4-FFF2-40B4-BE49-F238E27FC236}">
                <a16:creationId xmlns:a16="http://schemas.microsoft.com/office/drawing/2014/main" id="{E6F081BB-D2D3-9F88-A8BA-1FEB6DC869A5}"/>
              </a:ext>
            </a:extLst>
          </p:cNvPr>
          <p:cNvSpPr txBox="1"/>
          <p:nvPr/>
        </p:nvSpPr>
        <p:spPr>
          <a:xfrm>
            <a:off x="6290930" y="2348022"/>
            <a:ext cx="204676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196ECF"/>
                </a:solidFill>
                <a:latin typeface="Segoe UI"/>
              </a:rPr>
              <a:t>Autóhasználat</a:t>
            </a:r>
            <a:endParaRPr lang="hu-HU" sz="2000">
              <a:solidFill>
                <a:srgbClr val="196ECF"/>
              </a:solidFill>
            </a:endParaRPr>
          </a:p>
        </p:txBody>
      </p:sp>
      <p:sp>
        <p:nvSpPr>
          <p:cNvPr id="30" name="Téglalap 29">
            <a:extLst>
              <a:ext uri="{FF2B5EF4-FFF2-40B4-BE49-F238E27FC236}">
                <a16:creationId xmlns:a16="http://schemas.microsoft.com/office/drawing/2014/main" id="{DC71BB24-C3AC-8F30-4920-50CE8081200F}"/>
              </a:ext>
            </a:extLst>
          </p:cNvPr>
          <p:cNvSpPr/>
          <p:nvPr/>
        </p:nvSpPr>
        <p:spPr>
          <a:xfrm>
            <a:off x="8684808" y="2278330"/>
            <a:ext cx="2419323" cy="499167"/>
          </a:xfrm>
          <a:prstGeom prst="rect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1" name="Szövegdoboz 30">
            <a:extLst>
              <a:ext uri="{FF2B5EF4-FFF2-40B4-BE49-F238E27FC236}">
                <a16:creationId xmlns:a16="http://schemas.microsoft.com/office/drawing/2014/main" id="{BA8D6F44-428E-31EF-6D16-04A109AD9491}"/>
              </a:ext>
            </a:extLst>
          </p:cNvPr>
          <p:cNvSpPr txBox="1"/>
          <p:nvPr/>
        </p:nvSpPr>
        <p:spPr>
          <a:xfrm>
            <a:off x="8692117" y="2348023"/>
            <a:ext cx="2401184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196ECF"/>
                </a:solidFill>
                <a:latin typeface="Segoe UI"/>
              </a:rPr>
              <a:t>Közösség &amp; háttér</a:t>
            </a:r>
            <a:endParaRPr lang="hu-HU" sz="2000">
              <a:solidFill>
                <a:srgbClr val="196ECF"/>
              </a:solidFill>
            </a:endParaRPr>
          </a:p>
          <a:p>
            <a:pPr algn="ctr"/>
            <a:endParaRPr lang="hu-HU">
              <a:solidFill>
                <a:srgbClr val="196ECF"/>
              </a:solidFill>
            </a:endParaRPr>
          </a:p>
        </p:txBody>
      </p:sp>
      <p:sp>
        <p:nvSpPr>
          <p:cNvPr id="32" name="Szövegdoboz 31">
            <a:extLst>
              <a:ext uri="{FF2B5EF4-FFF2-40B4-BE49-F238E27FC236}">
                <a16:creationId xmlns:a16="http://schemas.microsoft.com/office/drawing/2014/main" id="{850480C9-F8B2-EF39-4AD3-14C5D5F309FF}"/>
              </a:ext>
            </a:extLst>
          </p:cNvPr>
          <p:cNvSpPr txBox="1"/>
          <p:nvPr/>
        </p:nvSpPr>
        <p:spPr>
          <a:xfrm>
            <a:off x="903767" y="2985975"/>
            <a:ext cx="2604974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1600" b="1">
                <a:solidFill>
                  <a:srgbClr val="C2DEFF"/>
                </a:solidFill>
                <a:latin typeface="Segoe UI"/>
                <a:cs typeface="Segoe UI"/>
              </a:rPr>
              <a:t>- user</a:t>
            </a:r>
            <a:endParaRPr lang="hu-HU">
              <a:solidFill>
                <a:srgbClr val="C2DEFF"/>
              </a:solidFill>
            </a:endParaRPr>
          </a:p>
          <a:p>
            <a:r>
              <a:rPr lang="hu-HU" sz="1600" b="1">
                <a:solidFill>
                  <a:srgbClr val="C2DEFF"/>
                </a:solidFill>
                <a:latin typeface="Segoe UI"/>
                <a:cs typeface="Segoe UI"/>
              </a:rPr>
              <a:t>- car_user</a:t>
            </a:r>
          </a:p>
          <a:p>
            <a:r>
              <a:rPr lang="hu-HU" sz="1600" b="1">
                <a:solidFill>
                  <a:srgbClr val="C2DEFF"/>
                </a:solidFill>
                <a:latin typeface="Segoe UI"/>
                <a:cs typeface="Segoe UI"/>
              </a:rPr>
              <a:t>- auth_group</a:t>
            </a:r>
          </a:p>
          <a:p>
            <a:r>
              <a:rPr lang="hu-HU" sz="1600" b="1">
                <a:solidFill>
                  <a:srgbClr val="C2DEFF"/>
                </a:solidFill>
                <a:latin typeface="Segoe UI"/>
                <a:cs typeface="Segoe UI"/>
              </a:rPr>
              <a:t>- auth_permission</a:t>
            </a:r>
          </a:p>
          <a:p>
            <a:r>
              <a:rPr lang="hu-HU" sz="1600" b="1">
                <a:solidFill>
                  <a:srgbClr val="C2DEFF"/>
                </a:solidFill>
                <a:latin typeface="Segoe UI"/>
                <a:cs typeface="Segoe UI"/>
              </a:rPr>
              <a:t>- auth_permissions</a:t>
            </a:r>
            <a:endParaRPr lang="hu-HU">
              <a:solidFill>
                <a:srgbClr val="C2DEFF"/>
              </a:solidFill>
            </a:endParaRPr>
          </a:p>
          <a:p>
            <a:r>
              <a:rPr lang="hu-HU" sz="1600" b="1">
                <a:solidFill>
                  <a:srgbClr val="C2DEFF"/>
                </a:solidFill>
                <a:latin typeface="Segoe UI"/>
                <a:cs typeface="Segoe UI"/>
              </a:rPr>
              <a:t>- user_groups</a:t>
            </a:r>
          </a:p>
          <a:p>
            <a:r>
              <a:rPr lang="hu-HU" sz="1600" b="1">
                <a:solidFill>
                  <a:srgbClr val="C2DEFF"/>
                </a:solidFill>
                <a:latin typeface="Segoe UI"/>
                <a:cs typeface="Segoe UI"/>
              </a:rPr>
              <a:t>- user_user_permissions</a:t>
            </a:r>
          </a:p>
        </p:txBody>
      </p:sp>
      <p:sp>
        <p:nvSpPr>
          <p:cNvPr id="33" name="Szövegdoboz 32">
            <a:extLst>
              <a:ext uri="{FF2B5EF4-FFF2-40B4-BE49-F238E27FC236}">
                <a16:creationId xmlns:a16="http://schemas.microsoft.com/office/drawing/2014/main" id="{2CA415C3-F400-2E6F-B633-5310EFA26C71}"/>
              </a:ext>
            </a:extLst>
          </p:cNvPr>
          <p:cNvSpPr txBox="1"/>
          <p:nvPr/>
        </p:nvSpPr>
        <p:spPr>
          <a:xfrm>
            <a:off x="3526465" y="2985976"/>
            <a:ext cx="2604974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1600" b="1">
                <a:solidFill>
                  <a:srgbClr val="C2DEFF"/>
                </a:solidFill>
                <a:latin typeface="Segoe UI"/>
                <a:cs typeface="Segoe UI"/>
              </a:rPr>
              <a:t>- car</a:t>
            </a:r>
          </a:p>
          <a:p>
            <a:r>
              <a:rPr lang="hu-HU" sz="1600" b="1">
                <a:solidFill>
                  <a:srgbClr val="C2DEFF"/>
                </a:solidFill>
                <a:latin typeface="Segoe UI"/>
                <a:cs typeface="Segoe UI"/>
              </a:rPr>
              <a:t>- brand</a:t>
            </a:r>
          </a:p>
          <a:p>
            <a:r>
              <a:rPr lang="hu-HU" sz="1600" b="1">
                <a:solidFill>
                  <a:srgbClr val="C2DEFF"/>
                </a:solidFill>
                <a:latin typeface="Segoe UI"/>
                <a:cs typeface="Segoe UI"/>
              </a:rPr>
              <a:t>- car_model</a:t>
            </a:r>
          </a:p>
          <a:p>
            <a:r>
              <a:rPr lang="hu-HU" sz="1600" b="1">
                <a:solidFill>
                  <a:srgbClr val="C2DEFF"/>
                </a:solidFill>
                <a:latin typeface="Segoe UI"/>
                <a:cs typeface="Segoe UI"/>
              </a:rPr>
              <a:t>- fuel_type</a:t>
            </a:r>
          </a:p>
        </p:txBody>
      </p:sp>
      <p:sp>
        <p:nvSpPr>
          <p:cNvPr id="34" name="Szövegdoboz 33">
            <a:extLst>
              <a:ext uri="{FF2B5EF4-FFF2-40B4-BE49-F238E27FC236}">
                <a16:creationId xmlns:a16="http://schemas.microsoft.com/office/drawing/2014/main" id="{CD35455A-FF69-9183-CCAD-1DC10C80A40C}"/>
              </a:ext>
            </a:extLst>
          </p:cNvPr>
          <p:cNvSpPr txBox="1"/>
          <p:nvPr/>
        </p:nvSpPr>
        <p:spPr>
          <a:xfrm>
            <a:off x="6122582" y="2985976"/>
            <a:ext cx="2604974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1600" b="1">
                <a:solidFill>
                  <a:srgbClr val="C2DEFF"/>
                </a:solidFill>
                <a:latin typeface="Segoe UI"/>
                <a:cs typeface="Segoe UI"/>
              </a:rPr>
              <a:t>- address</a:t>
            </a:r>
            <a:endParaRPr lang="hu-HU"/>
          </a:p>
          <a:p>
            <a:r>
              <a:rPr lang="hu-HU" sz="1600" b="1">
                <a:solidFill>
                  <a:srgbClr val="C2DEFF"/>
                </a:solidFill>
                <a:latin typeface="Segoe UI"/>
                <a:cs typeface="Segoe UI"/>
              </a:rPr>
              <a:t>- route</a:t>
            </a:r>
            <a:endParaRPr lang="hu-HU"/>
          </a:p>
          <a:p>
            <a:r>
              <a:rPr lang="hu-HU" sz="1600" b="1">
                <a:solidFill>
                  <a:srgbClr val="C2DEFF"/>
                </a:solidFill>
                <a:latin typeface="Segoe UI"/>
                <a:cs typeface="Segoe UI"/>
              </a:rPr>
              <a:t>- route_usage</a:t>
            </a:r>
            <a:endParaRPr lang="hu-HU">
              <a:solidFill>
                <a:srgbClr val="000000"/>
              </a:solidFill>
              <a:latin typeface="Aptos" panose="020B0004020202020204"/>
              <a:cs typeface="Segoe UI"/>
            </a:endParaRPr>
          </a:p>
          <a:p>
            <a:r>
              <a:rPr lang="hu-HU" sz="1600" b="1">
                <a:solidFill>
                  <a:srgbClr val="C2DEFF"/>
                </a:solidFill>
                <a:latin typeface="Segoe UI"/>
                <a:cs typeface="Segoe UI"/>
              </a:rPr>
              <a:t>- gas_station</a:t>
            </a:r>
          </a:p>
          <a:p>
            <a:r>
              <a:rPr lang="hu-HU" sz="1600" b="1">
                <a:solidFill>
                  <a:srgbClr val="C2DEFF"/>
                </a:solidFill>
                <a:latin typeface="Segoe UI"/>
                <a:cs typeface="Segoe UI"/>
              </a:rPr>
              <a:t>- fueling</a:t>
            </a:r>
          </a:p>
          <a:p>
            <a:r>
              <a:rPr lang="hu-HU" sz="1600" b="1">
                <a:solidFill>
                  <a:srgbClr val="C2DEFF"/>
                </a:solidFill>
                <a:latin typeface="Segoe UI"/>
                <a:cs typeface="Segoe UI"/>
              </a:rPr>
              <a:t>- service_center</a:t>
            </a:r>
          </a:p>
          <a:p>
            <a:r>
              <a:rPr lang="hu-HU" sz="1600" b="1">
                <a:solidFill>
                  <a:srgbClr val="C2DEFF"/>
                </a:solidFill>
                <a:latin typeface="Segoe UI"/>
                <a:cs typeface="Segoe UI"/>
              </a:rPr>
              <a:t>- maintenance</a:t>
            </a:r>
          </a:p>
          <a:p>
            <a:r>
              <a:rPr lang="hu-HU" sz="1600" b="1">
                <a:solidFill>
                  <a:srgbClr val="C2DEFF"/>
                </a:solidFill>
                <a:latin typeface="Segoe UI"/>
                <a:cs typeface="Segoe UI"/>
              </a:rPr>
              <a:t>- event</a:t>
            </a:r>
          </a:p>
        </p:txBody>
      </p:sp>
      <p:sp>
        <p:nvSpPr>
          <p:cNvPr id="35" name="Szövegdoboz 34">
            <a:extLst>
              <a:ext uri="{FF2B5EF4-FFF2-40B4-BE49-F238E27FC236}">
                <a16:creationId xmlns:a16="http://schemas.microsoft.com/office/drawing/2014/main" id="{FF0E8744-E8DF-9113-C152-B5DA9B12736D}"/>
              </a:ext>
            </a:extLst>
          </p:cNvPr>
          <p:cNvSpPr txBox="1"/>
          <p:nvPr/>
        </p:nvSpPr>
        <p:spPr>
          <a:xfrm>
            <a:off x="8647812" y="2985975"/>
            <a:ext cx="3172045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1600" b="1">
                <a:solidFill>
                  <a:srgbClr val="C2DEFF"/>
                </a:solidFill>
                <a:latin typeface="Segoe UI"/>
                <a:cs typeface="Segoe UI"/>
              </a:rPr>
              <a:t>- community_car_setting</a:t>
            </a:r>
            <a:endParaRPr lang="hu-HU">
              <a:solidFill>
                <a:srgbClr val="000000"/>
              </a:solidFill>
              <a:latin typeface="Aptos" panose="020B0004020202020204"/>
              <a:cs typeface="Segoe UI"/>
            </a:endParaRPr>
          </a:p>
          <a:p>
            <a:r>
              <a:rPr lang="hu-HU" sz="1600" b="1">
                <a:solidFill>
                  <a:srgbClr val="C2DEFF"/>
                </a:solidFill>
                <a:latin typeface="Segoe UI"/>
                <a:cs typeface="Segoe UI"/>
              </a:rPr>
              <a:t>- car_gas_station</a:t>
            </a:r>
          </a:p>
          <a:p>
            <a:r>
              <a:rPr lang="hu-HU" sz="1600" b="1">
                <a:solidFill>
                  <a:srgbClr val="C2DEFF"/>
                </a:solidFill>
                <a:latin typeface="Segoe UI"/>
                <a:cs typeface="Segoe UI"/>
              </a:rPr>
              <a:t>- community_gas_</a:t>
            </a:r>
          </a:p>
          <a:p>
            <a:r>
              <a:rPr lang="hu-HU" sz="1600" b="1">
                <a:solidFill>
                  <a:srgbClr val="C2DEFF"/>
                </a:solidFill>
                <a:latin typeface="Segoe UI"/>
                <a:cs typeface="Segoe UI"/>
              </a:rPr>
              <a:t>   station_share</a:t>
            </a:r>
          </a:p>
          <a:p>
            <a:r>
              <a:rPr lang="hu-HU" sz="1600" b="1">
                <a:solidFill>
                  <a:srgbClr val="C2DEFF"/>
                </a:solidFill>
                <a:latin typeface="Segoe UI"/>
                <a:cs typeface="Segoe UI"/>
              </a:rPr>
              <a:t>- django_content_type</a:t>
            </a:r>
          </a:p>
          <a:p>
            <a:r>
              <a:rPr lang="hu-HU" sz="1600" b="1">
                <a:solidFill>
                  <a:srgbClr val="C2DEFF"/>
                </a:solidFill>
                <a:latin typeface="Segoe UI"/>
                <a:cs typeface="Segoe UI"/>
              </a:rPr>
              <a:t>- django_migrations</a:t>
            </a:r>
          </a:p>
          <a:p>
            <a:r>
              <a:rPr lang="hu-HU" sz="1600" b="1">
                <a:solidFill>
                  <a:srgbClr val="C2DEFF"/>
                </a:solidFill>
                <a:latin typeface="Segoe UI"/>
                <a:cs typeface="Segoe UI"/>
              </a:rPr>
              <a:t>- django_admin_log</a:t>
            </a:r>
          </a:p>
          <a:p>
            <a:r>
              <a:rPr lang="hu-HU" sz="1600" b="1">
                <a:solidFill>
                  <a:srgbClr val="C2DEFF"/>
                </a:solidFill>
                <a:latin typeface="Segoe UI"/>
                <a:cs typeface="Segoe UI"/>
              </a:rPr>
              <a:t>- django_session</a:t>
            </a:r>
          </a:p>
        </p:txBody>
      </p:sp>
    </p:spTree>
    <p:extLst>
      <p:ext uri="{BB962C8B-B14F-4D97-AF65-F5344CB8AC3E}">
        <p14:creationId xmlns:p14="http://schemas.microsoft.com/office/powerpoint/2010/main" val="2128827745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59DAB-E10A-748E-7751-38F620F1C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>
            <a:extLst>
              <a:ext uri="{FF2B5EF4-FFF2-40B4-BE49-F238E27FC236}">
                <a16:creationId xmlns:a16="http://schemas.microsoft.com/office/drawing/2014/main" id="{A17E52F1-1EB2-7087-3B02-A0B5D9B06A2C}"/>
              </a:ext>
            </a:extLst>
          </p:cNvPr>
          <p:cNvSpPr/>
          <p:nvPr/>
        </p:nvSpPr>
        <p:spPr>
          <a:xfrm>
            <a:off x="14526" y="2470"/>
            <a:ext cx="12179040" cy="685977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57150"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4F6E7B2A-9A9B-AAD8-6C69-9F02919C5629}"/>
              </a:ext>
            </a:extLst>
          </p:cNvPr>
          <p:cNvSpPr/>
          <p:nvPr/>
        </p:nvSpPr>
        <p:spPr>
          <a:xfrm>
            <a:off x="502791" y="453852"/>
            <a:ext cx="11189731" cy="595485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rgbClr val="FFFFFF"/>
              </a:solidFill>
            </a:endParaRPr>
          </a:p>
        </p:txBody>
      </p:sp>
      <p:sp>
        <p:nvSpPr>
          <p:cNvPr id="7" name="Ellipszis 6">
            <a:extLst>
              <a:ext uri="{FF2B5EF4-FFF2-40B4-BE49-F238E27FC236}">
                <a16:creationId xmlns:a16="http://schemas.microsoft.com/office/drawing/2014/main" id="{F48446C6-A7A7-495E-436B-4556E6DBC42D}"/>
              </a:ext>
            </a:extLst>
          </p:cNvPr>
          <p:cNvSpPr/>
          <p:nvPr/>
        </p:nvSpPr>
        <p:spPr>
          <a:xfrm>
            <a:off x="-1204920" y="-341493"/>
            <a:ext cx="2454088" cy="2465294"/>
          </a:xfrm>
          <a:prstGeom prst="ellipse">
            <a:avLst/>
          </a:prstGeom>
          <a:solidFill>
            <a:srgbClr val="075DBF"/>
          </a:solidFill>
          <a:ln>
            <a:solidFill>
              <a:srgbClr val="075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Ellipszis 8">
            <a:extLst>
              <a:ext uri="{FF2B5EF4-FFF2-40B4-BE49-F238E27FC236}">
                <a16:creationId xmlns:a16="http://schemas.microsoft.com/office/drawing/2014/main" id="{93B3591F-7090-F4F4-7BBE-64A600BAF451}"/>
              </a:ext>
            </a:extLst>
          </p:cNvPr>
          <p:cNvSpPr/>
          <p:nvPr/>
        </p:nvSpPr>
        <p:spPr>
          <a:xfrm>
            <a:off x="238398" y="-583540"/>
            <a:ext cx="1683124" cy="1766047"/>
          </a:xfrm>
          <a:prstGeom prst="ellipse">
            <a:avLst/>
          </a:prstGeom>
          <a:solidFill>
            <a:srgbClr val="0C7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Ellipszis 10">
            <a:extLst>
              <a:ext uri="{FF2B5EF4-FFF2-40B4-BE49-F238E27FC236}">
                <a16:creationId xmlns:a16="http://schemas.microsoft.com/office/drawing/2014/main" id="{11D20BA6-F837-9DA1-3C35-6D71A72C9486}"/>
              </a:ext>
            </a:extLst>
          </p:cNvPr>
          <p:cNvSpPr/>
          <p:nvPr/>
        </p:nvSpPr>
        <p:spPr>
          <a:xfrm>
            <a:off x="1457598" y="-709045"/>
            <a:ext cx="1423148" cy="1425389"/>
          </a:xfrm>
          <a:prstGeom prst="ellipse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Ellipszis 12">
            <a:extLst>
              <a:ext uri="{FF2B5EF4-FFF2-40B4-BE49-F238E27FC236}">
                <a16:creationId xmlns:a16="http://schemas.microsoft.com/office/drawing/2014/main" id="{8B163068-7D4D-860E-C51A-93E9E3E05EA8}"/>
              </a:ext>
            </a:extLst>
          </p:cNvPr>
          <p:cNvSpPr/>
          <p:nvPr/>
        </p:nvSpPr>
        <p:spPr>
          <a:xfrm>
            <a:off x="2461645" y="-583539"/>
            <a:ext cx="1181101" cy="1174377"/>
          </a:xfrm>
          <a:prstGeom prst="ellipse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Ellipszis 14">
            <a:extLst>
              <a:ext uri="{FF2B5EF4-FFF2-40B4-BE49-F238E27FC236}">
                <a16:creationId xmlns:a16="http://schemas.microsoft.com/office/drawing/2014/main" id="{F0FCEC03-8F3A-E928-71D3-597B3C0C3090}"/>
              </a:ext>
            </a:extLst>
          </p:cNvPr>
          <p:cNvSpPr/>
          <p:nvPr/>
        </p:nvSpPr>
        <p:spPr>
          <a:xfrm>
            <a:off x="10969152" y="4714601"/>
            <a:ext cx="2454088" cy="2465294"/>
          </a:xfrm>
          <a:prstGeom prst="ellipse">
            <a:avLst/>
          </a:prstGeom>
          <a:solidFill>
            <a:srgbClr val="075DBF"/>
          </a:solidFill>
          <a:ln>
            <a:solidFill>
              <a:srgbClr val="075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Ellipszis 16">
            <a:extLst>
              <a:ext uri="{FF2B5EF4-FFF2-40B4-BE49-F238E27FC236}">
                <a16:creationId xmlns:a16="http://schemas.microsoft.com/office/drawing/2014/main" id="{30D2D079-315F-70CD-1955-62B8F061EFE5}"/>
              </a:ext>
            </a:extLst>
          </p:cNvPr>
          <p:cNvSpPr/>
          <p:nvPr/>
        </p:nvSpPr>
        <p:spPr>
          <a:xfrm>
            <a:off x="10386444" y="5521424"/>
            <a:ext cx="1683124" cy="1766047"/>
          </a:xfrm>
          <a:prstGeom prst="ellipse">
            <a:avLst/>
          </a:prstGeom>
          <a:solidFill>
            <a:srgbClr val="0C7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Ellipszis 18">
            <a:extLst>
              <a:ext uri="{FF2B5EF4-FFF2-40B4-BE49-F238E27FC236}">
                <a16:creationId xmlns:a16="http://schemas.microsoft.com/office/drawing/2014/main" id="{908DA724-8BCA-D6BB-F877-3CB653AA55C0}"/>
              </a:ext>
            </a:extLst>
          </p:cNvPr>
          <p:cNvSpPr/>
          <p:nvPr/>
        </p:nvSpPr>
        <p:spPr>
          <a:xfrm>
            <a:off x="9678233" y="5942767"/>
            <a:ext cx="1423148" cy="1425389"/>
          </a:xfrm>
          <a:prstGeom prst="ellipse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" name="Ellipszis 20">
            <a:extLst>
              <a:ext uri="{FF2B5EF4-FFF2-40B4-BE49-F238E27FC236}">
                <a16:creationId xmlns:a16="http://schemas.microsoft.com/office/drawing/2014/main" id="{7FE69721-A104-86DE-9FBE-7A737082C7AA}"/>
              </a:ext>
            </a:extLst>
          </p:cNvPr>
          <p:cNvSpPr/>
          <p:nvPr/>
        </p:nvSpPr>
        <p:spPr>
          <a:xfrm>
            <a:off x="8862445" y="6274462"/>
            <a:ext cx="1181101" cy="1174377"/>
          </a:xfrm>
          <a:prstGeom prst="ellipse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1C766385-A48D-BBBE-11C6-1210F6DC6E91}"/>
              </a:ext>
            </a:extLst>
          </p:cNvPr>
          <p:cNvSpPr txBox="1"/>
          <p:nvPr/>
        </p:nvSpPr>
        <p:spPr>
          <a:xfrm>
            <a:off x="405653" y="6470276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hu-HU" b="1">
                <a:solidFill>
                  <a:srgbClr val="FFFFFF"/>
                </a:solidFill>
                <a:latin typeface="Segoe UI"/>
                <a:cs typeface="Segoe UI"/>
              </a:rPr>
              <a:t>6/12</a:t>
            </a:r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BB57FF87-159A-2212-D90A-B2D38A4859B7}"/>
              </a:ext>
            </a:extLst>
          </p:cNvPr>
          <p:cNvSpPr txBox="1">
            <a:spLocks/>
          </p:cNvSpPr>
          <p:nvPr/>
        </p:nvSpPr>
        <p:spPr>
          <a:xfrm>
            <a:off x="5304" y="719020"/>
            <a:ext cx="12183034" cy="813981"/>
          </a:xfrm>
          <a:prstGeom prst="rect">
            <a:avLst/>
          </a:prstGeom>
        </p:spPr>
        <p:txBody>
          <a:bodyPr lIns="91440" tIns="45720" rIns="91440" bIns="4572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4800" b="1">
                <a:solidFill>
                  <a:schemeClr val="bg1"/>
                </a:solidFill>
                <a:latin typeface="Segoe UI"/>
                <a:cs typeface="Segoe UI"/>
              </a:rPr>
              <a:t>Felhasznált technológiák</a:t>
            </a:r>
            <a:endParaRPr lang="hu-HU">
              <a:solidFill>
                <a:schemeClr val="bg1"/>
              </a:solidFill>
            </a:endParaRPr>
          </a:p>
        </p:txBody>
      </p:sp>
      <p:cxnSp>
        <p:nvCxnSpPr>
          <p:cNvPr id="6" name="Egyenes összekötő nyíllal 5">
            <a:extLst>
              <a:ext uri="{FF2B5EF4-FFF2-40B4-BE49-F238E27FC236}">
                <a16:creationId xmlns:a16="http://schemas.microsoft.com/office/drawing/2014/main" id="{3F0B2B73-457B-47CE-3379-18D061EA2903}"/>
              </a:ext>
            </a:extLst>
          </p:cNvPr>
          <p:cNvCxnSpPr/>
          <p:nvPr/>
        </p:nvCxnSpPr>
        <p:spPr>
          <a:xfrm>
            <a:off x="6066907" y="1930359"/>
            <a:ext cx="1294" cy="2267792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321BF1F3-3EF8-8653-9ABF-124C2EDA57FB}"/>
              </a:ext>
            </a:extLst>
          </p:cNvPr>
          <p:cNvSpPr txBox="1"/>
          <p:nvPr/>
        </p:nvSpPr>
        <p:spPr>
          <a:xfrm>
            <a:off x="497577" y="2418329"/>
            <a:ext cx="55637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React.js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5522F120-47A7-8E04-4C7E-3D0C2D1B90AB}"/>
              </a:ext>
            </a:extLst>
          </p:cNvPr>
          <p:cNvSpPr txBox="1"/>
          <p:nvPr/>
        </p:nvSpPr>
        <p:spPr>
          <a:xfrm>
            <a:off x="506437" y="2817049"/>
            <a:ext cx="55637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Bootstrap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9A5DF135-1794-4678-BB45-BA91F80D803E}"/>
              </a:ext>
            </a:extLst>
          </p:cNvPr>
          <p:cNvSpPr txBox="1"/>
          <p:nvPr/>
        </p:nvSpPr>
        <p:spPr>
          <a:xfrm>
            <a:off x="506436" y="3215770"/>
            <a:ext cx="55637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CSS</a:t>
            </a:r>
            <a:endParaRPr lang="hu-HU"/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243619C2-19A9-ACBC-6338-BFF436CE5613}"/>
              </a:ext>
            </a:extLst>
          </p:cNvPr>
          <p:cNvSpPr txBox="1"/>
          <p:nvPr/>
        </p:nvSpPr>
        <p:spPr>
          <a:xfrm>
            <a:off x="533019" y="3614492"/>
            <a:ext cx="55637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Chart.js</a:t>
            </a:r>
            <a:endParaRPr lang="hu-HU"/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91B925FF-709E-D0F5-C55F-5F6C7C722DBD}"/>
              </a:ext>
            </a:extLst>
          </p:cNvPr>
          <p:cNvSpPr txBox="1"/>
          <p:nvPr/>
        </p:nvSpPr>
        <p:spPr>
          <a:xfrm>
            <a:off x="6097390" y="2709549"/>
            <a:ext cx="55637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Python Django REST framework</a:t>
            </a:r>
            <a:endParaRPr lang="hu-HU"/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2DFB6750-CB13-0706-67CC-8251B722FD3A}"/>
              </a:ext>
            </a:extLst>
          </p:cNvPr>
          <p:cNvSpPr txBox="1"/>
          <p:nvPr/>
        </p:nvSpPr>
        <p:spPr>
          <a:xfrm>
            <a:off x="6106250" y="3108269"/>
            <a:ext cx="55637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SQLite</a:t>
            </a:r>
            <a:endParaRPr lang="hu-HU"/>
          </a:p>
        </p:txBody>
      </p:sp>
      <p:sp>
        <p:nvSpPr>
          <p:cNvPr id="22" name="Szövegdoboz 21">
            <a:extLst>
              <a:ext uri="{FF2B5EF4-FFF2-40B4-BE49-F238E27FC236}">
                <a16:creationId xmlns:a16="http://schemas.microsoft.com/office/drawing/2014/main" id="{57E71526-85AA-2840-AAC4-69A38B44F6A0}"/>
              </a:ext>
            </a:extLst>
          </p:cNvPr>
          <p:cNvSpPr txBox="1"/>
          <p:nvPr/>
        </p:nvSpPr>
        <p:spPr>
          <a:xfrm>
            <a:off x="6106250" y="3506990"/>
            <a:ext cx="55637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Nominatim – OpenStreetMap API</a:t>
            </a:r>
            <a:endParaRPr lang="hu-HU"/>
          </a:p>
        </p:txBody>
      </p:sp>
      <p:sp>
        <p:nvSpPr>
          <p:cNvPr id="25" name="Szövegdoboz 24">
            <a:extLst>
              <a:ext uri="{FF2B5EF4-FFF2-40B4-BE49-F238E27FC236}">
                <a16:creationId xmlns:a16="http://schemas.microsoft.com/office/drawing/2014/main" id="{BDC3B197-8F5F-A4E1-6F58-708B2498B4DA}"/>
              </a:ext>
            </a:extLst>
          </p:cNvPr>
          <p:cNvSpPr txBox="1"/>
          <p:nvPr/>
        </p:nvSpPr>
        <p:spPr>
          <a:xfrm>
            <a:off x="533017" y="4013211"/>
            <a:ext cx="55637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Vitest</a:t>
            </a:r>
            <a:endParaRPr lang="hu-HU"/>
          </a:p>
        </p:txBody>
      </p:sp>
      <p:sp>
        <p:nvSpPr>
          <p:cNvPr id="26" name="Szövegdoboz 25">
            <a:extLst>
              <a:ext uri="{FF2B5EF4-FFF2-40B4-BE49-F238E27FC236}">
                <a16:creationId xmlns:a16="http://schemas.microsoft.com/office/drawing/2014/main" id="{DC926F9E-6603-4D1C-E7F2-606EC6801BD2}"/>
              </a:ext>
            </a:extLst>
          </p:cNvPr>
          <p:cNvSpPr txBox="1"/>
          <p:nvPr/>
        </p:nvSpPr>
        <p:spPr>
          <a:xfrm>
            <a:off x="497579" y="4713189"/>
            <a:ext cx="1119013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Visual Studio Code</a:t>
            </a:r>
            <a:endParaRPr lang="hu-HU"/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12029F88-2D63-18D3-B921-BCEE6E3E9034}"/>
              </a:ext>
            </a:extLst>
          </p:cNvPr>
          <p:cNvSpPr txBox="1"/>
          <p:nvPr/>
        </p:nvSpPr>
        <p:spPr>
          <a:xfrm>
            <a:off x="506439" y="5111910"/>
            <a:ext cx="1119013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GitHub</a:t>
            </a:r>
            <a:endParaRPr lang="hu-HU"/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8CBDC9E0-617C-AA0A-89BA-924FAC5080D3}"/>
              </a:ext>
            </a:extLst>
          </p:cNvPr>
          <p:cNvSpPr txBox="1"/>
          <p:nvPr/>
        </p:nvSpPr>
        <p:spPr>
          <a:xfrm>
            <a:off x="533020" y="5519490"/>
            <a:ext cx="1119013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Teams &amp; Messenger &amp; Discord</a:t>
            </a:r>
          </a:p>
        </p:txBody>
      </p:sp>
      <p:pic>
        <p:nvPicPr>
          <p:cNvPr id="29" name="Kép 28" descr="File:React-icon.svg - Wikimedia Commons">
            <a:extLst>
              <a:ext uri="{FF2B5EF4-FFF2-40B4-BE49-F238E27FC236}">
                <a16:creationId xmlns:a16="http://schemas.microsoft.com/office/drawing/2014/main" id="{12D413CE-E2BF-4EB3-C5A2-F14140D2E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259" y="4563139"/>
            <a:ext cx="1283134" cy="1151862"/>
          </a:xfrm>
          <a:prstGeom prst="rect">
            <a:avLst/>
          </a:prstGeom>
        </p:spPr>
      </p:pic>
      <p:pic>
        <p:nvPicPr>
          <p:cNvPr id="30" name="Kép 29" descr="Django logo and symbol, meaning, history, PNG">
            <a:extLst>
              <a:ext uri="{FF2B5EF4-FFF2-40B4-BE49-F238E27FC236}">
                <a16:creationId xmlns:a16="http://schemas.microsoft.com/office/drawing/2014/main" id="{B22C2A9F-BE0A-F6FD-D18A-0CE0925CA1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5028" y="4698262"/>
            <a:ext cx="1981200" cy="1218315"/>
          </a:xfrm>
          <a:prstGeom prst="rect">
            <a:avLst/>
          </a:prstGeom>
        </p:spPr>
      </p:pic>
      <p:sp>
        <p:nvSpPr>
          <p:cNvPr id="31" name="Téglalap 30">
            <a:extLst>
              <a:ext uri="{FF2B5EF4-FFF2-40B4-BE49-F238E27FC236}">
                <a16:creationId xmlns:a16="http://schemas.microsoft.com/office/drawing/2014/main" id="{27108F4B-F2A6-B065-092E-59B0C7E1A046}"/>
              </a:ext>
            </a:extLst>
          </p:cNvPr>
          <p:cNvSpPr/>
          <p:nvPr/>
        </p:nvSpPr>
        <p:spPr>
          <a:xfrm>
            <a:off x="2525967" y="1736303"/>
            <a:ext cx="1502865" cy="402553"/>
          </a:xfrm>
          <a:prstGeom prst="rect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86CB1BA5-CC3E-9097-FADF-D1B6E64D5E42}"/>
              </a:ext>
            </a:extLst>
          </p:cNvPr>
          <p:cNvSpPr txBox="1"/>
          <p:nvPr/>
        </p:nvSpPr>
        <p:spPr>
          <a:xfrm>
            <a:off x="505046" y="1710069"/>
            <a:ext cx="555551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400" b="1">
                <a:solidFill>
                  <a:srgbClr val="196ECF"/>
                </a:solidFill>
                <a:latin typeface="Segoe UI"/>
              </a:rPr>
              <a:t>Frontend</a:t>
            </a:r>
            <a:endParaRPr lang="hu-HU">
              <a:solidFill>
                <a:srgbClr val="196ECF"/>
              </a:solidFill>
            </a:endParaRPr>
          </a:p>
          <a:p>
            <a:pPr algn="ctr"/>
            <a:endParaRPr lang="hu-HU"/>
          </a:p>
        </p:txBody>
      </p:sp>
      <p:sp>
        <p:nvSpPr>
          <p:cNvPr id="33" name="Téglalap 32">
            <a:extLst>
              <a:ext uri="{FF2B5EF4-FFF2-40B4-BE49-F238E27FC236}">
                <a16:creationId xmlns:a16="http://schemas.microsoft.com/office/drawing/2014/main" id="{7AE395B5-B65D-C01B-DCDD-5BB447C9E711}"/>
              </a:ext>
            </a:extLst>
          </p:cNvPr>
          <p:cNvSpPr/>
          <p:nvPr/>
        </p:nvSpPr>
        <p:spPr>
          <a:xfrm>
            <a:off x="8128277" y="1714838"/>
            <a:ext cx="1502865" cy="402553"/>
          </a:xfrm>
          <a:prstGeom prst="rect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105DA1A6-6E16-8EFF-E085-93E856456776}"/>
              </a:ext>
            </a:extLst>
          </p:cNvPr>
          <p:cNvSpPr txBox="1"/>
          <p:nvPr/>
        </p:nvSpPr>
        <p:spPr>
          <a:xfrm>
            <a:off x="6104859" y="1683487"/>
            <a:ext cx="555551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400" b="1">
                <a:solidFill>
                  <a:srgbClr val="196ECF"/>
                </a:solidFill>
                <a:latin typeface="Segoe UI"/>
              </a:rPr>
              <a:t>Backend</a:t>
            </a:r>
            <a:endParaRPr lang="hu-HU">
              <a:solidFill>
                <a:srgbClr val="196ECF"/>
              </a:solidFill>
            </a:endParaRPr>
          </a:p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9111185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4524A-70D0-6649-7803-7A54B32A7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>
            <a:extLst>
              <a:ext uri="{FF2B5EF4-FFF2-40B4-BE49-F238E27FC236}">
                <a16:creationId xmlns:a16="http://schemas.microsoft.com/office/drawing/2014/main" id="{E9466CDB-949C-5B54-16A3-1766D26B4B74}"/>
              </a:ext>
            </a:extLst>
          </p:cNvPr>
          <p:cNvSpPr/>
          <p:nvPr/>
        </p:nvSpPr>
        <p:spPr>
          <a:xfrm>
            <a:off x="14526" y="2470"/>
            <a:ext cx="12179040" cy="685977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57150"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2D5AE642-E42E-5F7B-2653-2466E45729DA}"/>
              </a:ext>
            </a:extLst>
          </p:cNvPr>
          <p:cNvSpPr/>
          <p:nvPr/>
        </p:nvSpPr>
        <p:spPr>
          <a:xfrm>
            <a:off x="502791" y="453852"/>
            <a:ext cx="11189731" cy="595485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rgbClr val="FFFFFF"/>
              </a:solidFill>
            </a:endParaRPr>
          </a:p>
        </p:txBody>
      </p:sp>
      <p:sp>
        <p:nvSpPr>
          <p:cNvPr id="7" name="Ellipszis 6">
            <a:extLst>
              <a:ext uri="{FF2B5EF4-FFF2-40B4-BE49-F238E27FC236}">
                <a16:creationId xmlns:a16="http://schemas.microsoft.com/office/drawing/2014/main" id="{08762514-2348-F3B6-83A1-9A899F5D0AFF}"/>
              </a:ext>
            </a:extLst>
          </p:cNvPr>
          <p:cNvSpPr/>
          <p:nvPr/>
        </p:nvSpPr>
        <p:spPr>
          <a:xfrm>
            <a:off x="-1204920" y="-341493"/>
            <a:ext cx="2454088" cy="2465294"/>
          </a:xfrm>
          <a:prstGeom prst="ellipse">
            <a:avLst/>
          </a:prstGeom>
          <a:solidFill>
            <a:srgbClr val="075DBF"/>
          </a:solidFill>
          <a:ln>
            <a:solidFill>
              <a:srgbClr val="075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Ellipszis 8">
            <a:extLst>
              <a:ext uri="{FF2B5EF4-FFF2-40B4-BE49-F238E27FC236}">
                <a16:creationId xmlns:a16="http://schemas.microsoft.com/office/drawing/2014/main" id="{7C206C18-707D-6157-5FC0-264C783B87B5}"/>
              </a:ext>
            </a:extLst>
          </p:cNvPr>
          <p:cNvSpPr/>
          <p:nvPr/>
        </p:nvSpPr>
        <p:spPr>
          <a:xfrm>
            <a:off x="238398" y="-583540"/>
            <a:ext cx="1683124" cy="1766047"/>
          </a:xfrm>
          <a:prstGeom prst="ellipse">
            <a:avLst/>
          </a:prstGeom>
          <a:solidFill>
            <a:srgbClr val="0C7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Ellipszis 10">
            <a:extLst>
              <a:ext uri="{FF2B5EF4-FFF2-40B4-BE49-F238E27FC236}">
                <a16:creationId xmlns:a16="http://schemas.microsoft.com/office/drawing/2014/main" id="{0DA4AB8B-8C53-CAEC-68CB-2A782C6F76E2}"/>
              </a:ext>
            </a:extLst>
          </p:cNvPr>
          <p:cNvSpPr/>
          <p:nvPr/>
        </p:nvSpPr>
        <p:spPr>
          <a:xfrm>
            <a:off x="1457598" y="-709045"/>
            <a:ext cx="1423148" cy="1425389"/>
          </a:xfrm>
          <a:prstGeom prst="ellipse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Ellipszis 12">
            <a:extLst>
              <a:ext uri="{FF2B5EF4-FFF2-40B4-BE49-F238E27FC236}">
                <a16:creationId xmlns:a16="http://schemas.microsoft.com/office/drawing/2014/main" id="{9ED9BBD8-0400-FE40-3F8A-828166924722}"/>
              </a:ext>
            </a:extLst>
          </p:cNvPr>
          <p:cNvSpPr/>
          <p:nvPr/>
        </p:nvSpPr>
        <p:spPr>
          <a:xfrm>
            <a:off x="2461645" y="-583539"/>
            <a:ext cx="1181101" cy="1174377"/>
          </a:xfrm>
          <a:prstGeom prst="ellipse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Ellipszis 14">
            <a:extLst>
              <a:ext uri="{FF2B5EF4-FFF2-40B4-BE49-F238E27FC236}">
                <a16:creationId xmlns:a16="http://schemas.microsoft.com/office/drawing/2014/main" id="{9FDB4C96-B96E-FF11-63F9-C2E5DB6EB1FF}"/>
              </a:ext>
            </a:extLst>
          </p:cNvPr>
          <p:cNvSpPr/>
          <p:nvPr/>
        </p:nvSpPr>
        <p:spPr>
          <a:xfrm>
            <a:off x="10969152" y="4714601"/>
            <a:ext cx="2454088" cy="2465294"/>
          </a:xfrm>
          <a:prstGeom prst="ellipse">
            <a:avLst/>
          </a:prstGeom>
          <a:solidFill>
            <a:srgbClr val="075DBF"/>
          </a:solidFill>
          <a:ln>
            <a:solidFill>
              <a:srgbClr val="075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Ellipszis 16">
            <a:extLst>
              <a:ext uri="{FF2B5EF4-FFF2-40B4-BE49-F238E27FC236}">
                <a16:creationId xmlns:a16="http://schemas.microsoft.com/office/drawing/2014/main" id="{9075B9D1-2836-E616-59B8-C98D55697635}"/>
              </a:ext>
            </a:extLst>
          </p:cNvPr>
          <p:cNvSpPr/>
          <p:nvPr/>
        </p:nvSpPr>
        <p:spPr>
          <a:xfrm>
            <a:off x="10386444" y="5521424"/>
            <a:ext cx="1683124" cy="1766047"/>
          </a:xfrm>
          <a:prstGeom prst="ellipse">
            <a:avLst/>
          </a:prstGeom>
          <a:solidFill>
            <a:srgbClr val="0C7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Ellipszis 18">
            <a:extLst>
              <a:ext uri="{FF2B5EF4-FFF2-40B4-BE49-F238E27FC236}">
                <a16:creationId xmlns:a16="http://schemas.microsoft.com/office/drawing/2014/main" id="{2E6A74EE-0961-D377-285A-59B07A0EBE35}"/>
              </a:ext>
            </a:extLst>
          </p:cNvPr>
          <p:cNvSpPr/>
          <p:nvPr/>
        </p:nvSpPr>
        <p:spPr>
          <a:xfrm>
            <a:off x="9678233" y="5942767"/>
            <a:ext cx="1423148" cy="1425389"/>
          </a:xfrm>
          <a:prstGeom prst="ellipse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" name="Ellipszis 20">
            <a:extLst>
              <a:ext uri="{FF2B5EF4-FFF2-40B4-BE49-F238E27FC236}">
                <a16:creationId xmlns:a16="http://schemas.microsoft.com/office/drawing/2014/main" id="{838F1FB5-703A-4297-96FA-F34AF4018553}"/>
              </a:ext>
            </a:extLst>
          </p:cNvPr>
          <p:cNvSpPr/>
          <p:nvPr/>
        </p:nvSpPr>
        <p:spPr>
          <a:xfrm>
            <a:off x="8862445" y="6274462"/>
            <a:ext cx="1181101" cy="1174377"/>
          </a:xfrm>
          <a:prstGeom prst="ellipse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5A18A3A6-F9A6-9DC2-2B82-1410B5EFD2C3}"/>
              </a:ext>
            </a:extLst>
          </p:cNvPr>
          <p:cNvSpPr txBox="1"/>
          <p:nvPr/>
        </p:nvSpPr>
        <p:spPr>
          <a:xfrm>
            <a:off x="405653" y="6470276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hu-HU" b="1">
                <a:solidFill>
                  <a:srgbClr val="FFFFFF"/>
                </a:solidFill>
                <a:latin typeface="Segoe UI"/>
                <a:cs typeface="Segoe UI"/>
              </a:rPr>
              <a:t>7/12</a:t>
            </a:r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AF04BA64-8603-4E89-A8EC-920E70D343B9}"/>
              </a:ext>
            </a:extLst>
          </p:cNvPr>
          <p:cNvSpPr txBox="1">
            <a:spLocks/>
          </p:cNvSpPr>
          <p:nvPr/>
        </p:nvSpPr>
        <p:spPr>
          <a:xfrm>
            <a:off x="5304" y="719020"/>
            <a:ext cx="12183034" cy="813981"/>
          </a:xfrm>
          <a:prstGeom prst="rect">
            <a:avLst/>
          </a:prstGeom>
        </p:spPr>
        <p:txBody>
          <a:bodyPr lIns="91440" tIns="45720" rIns="91440" bIns="4572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4800" b="1">
                <a:solidFill>
                  <a:schemeClr val="bg1"/>
                </a:solidFill>
                <a:latin typeface="Segoe UI"/>
                <a:cs typeface="Segoe UI"/>
              </a:rPr>
              <a:t>Felhasznált irodalmak</a:t>
            </a:r>
            <a:endParaRPr lang="hu-HU">
              <a:solidFill>
                <a:schemeClr val="bg1"/>
              </a:solidFill>
            </a:endParaRPr>
          </a:p>
        </p:txBody>
      </p:sp>
      <p:cxnSp>
        <p:nvCxnSpPr>
          <p:cNvPr id="6" name="Egyenes összekötő nyíllal 5">
            <a:extLst>
              <a:ext uri="{FF2B5EF4-FFF2-40B4-BE49-F238E27FC236}">
                <a16:creationId xmlns:a16="http://schemas.microsoft.com/office/drawing/2014/main" id="{D6107E57-3E64-355D-A090-BEDA326F2B6F}"/>
              </a:ext>
            </a:extLst>
          </p:cNvPr>
          <p:cNvCxnSpPr/>
          <p:nvPr/>
        </p:nvCxnSpPr>
        <p:spPr>
          <a:xfrm>
            <a:off x="6109836" y="1930359"/>
            <a:ext cx="1294" cy="2557566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BBF58232-BC46-F4A6-A94E-12885AFD7C11}"/>
              </a:ext>
            </a:extLst>
          </p:cNvPr>
          <p:cNvSpPr txBox="1"/>
          <p:nvPr/>
        </p:nvSpPr>
        <p:spPr>
          <a:xfrm>
            <a:off x="519042" y="2902285"/>
            <a:ext cx="55637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React dokumentáció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C0B58340-462D-39BE-948A-10AE7281FBB7}"/>
              </a:ext>
            </a:extLst>
          </p:cNvPr>
          <p:cNvSpPr txBox="1"/>
          <p:nvPr/>
        </p:nvSpPr>
        <p:spPr>
          <a:xfrm>
            <a:off x="527902" y="3301005"/>
            <a:ext cx="55637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Bootstrap dokumentáció</a:t>
            </a:r>
            <a:endParaRPr lang="hu-HU"/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6A61B708-2DBB-8CEE-712B-28B2320FDF31}"/>
              </a:ext>
            </a:extLst>
          </p:cNvPr>
          <p:cNvSpPr txBox="1"/>
          <p:nvPr/>
        </p:nvSpPr>
        <p:spPr>
          <a:xfrm>
            <a:off x="527901" y="3699726"/>
            <a:ext cx="55637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Chart.js dokumentáció</a:t>
            </a:r>
            <a:endParaRPr lang="hu-HU"/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E8593697-4D85-8B94-C37B-F1715188E015}"/>
              </a:ext>
            </a:extLst>
          </p:cNvPr>
          <p:cNvSpPr txBox="1"/>
          <p:nvPr/>
        </p:nvSpPr>
        <p:spPr>
          <a:xfrm>
            <a:off x="554484" y="4098448"/>
            <a:ext cx="55637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Vitest dokumentáció</a:t>
            </a:r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9942A51F-D7A7-4377-6112-D13CE86E9BF9}"/>
              </a:ext>
            </a:extLst>
          </p:cNvPr>
          <p:cNvSpPr txBox="1"/>
          <p:nvPr/>
        </p:nvSpPr>
        <p:spPr>
          <a:xfrm>
            <a:off x="6129587" y="2938974"/>
            <a:ext cx="55637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Python Django dokumentáció</a:t>
            </a:r>
            <a:endParaRPr lang="hu-HU"/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1F011474-937C-BD52-6A35-BDE10BD7DC80}"/>
              </a:ext>
            </a:extLst>
          </p:cNvPr>
          <p:cNvSpPr txBox="1"/>
          <p:nvPr/>
        </p:nvSpPr>
        <p:spPr>
          <a:xfrm>
            <a:off x="6138447" y="3337694"/>
            <a:ext cx="55637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Nominatim dokumentáció</a:t>
            </a:r>
            <a:endParaRPr lang="hu-HU">
              <a:solidFill>
                <a:srgbClr val="000000"/>
              </a:solidFill>
              <a:latin typeface="Aptos" panose="020B0004020202020204"/>
              <a:cs typeface="Segoe UI"/>
            </a:endParaRPr>
          </a:p>
        </p:txBody>
      </p:sp>
      <p:sp>
        <p:nvSpPr>
          <p:cNvPr id="25" name="Szövegdoboz 24">
            <a:extLst>
              <a:ext uri="{FF2B5EF4-FFF2-40B4-BE49-F238E27FC236}">
                <a16:creationId xmlns:a16="http://schemas.microsoft.com/office/drawing/2014/main" id="{C5F3660F-4D2B-03D2-5E42-9253FAA57CB4}"/>
              </a:ext>
            </a:extLst>
          </p:cNvPr>
          <p:cNvSpPr txBox="1"/>
          <p:nvPr/>
        </p:nvSpPr>
        <p:spPr>
          <a:xfrm>
            <a:off x="554482" y="4497167"/>
            <a:ext cx="55637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W3Schools</a:t>
            </a:r>
            <a:endParaRPr lang="hu-HU"/>
          </a:p>
        </p:txBody>
      </p:sp>
      <p:sp>
        <p:nvSpPr>
          <p:cNvPr id="27" name="Téglalap 26">
            <a:extLst>
              <a:ext uri="{FF2B5EF4-FFF2-40B4-BE49-F238E27FC236}">
                <a16:creationId xmlns:a16="http://schemas.microsoft.com/office/drawing/2014/main" id="{D7209A00-C444-AB44-6DFA-8A10973E533A}"/>
              </a:ext>
            </a:extLst>
          </p:cNvPr>
          <p:cNvSpPr/>
          <p:nvPr/>
        </p:nvSpPr>
        <p:spPr>
          <a:xfrm>
            <a:off x="2525967" y="1736303"/>
            <a:ext cx="1502865" cy="402553"/>
          </a:xfrm>
          <a:prstGeom prst="rect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" name="Szövegdoboz 23">
            <a:extLst>
              <a:ext uri="{FF2B5EF4-FFF2-40B4-BE49-F238E27FC236}">
                <a16:creationId xmlns:a16="http://schemas.microsoft.com/office/drawing/2014/main" id="{84C3AFC6-4661-5F4E-D471-3D90D5819128}"/>
              </a:ext>
            </a:extLst>
          </p:cNvPr>
          <p:cNvSpPr txBox="1"/>
          <p:nvPr/>
        </p:nvSpPr>
        <p:spPr>
          <a:xfrm>
            <a:off x="527900" y="4851585"/>
            <a:ext cx="55637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Youtube</a:t>
            </a:r>
            <a:endParaRPr lang="hu-HU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D0665505-6094-172E-FBF2-254BE2940F35}"/>
              </a:ext>
            </a:extLst>
          </p:cNvPr>
          <p:cNvSpPr txBox="1"/>
          <p:nvPr/>
        </p:nvSpPr>
        <p:spPr>
          <a:xfrm>
            <a:off x="505046" y="1710069"/>
            <a:ext cx="555551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400" b="1">
                <a:solidFill>
                  <a:srgbClr val="196ECF"/>
                </a:solidFill>
                <a:latin typeface="Segoe UI"/>
              </a:rPr>
              <a:t>Frontend</a:t>
            </a:r>
            <a:endParaRPr lang="hu-HU">
              <a:solidFill>
                <a:srgbClr val="196ECF"/>
              </a:solidFill>
            </a:endParaRPr>
          </a:p>
          <a:p>
            <a:pPr algn="ctr"/>
            <a:endParaRPr lang="hu-HU"/>
          </a:p>
        </p:txBody>
      </p:sp>
      <p:sp>
        <p:nvSpPr>
          <p:cNvPr id="32" name="Téglalap 31">
            <a:extLst>
              <a:ext uri="{FF2B5EF4-FFF2-40B4-BE49-F238E27FC236}">
                <a16:creationId xmlns:a16="http://schemas.microsoft.com/office/drawing/2014/main" id="{3637214A-8DED-E1A2-3330-2D24759E14FA}"/>
              </a:ext>
            </a:extLst>
          </p:cNvPr>
          <p:cNvSpPr/>
          <p:nvPr/>
        </p:nvSpPr>
        <p:spPr>
          <a:xfrm>
            <a:off x="8117544" y="1736303"/>
            <a:ext cx="1502865" cy="402553"/>
          </a:xfrm>
          <a:prstGeom prst="rect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7C231753-EB7C-EEDB-2F15-9BCF523C7FB5}"/>
              </a:ext>
            </a:extLst>
          </p:cNvPr>
          <p:cNvSpPr txBox="1"/>
          <p:nvPr/>
        </p:nvSpPr>
        <p:spPr>
          <a:xfrm>
            <a:off x="6104859" y="1715684"/>
            <a:ext cx="555551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400" b="1">
                <a:solidFill>
                  <a:srgbClr val="196ECF"/>
                </a:solidFill>
                <a:latin typeface="Segoe UI"/>
              </a:rPr>
              <a:t>Backend</a:t>
            </a:r>
            <a:endParaRPr lang="hu-HU">
              <a:solidFill>
                <a:srgbClr val="196ECF"/>
              </a:solidFill>
            </a:endParaRPr>
          </a:p>
          <a:p>
            <a:pPr algn="ctr"/>
            <a:endParaRPr lang="hu-HU"/>
          </a:p>
        </p:txBody>
      </p:sp>
      <p:pic>
        <p:nvPicPr>
          <p:cNvPr id="33" name="Kép 32" descr="High-Quality Document Icon with Transparency">
            <a:extLst>
              <a:ext uri="{FF2B5EF4-FFF2-40B4-BE49-F238E27FC236}">
                <a16:creationId xmlns:a16="http://schemas.microsoft.com/office/drawing/2014/main" id="{8B9EC373-9EDA-B088-E4CD-46964BC6C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9177" y="4768404"/>
            <a:ext cx="1345842" cy="1356574"/>
          </a:xfrm>
          <a:prstGeom prst="rect">
            <a:avLst/>
          </a:prstGeom>
        </p:spPr>
      </p:pic>
      <p:sp>
        <p:nvSpPr>
          <p:cNvPr id="35" name="Szövegdoboz 34">
            <a:extLst>
              <a:ext uri="{FF2B5EF4-FFF2-40B4-BE49-F238E27FC236}">
                <a16:creationId xmlns:a16="http://schemas.microsoft.com/office/drawing/2014/main" id="{A02F59A5-21BE-CC4E-80B7-F4B586F85D29}"/>
              </a:ext>
            </a:extLst>
          </p:cNvPr>
          <p:cNvSpPr txBox="1"/>
          <p:nvPr/>
        </p:nvSpPr>
        <p:spPr>
          <a:xfrm>
            <a:off x="6129587" y="3733172"/>
            <a:ext cx="55637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W3Schools</a:t>
            </a:r>
            <a:endParaRPr lang="hu-HU"/>
          </a:p>
        </p:txBody>
      </p:sp>
      <p:sp>
        <p:nvSpPr>
          <p:cNvPr id="22" name="Szövegdoboz 21">
            <a:extLst>
              <a:ext uri="{FF2B5EF4-FFF2-40B4-BE49-F238E27FC236}">
                <a16:creationId xmlns:a16="http://schemas.microsoft.com/office/drawing/2014/main" id="{A914AAA7-2EDD-091B-6051-FAC540088EA6}"/>
              </a:ext>
            </a:extLst>
          </p:cNvPr>
          <p:cNvSpPr txBox="1"/>
          <p:nvPr/>
        </p:nvSpPr>
        <p:spPr>
          <a:xfrm>
            <a:off x="501318" y="5197142"/>
            <a:ext cx="55637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Stack Overflow</a:t>
            </a:r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71064127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F7FA8-1A70-F66D-0CFD-CC6AD0825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>
            <a:extLst>
              <a:ext uri="{FF2B5EF4-FFF2-40B4-BE49-F238E27FC236}">
                <a16:creationId xmlns:a16="http://schemas.microsoft.com/office/drawing/2014/main" id="{56FE717E-2F61-7924-B0DE-8CE471F08E58}"/>
              </a:ext>
            </a:extLst>
          </p:cNvPr>
          <p:cNvSpPr/>
          <p:nvPr/>
        </p:nvSpPr>
        <p:spPr>
          <a:xfrm>
            <a:off x="14526" y="2470"/>
            <a:ext cx="12179040" cy="685977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57150"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2AE4531D-CEB6-D1B5-0565-030CD17E1BFC}"/>
              </a:ext>
            </a:extLst>
          </p:cNvPr>
          <p:cNvSpPr/>
          <p:nvPr/>
        </p:nvSpPr>
        <p:spPr>
          <a:xfrm>
            <a:off x="502791" y="453852"/>
            <a:ext cx="11189731" cy="595485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rgbClr val="FFFFFF"/>
              </a:solidFill>
            </a:endParaRPr>
          </a:p>
        </p:txBody>
      </p:sp>
      <p:sp>
        <p:nvSpPr>
          <p:cNvPr id="22" name="Téglalap 21">
            <a:extLst>
              <a:ext uri="{FF2B5EF4-FFF2-40B4-BE49-F238E27FC236}">
                <a16:creationId xmlns:a16="http://schemas.microsoft.com/office/drawing/2014/main" id="{14F5B8E5-E886-DE1A-2280-EF832F1A9CE0}"/>
              </a:ext>
            </a:extLst>
          </p:cNvPr>
          <p:cNvSpPr/>
          <p:nvPr/>
        </p:nvSpPr>
        <p:spPr>
          <a:xfrm>
            <a:off x="8029759" y="2403002"/>
            <a:ext cx="2791462" cy="3671212"/>
          </a:xfrm>
          <a:prstGeom prst="rect">
            <a:avLst/>
          </a:prstGeom>
          <a:solidFill>
            <a:srgbClr val="002C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Ellipszis 6">
            <a:extLst>
              <a:ext uri="{FF2B5EF4-FFF2-40B4-BE49-F238E27FC236}">
                <a16:creationId xmlns:a16="http://schemas.microsoft.com/office/drawing/2014/main" id="{166694EF-4BAA-F8A8-D35E-0EDCE6AFE35E}"/>
              </a:ext>
            </a:extLst>
          </p:cNvPr>
          <p:cNvSpPr/>
          <p:nvPr/>
        </p:nvSpPr>
        <p:spPr>
          <a:xfrm>
            <a:off x="-1204920" y="-341493"/>
            <a:ext cx="2454088" cy="2465294"/>
          </a:xfrm>
          <a:prstGeom prst="ellipse">
            <a:avLst/>
          </a:prstGeom>
          <a:solidFill>
            <a:srgbClr val="075DBF"/>
          </a:solidFill>
          <a:ln>
            <a:solidFill>
              <a:srgbClr val="075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Ellipszis 8">
            <a:extLst>
              <a:ext uri="{FF2B5EF4-FFF2-40B4-BE49-F238E27FC236}">
                <a16:creationId xmlns:a16="http://schemas.microsoft.com/office/drawing/2014/main" id="{D2ADC227-CA6F-A14D-A7E6-A973EB86BE42}"/>
              </a:ext>
            </a:extLst>
          </p:cNvPr>
          <p:cNvSpPr/>
          <p:nvPr/>
        </p:nvSpPr>
        <p:spPr>
          <a:xfrm>
            <a:off x="238398" y="-583540"/>
            <a:ext cx="1683124" cy="1766047"/>
          </a:xfrm>
          <a:prstGeom prst="ellipse">
            <a:avLst/>
          </a:prstGeom>
          <a:solidFill>
            <a:srgbClr val="0C7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Ellipszis 10">
            <a:extLst>
              <a:ext uri="{FF2B5EF4-FFF2-40B4-BE49-F238E27FC236}">
                <a16:creationId xmlns:a16="http://schemas.microsoft.com/office/drawing/2014/main" id="{CC498EEF-E7A8-95DE-D221-44BE3AC98F1E}"/>
              </a:ext>
            </a:extLst>
          </p:cNvPr>
          <p:cNvSpPr/>
          <p:nvPr/>
        </p:nvSpPr>
        <p:spPr>
          <a:xfrm>
            <a:off x="1457598" y="-709045"/>
            <a:ext cx="1423148" cy="1425389"/>
          </a:xfrm>
          <a:prstGeom prst="ellipse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Ellipszis 12">
            <a:extLst>
              <a:ext uri="{FF2B5EF4-FFF2-40B4-BE49-F238E27FC236}">
                <a16:creationId xmlns:a16="http://schemas.microsoft.com/office/drawing/2014/main" id="{CCEB44BA-E2C2-D200-3999-EB043652A89E}"/>
              </a:ext>
            </a:extLst>
          </p:cNvPr>
          <p:cNvSpPr/>
          <p:nvPr/>
        </p:nvSpPr>
        <p:spPr>
          <a:xfrm>
            <a:off x="2461645" y="-583539"/>
            <a:ext cx="1181101" cy="1174377"/>
          </a:xfrm>
          <a:prstGeom prst="ellipse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Ellipszis 14">
            <a:extLst>
              <a:ext uri="{FF2B5EF4-FFF2-40B4-BE49-F238E27FC236}">
                <a16:creationId xmlns:a16="http://schemas.microsoft.com/office/drawing/2014/main" id="{8693A013-4CCA-313B-1E7D-48D1121FA1FC}"/>
              </a:ext>
            </a:extLst>
          </p:cNvPr>
          <p:cNvSpPr/>
          <p:nvPr/>
        </p:nvSpPr>
        <p:spPr>
          <a:xfrm>
            <a:off x="10969152" y="4714601"/>
            <a:ext cx="2454088" cy="2465294"/>
          </a:xfrm>
          <a:prstGeom prst="ellipse">
            <a:avLst/>
          </a:prstGeom>
          <a:solidFill>
            <a:srgbClr val="075DBF"/>
          </a:solidFill>
          <a:ln>
            <a:solidFill>
              <a:srgbClr val="075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Ellipszis 16">
            <a:extLst>
              <a:ext uri="{FF2B5EF4-FFF2-40B4-BE49-F238E27FC236}">
                <a16:creationId xmlns:a16="http://schemas.microsoft.com/office/drawing/2014/main" id="{AFC251E8-2295-537C-8422-2F6DB35AA3F6}"/>
              </a:ext>
            </a:extLst>
          </p:cNvPr>
          <p:cNvSpPr/>
          <p:nvPr/>
        </p:nvSpPr>
        <p:spPr>
          <a:xfrm>
            <a:off x="10386444" y="5521424"/>
            <a:ext cx="1683124" cy="1766047"/>
          </a:xfrm>
          <a:prstGeom prst="ellipse">
            <a:avLst/>
          </a:prstGeom>
          <a:solidFill>
            <a:srgbClr val="0C7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Ellipszis 18">
            <a:extLst>
              <a:ext uri="{FF2B5EF4-FFF2-40B4-BE49-F238E27FC236}">
                <a16:creationId xmlns:a16="http://schemas.microsoft.com/office/drawing/2014/main" id="{0BCA49FE-1830-DED4-7E87-D7208982E2BC}"/>
              </a:ext>
            </a:extLst>
          </p:cNvPr>
          <p:cNvSpPr/>
          <p:nvPr/>
        </p:nvSpPr>
        <p:spPr>
          <a:xfrm>
            <a:off x="9678233" y="5942767"/>
            <a:ext cx="1423148" cy="1425389"/>
          </a:xfrm>
          <a:prstGeom prst="ellipse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" name="Ellipszis 20">
            <a:extLst>
              <a:ext uri="{FF2B5EF4-FFF2-40B4-BE49-F238E27FC236}">
                <a16:creationId xmlns:a16="http://schemas.microsoft.com/office/drawing/2014/main" id="{E3A1F589-E7FE-F666-8789-79D789A593DB}"/>
              </a:ext>
            </a:extLst>
          </p:cNvPr>
          <p:cNvSpPr/>
          <p:nvPr/>
        </p:nvSpPr>
        <p:spPr>
          <a:xfrm>
            <a:off x="8862445" y="6274462"/>
            <a:ext cx="1181101" cy="1174377"/>
          </a:xfrm>
          <a:prstGeom prst="ellipse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B0AD70F6-9131-DB6F-4F62-D4048332C215}"/>
              </a:ext>
            </a:extLst>
          </p:cNvPr>
          <p:cNvSpPr txBox="1"/>
          <p:nvPr/>
        </p:nvSpPr>
        <p:spPr>
          <a:xfrm>
            <a:off x="405653" y="6470276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b="1">
                <a:solidFill>
                  <a:srgbClr val="FFFFFF"/>
                </a:solidFill>
                <a:latin typeface="Segoe UI"/>
                <a:cs typeface="Segoe UI"/>
              </a:rPr>
              <a:t>8/12</a:t>
            </a:r>
            <a:endParaRPr lang="hu-HU"/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A47CDB5C-896A-98D3-AE2F-8BA42EB36611}"/>
              </a:ext>
            </a:extLst>
          </p:cNvPr>
          <p:cNvSpPr txBox="1">
            <a:spLocks/>
          </p:cNvSpPr>
          <p:nvPr/>
        </p:nvSpPr>
        <p:spPr>
          <a:xfrm>
            <a:off x="5304" y="719020"/>
            <a:ext cx="12183034" cy="813981"/>
          </a:xfrm>
          <a:prstGeom prst="rect">
            <a:avLst/>
          </a:prstGeom>
        </p:spPr>
        <p:txBody>
          <a:bodyPr lIns="91440" tIns="45720" rIns="91440" bIns="4572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4800" b="1">
                <a:solidFill>
                  <a:schemeClr val="bg1"/>
                </a:solidFill>
                <a:latin typeface="Segoe UI"/>
                <a:cs typeface="Segoe UI"/>
              </a:rPr>
              <a:t>Funkciók</a:t>
            </a:r>
            <a:endParaRPr lang="hu-HU"/>
          </a:p>
        </p:txBody>
      </p:sp>
      <p:sp>
        <p:nvSpPr>
          <p:cNvPr id="20" name="Téglalap 19">
            <a:extLst>
              <a:ext uri="{FF2B5EF4-FFF2-40B4-BE49-F238E27FC236}">
                <a16:creationId xmlns:a16="http://schemas.microsoft.com/office/drawing/2014/main" id="{CC4DC363-6265-D5AB-09FC-08EE4C590905}"/>
              </a:ext>
            </a:extLst>
          </p:cNvPr>
          <p:cNvSpPr/>
          <p:nvPr/>
        </p:nvSpPr>
        <p:spPr>
          <a:xfrm>
            <a:off x="1214689" y="2403002"/>
            <a:ext cx="5946784" cy="3671212"/>
          </a:xfrm>
          <a:prstGeom prst="rect">
            <a:avLst/>
          </a:prstGeom>
          <a:solidFill>
            <a:srgbClr val="002C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83E7C9A6-87B8-5C5B-8523-7503120FB55F}"/>
              </a:ext>
            </a:extLst>
          </p:cNvPr>
          <p:cNvSpPr txBox="1"/>
          <p:nvPr/>
        </p:nvSpPr>
        <p:spPr>
          <a:xfrm>
            <a:off x="1431295" y="1709990"/>
            <a:ext cx="179667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b="1">
                <a:solidFill>
                  <a:srgbClr val="4099FF"/>
                </a:solidFill>
                <a:latin typeface="Segoe UI"/>
                <a:cs typeface="Segoe UI"/>
              </a:rPr>
              <a:t>Funkcionális</a:t>
            </a:r>
            <a:endParaRPr lang="hu-HU">
              <a:solidFill>
                <a:srgbClr val="4099FF"/>
              </a:solidFill>
            </a:endParaRPr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4D6CE44B-276C-CB1A-8DBD-E12481D8EA89}"/>
              </a:ext>
            </a:extLst>
          </p:cNvPr>
          <p:cNvSpPr txBox="1"/>
          <p:nvPr/>
        </p:nvSpPr>
        <p:spPr>
          <a:xfrm>
            <a:off x="7924393" y="1709990"/>
            <a:ext cx="261233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hu-HU" sz="2000" b="1">
                <a:solidFill>
                  <a:srgbClr val="4099FF"/>
                </a:solidFill>
                <a:latin typeface="Segoe UI"/>
                <a:cs typeface="Segoe UI"/>
              </a:rPr>
              <a:t>Nem funkcionális</a:t>
            </a:r>
            <a:endParaRPr lang="hu-HU">
              <a:solidFill>
                <a:srgbClr val="4099FF"/>
              </a:solidFill>
            </a:endParaRPr>
          </a:p>
        </p:txBody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6C0ABD38-64EB-FC14-88DC-64892AFC22B3}"/>
              </a:ext>
            </a:extLst>
          </p:cNvPr>
          <p:cNvSpPr/>
          <p:nvPr/>
        </p:nvSpPr>
        <p:spPr>
          <a:xfrm>
            <a:off x="1429337" y="2145425"/>
            <a:ext cx="5946784" cy="3671212"/>
          </a:xfrm>
          <a:prstGeom prst="rect">
            <a:avLst/>
          </a:prstGeom>
          <a:solidFill>
            <a:srgbClr val="075D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89F94F6E-FE9B-219E-3B2A-67DD6A36F719}"/>
              </a:ext>
            </a:extLst>
          </p:cNvPr>
          <p:cNvSpPr/>
          <p:nvPr/>
        </p:nvSpPr>
        <p:spPr>
          <a:xfrm>
            <a:off x="7772182" y="2145425"/>
            <a:ext cx="2791462" cy="3671212"/>
          </a:xfrm>
          <a:prstGeom prst="rect">
            <a:avLst/>
          </a:prstGeom>
          <a:solidFill>
            <a:srgbClr val="075D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" name="Téglalap 23">
            <a:extLst>
              <a:ext uri="{FF2B5EF4-FFF2-40B4-BE49-F238E27FC236}">
                <a16:creationId xmlns:a16="http://schemas.microsoft.com/office/drawing/2014/main" id="{EA2D2C4C-C896-6A98-60EB-6BA90109952D}"/>
              </a:ext>
            </a:extLst>
          </p:cNvPr>
          <p:cNvSpPr/>
          <p:nvPr/>
        </p:nvSpPr>
        <p:spPr>
          <a:xfrm>
            <a:off x="5337854" y="1564585"/>
            <a:ext cx="1502865" cy="402553"/>
          </a:xfrm>
          <a:prstGeom prst="rect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40BE5273-5EB5-011D-97C3-986D8CB3373C}"/>
              </a:ext>
            </a:extLst>
          </p:cNvPr>
          <p:cNvSpPr txBox="1"/>
          <p:nvPr/>
        </p:nvSpPr>
        <p:spPr>
          <a:xfrm>
            <a:off x="4195482" y="1537447"/>
            <a:ext cx="3810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400" b="1">
                <a:solidFill>
                  <a:srgbClr val="196ECF"/>
                </a:solidFill>
                <a:latin typeface="Segoe UI"/>
                <a:cs typeface="Segoe UI"/>
              </a:rPr>
              <a:t>Frontend</a:t>
            </a:r>
            <a:endParaRPr lang="hu-HU" sz="2400" b="1" i="0" u="none" strike="noStrike" baseline="0">
              <a:solidFill>
                <a:srgbClr val="196ECF"/>
              </a:solidFill>
              <a:latin typeface="Segoe UI"/>
              <a:cs typeface="Segoe UI"/>
            </a:endParaRP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4F6B75B6-C32D-8673-285C-6D11DE84703A}"/>
              </a:ext>
            </a:extLst>
          </p:cNvPr>
          <p:cNvSpPr txBox="1"/>
          <p:nvPr/>
        </p:nvSpPr>
        <p:spPr>
          <a:xfrm>
            <a:off x="1434917" y="2345450"/>
            <a:ext cx="6176109" cy="36625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CRUD: Autó, Tankolás, Benzinkút, Szerviz, Esemény </a:t>
            </a:r>
            <a:endParaRPr lang="hu-HU">
              <a:solidFill>
                <a:srgbClr val="C2DEFF"/>
              </a:solidFill>
              <a:latin typeface="Aptos" panose="020B0004020202020204"/>
              <a:cs typeface="Segoe UI"/>
            </a:endParaRPr>
          </a:p>
          <a:p>
            <a:pPr>
              <a:spcAft>
                <a:spcPts val="6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Regisztráció, bejelentkezés, kijelentkezés, adatok módosítása</a:t>
            </a:r>
            <a:endParaRPr lang="hu-HU">
              <a:solidFill>
                <a:srgbClr val="C2DEFF"/>
              </a:solidFill>
            </a:endParaRPr>
          </a:p>
          <a:p>
            <a:pPr>
              <a:spcAft>
                <a:spcPts val="6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Átlagfogyasztás számítása</a:t>
            </a:r>
          </a:p>
          <a:p>
            <a:pPr>
              <a:spcAft>
                <a:spcPts val="6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Költség limit beállítása</a:t>
            </a:r>
          </a:p>
          <a:p>
            <a:pPr>
              <a:spcAft>
                <a:spcPts val="6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Út indítása, mentése</a:t>
            </a:r>
          </a:p>
          <a:p>
            <a:pPr>
              <a:spcAft>
                <a:spcPts val="6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Statisztikák számítása</a:t>
            </a:r>
          </a:p>
          <a:p>
            <a:pPr>
              <a:spcAft>
                <a:spcPts val="6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Benzinkutak megosztása, statisztikák összehasonlítása</a:t>
            </a:r>
          </a:p>
          <a:p>
            <a:pPr>
              <a:spcAft>
                <a:spcPts val="6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Benzinkutak ellenőrzése (Moderátor)</a:t>
            </a:r>
          </a:p>
          <a:p>
            <a:pPr>
              <a:spcAft>
                <a:spcPts val="6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Profilok kezelése (Admin)</a:t>
            </a:r>
          </a:p>
          <a:p>
            <a:endParaRPr lang="hu-HU" sz="1700" b="1">
              <a:solidFill>
                <a:srgbClr val="94C6FF"/>
              </a:solidFill>
              <a:latin typeface="Segoe UI"/>
              <a:cs typeface="Segoe UI"/>
            </a:endParaRPr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BC652E35-91A6-C767-257A-D58DD14E2903}"/>
              </a:ext>
            </a:extLst>
          </p:cNvPr>
          <p:cNvSpPr txBox="1"/>
          <p:nvPr/>
        </p:nvSpPr>
        <p:spPr>
          <a:xfrm>
            <a:off x="7793427" y="2833783"/>
            <a:ext cx="2719659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Reszponzivitás</a:t>
            </a:r>
            <a:endParaRPr lang="hu-HU"/>
          </a:p>
          <a:p>
            <a:pPr>
              <a:spcAft>
                <a:spcPts val="6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Felhasználóbarát</a:t>
            </a:r>
          </a:p>
          <a:p>
            <a:pPr>
              <a:spcAft>
                <a:spcPts val="6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Egységes design</a:t>
            </a:r>
          </a:p>
          <a:p>
            <a:pPr>
              <a:spcAft>
                <a:spcPts val="6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Többször használható komponensek</a:t>
            </a:r>
          </a:p>
          <a:p>
            <a:pPr>
              <a:spcAft>
                <a:spcPts val="6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Hibakezelés</a:t>
            </a:r>
          </a:p>
          <a:p>
            <a:pPr>
              <a:spcAft>
                <a:spcPts val="6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Validáció</a:t>
            </a:r>
          </a:p>
        </p:txBody>
      </p:sp>
    </p:spTree>
    <p:extLst>
      <p:ext uri="{BB962C8B-B14F-4D97-AF65-F5344CB8AC3E}">
        <p14:creationId xmlns:p14="http://schemas.microsoft.com/office/powerpoint/2010/main" val="731409599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E486C-0C8C-A473-653F-5CD14E109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>
            <a:extLst>
              <a:ext uri="{FF2B5EF4-FFF2-40B4-BE49-F238E27FC236}">
                <a16:creationId xmlns:a16="http://schemas.microsoft.com/office/drawing/2014/main" id="{1A8D1C5C-9CBC-6A53-DC26-6E0C1CC004CD}"/>
              </a:ext>
            </a:extLst>
          </p:cNvPr>
          <p:cNvSpPr/>
          <p:nvPr/>
        </p:nvSpPr>
        <p:spPr>
          <a:xfrm>
            <a:off x="14526" y="2470"/>
            <a:ext cx="12179040" cy="685977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57150"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CD331C7F-1217-627C-F862-0D702D6BA5AD}"/>
              </a:ext>
            </a:extLst>
          </p:cNvPr>
          <p:cNvSpPr/>
          <p:nvPr/>
        </p:nvSpPr>
        <p:spPr>
          <a:xfrm>
            <a:off x="502791" y="453852"/>
            <a:ext cx="11189731" cy="595485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rgbClr val="FFFFFF"/>
              </a:solidFill>
            </a:endParaRPr>
          </a:p>
        </p:txBody>
      </p:sp>
      <p:sp>
        <p:nvSpPr>
          <p:cNvPr id="7" name="Ellipszis 6">
            <a:extLst>
              <a:ext uri="{FF2B5EF4-FFF2-40B4-BE49-F238E27FC236}">
                <a16:creationId xmlns:a16="http://schemas.microsoft.com/office/drawing/2014/main" id="{216AB7EF-AB30-82FC-437A-BC2EA308C389}"/>
              </a:ext>
            </a:extLst>
          </p:cNvPr>
          <p:cNvSpPr/>
          <p:nvPr/>
        </p:nvSpPr>
        <p:spPr>
          <a:xfrm>
            <a:off x="-1204920" y="-341493"/>
            <a:ext cx="2454088" cy="2465294"/>
          </a:xfrm>
          <a:prstGeom prst="ellipse">
            <a:avLst/>
          </a:prstGeom>
          <a:solidFill>
            <a:srgbClr val="075DBF"/>
          </a:solidFill>
          <a:ln>
            <a:solidFill>
              <a:srgbClr val="075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Ellipszis 8">
            <a:extLst>
              <a:ext uri="{FF2B5EF4-FFF2-40B4-BE49-F238E27FC236}">
                <a16:creationId xmlns:a16="http://schemas.microsoft.com/office/drawing/2014/main" id="{FEAF01F3-74F8-94E2-3399-D0C1759E94F0}"/>
              </a:ext>
            </a:extLst>
          </p:cNvPr>
          <p:cNvSpPr/>
          <p:nvPr/>
        </p:nvSpPr>
        <p:spPr>
          <a:xfrm>
            <a:off x="238398" y="-583540"/>
            <a:ext cx="1683124" cy="1766047"/>
          </a:xfrm>
          <a:prstGeom prst="ellipse">
            <a:avLst/>
          </a:prstGeom>
          <a:solidFill>
            <a:srgbClr val="0C7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Ellipszis 10">
            <a:extLst>
              <a:ext uri="{FF2B5EF4-FFF2-40B4-BE49-F238E27FC236}">
                <a16:creationId xmlns:a16="http://schemas.microsoft.com/office/drawing/2014/main" id="{DC25A5AE-FB49-CD33-907A-A430EB1E6310}"/>
              </a:ext>
            </a:extLst>
          </p:cNvPr>
          <p:cNvSpPr/>
          <p:nvPr/>
        </p:nvSpPr>
        <p:spPr>
          <a:xfrm>
            <a:off x="1457598" y="-709045"/>
            <a:ext cx="1423148" cy="1425389"/>
          </a:xfrm>
          <a:prstGeom prst="ellipse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Ellipszis 12">
            <a:extLst>
              <a:ext uri="{FF2B5EF4-FFF2-40B4-BE49-F238E27FC236}">
                <a16:creationId xmlns:a16="http://schemas.microsoft.com/office/drawing/2014/main" id="{9B93F9C9-2358-6DF5-37AD-7F9DAEC2C478}"/>
              </a:ext>
            </a:extLst>
          </p:cNvPr>
          <p:cNvSpPr/>
          <p:nvPr/>
        </p:nvSpPr>
        <p:spPr>
          <a:xfrm>
            <a:off x="2461645" y="-583539"/>
            <a:ext cx="1181101" cy="1174377"/>
          </a:xfrm>
          <a:prstGeom prst="ellipse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37191BA2-0875-7E42-0022-984876191C4D}"/>
              </a:ext>
            </a:extLst>
          </p:cNvPr>
          <p:cNvSpPr txBox="1"/>
          <p:nvPr/>
        </p:nvSpPr>
        <p:spPr>
          <a:xfrm>
            <a:off x="405653" y="6470276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hu-HU" b="1">
                <a:solidFill>
                  <a:srgbClr val="FFFFFF"/>
                </a:solidFill>
                <a:latin typeface="Segoe UI"/>
                <a:cs typeface="Segoe UI"/>
              </a:rPr>
              <a:t>9/12</a:t>
            </a:r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688CBDB9-C5BE-F2F2-5004-0ECB2720A17E}"/>
              </a:ext>
            </a:extLst>
          </p:cNvPr>
          <p:cNvSpPr txBox="1">
            <a:spLocks/>
          </p:cNvSpPr>
          <p:nvPr/>
        </p:nvSpPr>
        <p:spPr>
          <a:xfrm>
            <a:off x="5304" y="719020"/>
            <a:ext cx="12183034" cy="813981"/>
          </a:xfrm>
          <a:prstGeom prst="rect">
            <a:avLst/>
          </a:prstGeom>
        </p:spPr>
        <p:txBody>
          <a:bodyPr lIns="91440" tIns="45720" rIns="91440" bIns="4572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4800" b="1">
                <a:solidFill>
                  <a:schemeClr val="bg1"/>
                </a:solidFill>
                <a:latin typeface="Segoe UI"/>
                <a:cs typeface="Segoe UI"/>
              </a:rPr>
              <a:t>Funkciók</a:t>
            </a:r>
            <a:endParaRPr lang="hu-HU"/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D1418587-F0CE-7CE9-FFF5-2E5B15A4C784}"/>
              </a:ext>
            </a:extLst>
          </p:cNvPr>
          <p:cNvSpPr/>
          <p:nvPr/>
        </p:nvSpPr>
        <p:spPr>
          <a:xfrm>
            <a:off x="5346715" y="1564585"/>
            <a:ext cx="1502865" cy="402553"/>
          </a:xfrm>
          <a:prstGeom prst="rect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026A04AB-2CF5-55CB-D772-F7029F450BB1}"/>
              </a:ext>
            </a:extLst>
          </p:cNvPr>
          <p:cNvSpPr txBox="1"/>
          <p:nvPr/>
        </p:nvSpPr>
        <p:spPr>
          <a:xfrm>
            <a:off x="4195482" y="1537447"/>
            <a:ext cx="3810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400" b="1">
                <a:solidFill>
                  <a:srgbClr val="196ECF"/>
                </a:solidFill>
                <a:latin typeface="Segoe UI"/>
                <a:cs typeface="Segoe UI"/>
              </a:rPr>
              <a:t>Backend</a:t>
            </a:r>
            <a:endParaRPr lang="hu-HU" sz="2400" b="1" i="0" u="none" strike="noStrike" baseline="0">
              <a:solidFill>
                <a:srgbClr val="196ECF"/>
              </a:solidFill>
              <a:latin typeface="Segoe UI"/>
              <a:cs typeface="Segoe UI"/>
            </a:endParaRP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D7AE1D45-91F2-BE7B-C881-868E36A9E80F}"/>
              </a:ext>
            </a:extLst>
          </p:cNvPr>
          <p:cNvSpPr/>
          <p:nvPr/>
        </p:nvSpPr>
        <p:spPr>
          <a:xfrm>
            <a:off x="6762713" y="2403002"/>
            <a:ext cx="3757252" cy="3547166"/>
          </a:xfrm>
          <a:prstGeom prst="rect">
            <a:avLst/>
          </a:prstGeom>
          <a:solidFill>
            <a:srgbClr val="002C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 15">
            <a:extLst>
              <a:ext uri="{FF2B5EF4-FFF2-40B4-BE49-F238E27FC236}">
                <a16:creationId xmlns:a16="http://schemas.microsoft.com/office/drawing/2014/main" id="{D1D7D287-19CF-CE7C-CD58-534932C901DF}"/>
              </a:ext>
            </a:extLst>
          </p:cNvPr>
          <p:cNvSpPr/>
          <p:nvPr/>
        </p:nvSpPr>
        <p:spPr>
          <a:xfrm>
            <a:off x="1214689" y="2403002"/>
            <a:ext cx="4245575" cy="3547166"/>
          </a:xfrm>
          <a:prstGeom prst="rect">
            <a:avLst/>
          </a:prstGeom>
          <a:solidFill>
            <a:srgbClr val="002C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4993E4F6-2DAD-C199-02B0-02D145DAC422}"/>
              </a:ext>
            </a:extLst>
          </p:cNvPr>
          <p:cNvSpPr txBox="1"/>
          <p:nvPr/>
        </p:nvSpPr>
        <p:spPr>
          <a:xfrm>
            <a:off x="1431295" y="1709990"/>
            <a:ext cx="179667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b="1">
                <a:solidFill>
                  <a:srgbClr val="4099FF"/>
                </a:solidFill>
                <a:latin typeface="Segoe UI"/>
                <a:cs typeface="Segoe UI"/>
              </a:rPr>
              <a:t>Funkcionális</a:t>
            </a:r>
            <a:endParaRPr lang="hu-HU">
              <a:solidFill>
                <a:srgbClr val="4099FF"/>
              </a:solidFill>
            </a:endParaRPr>
          </a:p>
        </p:txBody>
      </p:sp>
      <p:sp>
        <p:nvSpPr>
          <p:cNvPr id="24" name="Szövegdoboz 23">
            <a:extLst>
              <a:ext uri="{FF2B5EF4-FFF2-40B4-BE49-F238E27FC236}">
                <a16:creationId xmlns:a16="http://schemas.microsoft.com/office/drawing/2014/main" id="{0F924607-2B2D-C0E4-09FB-FA5459652BA7}"/>
              </a:ext>
            </a:extLst>
          </p:cNvPr>
          <p:cNvSpPr txBox="1"/>
          <p:nvPr/>
        </p:nvSpPr>
        <p:spPr>
          <a:xfrm>
            <a:off x="7623137" y="1709990"/>
            <a:ext cx="261233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hu-HU" sz="2000" b="1">
                <a:solidFill>
                  <a:srgbClr val="4099FF"/>
                </a:solidFill>
                <a:latin typeface="Segoe UI"/>
                <a:cs typeface="Segoe UI"/>
              </a:rPr>
              <a:t>Nem funkcionális</a:t>
            </a:r>
            <a:endParaRPr lang="hu-HU">
              <a:solidFill>
                <a:srgbClr val="4099FF"/>
              </a:solidFill>
            </a:endParaRPr>
          </a:p>
        </p:txBody>
      </p:sp>
      <p:sp>
        <p:nvSpPr>
          <p:cNvPr id="26" name="Téglalap 25">
            <a:extLst>
              <a:ext uri="{FF2B5EF4-FFF2-40B4-BE49-F238E27FC236}">
                <a16:creationId xmlns:a16="http://schemas.microsoft.com/office/drawing/2014/main" id="{54793499-284E-FAB9-5197-2F67D2F0FE49}"/>
              </a:ext>
            </a:extLst>
          </p:cNvPr>
          <p:cNvSpPr/>
          <p:nvPr/>
        </p:nvSpPr>
        <p:spPr>
          <a:xfrm>
            <a:off x="1429337" y="2145425"/>
            <a:ext cx="4245575" cy="3547166"/>
          </a:xfrm>
          <a:prstGeom prst="rect">
            <a:avLst/>
          </a:prstGeom>
          <a:solidFill>
            <a:srgbClr val="075D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" name="Téglalap 27">
            <a:extLst>
              <a:ext uri="{FF2B5EF4-FFF2-40B4-BE49-F238E27FC236}">
                <a16:creationId xmlns:a16="http://schemas.microsoft.com/office/drawing/2014/main" id="{A6B38E52-74C9-DB08-F5FA-C9E5B889CFA3}"/>
              </a:ext>
            </a:extLst>
          </p:cNvPr>
          <p:cNvSpPr/>
          <p:nvPr/>
        </p:nvSpPr>
        <p:spPr>
          <a:xfrm>
            <a:off x="6505136" y="2145425"/>
            <a:ext cx="3757252" cy="3547166"/>
          </a:xfrm>
          <a:prstGeom prst="rect">
            <a:avLst/>
          </a:prstGeom>
          <a:solidFill>
            <a:srgbClr val="075D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" name="Szövegdoboz 29">
            <a:extLst>
              <a:ext uri="{FF2B5EF4-FFF2-40B4-BE49-F238E27FC236}">
                <a16:creationId xmlns:a16="http://schemas.microsoft.com/office/drawing/2014/main" id="{2E773E23-E693-0696-FBF6-ED5EBA719CE6}"/>
              </a:ext>
            </a:extLst>
          </p:cNvPr>
          <p:cNvSpPr txBox="1"/>
          <p:nvPr/>
        </p:nvSpPr>
        <p:spPr>
          <a:xfrm>
            <a:off x="1517100" y="2118879"/>
            <a:ext cx="6154023" cy="37394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5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JWT autentikáció</a:t>
            </a:r>
            <a:endParaRPr lang="hu-HU"/>
          </a:p>
          <a:p>
            <a:pPr>
              <a:spcAft>
                <a:spcPts val="5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Jogosultságkezelés</a:t>
            </a:r>
          </a:p>
          <a:p>
            <a:pPr>
              <a:spcAft>
                <a:spcPts val="5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Admin műveletek</a:t>
            </a:r>
          </a:p>
          <a:p>
            <a:pPr>
              <a:spcAft>
                <a:spcPts val="5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REST API végpontok</a:t>
            </a:r>
          </a:p>
          <a:p>
            <a:pPr>
              <a:spcAft>
                <a:spcPts val="5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Autó adatok kezelése</a:t>
            </a:r>
          </a:p>
          <a:p>
            <a:pPr>
              <a:spcAft>
                <a:spcPts val="5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Út adatainak kiszámítása</a:t>
            </a:r>
          </a:p>
          <a:p>
            <a:pPr>
              <a:spcAft>
                <a:spcPts val="5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Utak és tankolások adatkezelés</a:t>
            </a:r>
          </a:p>
          <a:p>
            <a:pPr>
              <a:spcAft>
                <a:spcPts val="5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Benzinkút adatkezelés</a:t>
            </a:r>
          </a:p>
          <a:p>
            <a:pPr>
              <a:spcAft>
                <a:spcPts val="5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Szerviz és emlékeztető rendszer</a:t>
            </a:r>
          </a:p>
          <a:p>
            <a:pPr>
              <a:spcAft>
                <a:spcPts val="5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Statisztikai adatok kiszámítása</a:t>
            </a:r>
          </a:p>
          <a:p>
            <a:pPr>
              <a:spcAft>
                <a:spcPts val="5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Közösségi funkciók</a:t>
            </a:r>
          </a:p>
        </p:txBody>
      </p:sp>
      <p:sp>
        <p:nvSpPr>
          <p:cNvPr id="32" name="Szövegdoboz 31">
            <a:extLst>
              <a:ext uri="{FF2B5EF4-FFF2-40B4-BE49-F238E27FC236}">
                <a16:creationId xmlns:a16="http://schemas.microsoft.com/office/drawing/2014/main" id="{18491606-C55F-578D-6DFF-FE066865CF81}"/>
              </a:ext>
            </a:extLst>
          </p:cNvPr>
          <p:cNvSpPr txBox="1"/>
          <p:nvPr/>
        </p:nvSpPr>
        <p:spPr>
          <a:xfrm>
            <a:off x="6619608" y="3108457"/>
            <a:ext cx="3295590" cy="15927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5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Biztonságos jelszókezelés, titkosítás</a:t>
            </a:r>
            <a:endParaRPr lang="hu-HU"/>
          </a:p>
          <a:p>
            <a:pPr>
              <a:spcAft>
                <a:spcPts val="5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Biztonságos adatkezelés</a:t>
            </a:r>
            <a:endParaRPr lang="hu-HU">
              <a:solidFill>
                <a:srgbClr val="C2DEFF"/>
              </a:solidFill>
            </a:endParaRPr>
          </a:p>
          <a:p>
            <a:pPr>
              <a:spcAft>
                <a:spcPts val="5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Hibakezelés</a:t>
            </a:r>
          </a:p>
          <a:p>
            <a:pPr>
              <a:spcAft>
                <a:spcPts val="5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Validáció</a:t>
            </a:r>
          </a:p>
        </p:txBody>
      </p:sp>
      <p:sp>
        <p:nvSpPr>
          <p:cNvPr id="15" name="Ellipszis 14">
            <a:extLst>
              <a:ext uri="{FF2B5EF4-FFF2-40B4-BE49-F238E27FC236}">
                <a16:creationId xmlns:a16="http://schemas.microsoft.com/office/drawing/2014/main" id="{B8EF7646-26E2-A0F2-00FD-A174DBEC8211}"/>
              </a:ext>
            </a:extLst>
          </p:cNvPr>
          <p:cNvSpPr/>
          <p:nvPr/>
        </p:nvSpPr>
        <p:spPr>
          <a:xfrm>
            <a:off x="10969152" y="4714601"/>
            <a:ext cx="2454088" cy="2465294"/>
          </a:xfrm>
          <a:prstGeom prst="ellipse">
            <a:avLst/>
          </a:prstGeom>
          <a:solidFill>
            <a:srgbClr val="075DBF"/>
          </a:solidFill>
          <a:ln>
            <a:solidFill>
              <a:srgbClr val="075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Ellipszis 16">
            <a:extLst>
              <a:ext uri="{FF2B5EF4-FFF2-40B4-BE49-F238E27FC236}">
                <a16:creationId xmlns:a16="http://schemas.microsoft.com/office/drawing/2014/main" id="{32CEECBE-E391-3C87-12ED-DC93AA4A50B4}"/>
              </a:ext>
            </a:extLst>
          </p:cNvPr>
          <p:cNvSpPr/>
          <p:nvPr/>
        </p:nvSpPr>
        <p:spPr>
          <a:xfrm>
            <a:off x="10386444" y="5521424"/>
            <a:ext cx="1683124" cy="1766047"/>
          </a:xfrm>
          <a:prstGeom prst="ellipse">
            <a:avLst/>
          </a:prstGeom>
          <a:solidFill>
            <a:srgbClr val="0C7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Ellipszis 18">
            <a:extLst>
              <a:ext uri="{FF2B5EF4-FFF2-40B4-BE49-F238E27FC236}">
                <a16:creationId xmlns:a16="http://schemas.microsoft.com/office/drawing/2014/main" id="{A1FE8BDE-CBDD-5DBE-88E1-1BC128BDBCBD}"/>
              </a:ext>
            </a:extLst>
          </p:cNvPr>
          <p:cNvSpPr/>
          <p:nvPr/>
        </p:nvSpPr>
        <p:spPr>
          <a:xfrm>
            <a:off x="9678233" y="5942767"/>
            <a:ext cx="1423148" cy="1425389"/>
          </a:xfrm>
          <a:prstGeom prst="ellipse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" name="Ellipszis 20">
            <a:extLst>
              <a:ext uri="{FF2B5EF4-FFF2-40B4-BE49-F238E27FC236}">
                <a16:creationId xmlns:a16="http://schemas.microsoft.com/office/drawing/2014/main" id="{1B4BE0AE-3959-0BCF-E97E-4F1584C29BF3}"/>
              </a:ext>
            </a:extLst>
          </p:cNvPr>
          <p:cNvSpPr/>
          <p:nvPr/>
        </p:nvSpPr>
        <p:spPr>
          <a:xfrm>
            <a:off x="8862445" y="6274462"/>
            <a:ext cx="1181101" cy="1174377"/>
          </a:xfrm>
          <a:prstGeom prst="ellipse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99378919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B9EE2-10DE-6B2E-AA04-2C9FBD240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>
            <a:extLst>
              <a:ext uri="{FF2B5EF4-FFF2-40B4-BE49-F238E27FC236}">
                <a16:creationId xmlns:a16="http://schemas.microsoft.com/office/drawing/2014/main" id="{C8438767-5F49-5E03-262A-4B81A2980AA6}"/>
              </a:ext>
            </a:extLst>
          </p:cNvPr>
          <p:cNvSpPr/>
          <p:nvPr/>
        </p:nvSpPr>
        <p:spPr>
          <a:xfrm>
            <a:off x="14526" y="2470"/>
            <a:ext cx="12179040" cy="685977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57150"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F7A8F94A-94CB-D2D1-DAB2-D142A832C49A}"/>
              </a:ext>
            </a:extLst>
          </p:cNvPr>
          <p:cNvSpPr/>
          <p:nvPr/>
        </p:nvSpPr>
        <p:spPr>
          <a:xfrm>
            <a:off x="502791" y="453852"/>
            <a:ext cx="11189731" cy="595485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rgbClr val="FFFFFF"/>
              </a:solidFill>
            </a:endParaRPr>
          </a:p>
        </p:txBody>
      </p:sp>
      <p:sp>
        <p:nvSpPr>
          <p:cNvPr id="7" name="Ellipszis 6">
            <a:extLst>
              <a:ext uri="{FF2B5EF4-FFF2-40B4-BE49-F238E27FC236}">
                <a16:creationId xmlns:a16="http://schemas.microsoft.com/office/drawing/2014/main" id="{FF0CF275-4DD9-3079-61A6-3F569E8F556E}"/>
              </a:ext>
            </a:extLst>
          </p:cNvPr>
          <p:cNvSpPr/>
          <p:nvPr/>
        </p:nvSpPr>
        <p:spPr>
          <a:xfrm>
            <a:off x="-1204920" y="-341493"/>
            <a:ext cx="2454088" cy="2465294"/>
          </a:xfrm>
          <a:prstGeom prst="ellipse">
            <a:avLst/>
          </a:prstGeom>
          <a:solidFill>
            <a:srgbClr val="075DBF"/>
          </a:solidFill>
          <a:ln>
            <a:solidFill>
              <a:srgbClr val="075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Ellipszis 8">
            <a:extLst>
              <a:ext uri="{FF2B5EF4-FFF2-40B4-BE49-F238E27FC236}">
                <a16:creationId xmlns:a16="http://schemas.microsoft.com/office/drawing/2014/main" id="{1887EB8B-3DB8-4873-C96F-E8D4E060F841}"/>
              </a:ext>
            </a:extLst>
          </p:cNvPr>
          <p:cNvSpPr/>
          <p:nvPr/>
        </p:nvSpPr>
        <p:spPr>
          <a:xfrm>
            <a:off x="238398" y="-583540"/>
            <a:ext cx="1683124" cy="1766047"/>
          </a:xfrm>
          <a:prstGeom prst="ellipse">
            <a:avLst/>
          </a:prstGeom>
          <a:solidFill>
            <a:srgbClr val="0C7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Ellipszis 10">
            <a:extLst>
              <a:ext uri="{FF2B5EF4-FFF2-40B4-BE49-F238E27FC236}">
                <a16:creationId xmlns:a16="http://schemas.microsoft.com/office/drawing/2014/main" id="{04743F8E-B3F1-C716-E933-AFCE82887115}"/>
              </a:ext>
            </a:extLst>
          </p:cNvPr>
          <p:cNvSpPr/>
          <p:nvPr/>
        </p:nvSpPr>
        <p:spPr>
          <a:xfrm>
            <a:off x="1457598" y="-709045"/>
            <a:ext cx="1423148" cy="1425389"/>
          </a:xfrm>
          <a:prstGeom prst="ellipse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Ellipszis 12">
            <a:extLst>
              <a:ext uri="{FF2B5EF4-FFF2-40B4-BE49-F238E27FC236}">
                <a16:creationId xmlns:a16="http://schemas.microsoft.com/office/drawing/2014/main" id="{7C39CEE9-A125-0507-90DD-55329F9F1BC9}"/>
              </a:ext>
            </a:extLst>
          </p:cNvPr>
          <p:cNvSpPr/>
          <p:nvPr/>
        </p:nvSpPr>
        <p:spPr>
          <a:xfrm>
            <a:off x="2461645" y="-583539"/>
            <a:ext cx="1181101" cy="1174377"/>
          </a:xfrm>
          <a:prstGeom prst="ellipse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Ellipszis 14">
            <a:extLst>
              <a:ext uri="{FF2B5EF4-FFF2-40B4-BE49-F238E27FC236}">
                <a16:creationId xmlns:a16="http://schemas.microsoft.com/office/drawing/2014/main" id="{16A5BE6A-4E7D-43DC-687A-1BE3053C6919}"/>
              </a:ext>
            </a:extLst>
          </p:cNvPr>
          <p:cNvSpPr/>
          <p:nvPr/>
        </p:nvSpPr>
        <p:spPr>
          <a:xfrm>
            <a:off x="10969152" y="4714601"/>
            <a:ext cx="2454088" cy="2465294"/>
          </a:xfrm>
          <a:prstGeom prst="ellipse">
            <a:avLst/>
          </a:prstGeom>
          <a:solidFill>
            <a:srgbClr val="075DBF"/>
          </a:solidFill>
          <a:ln>
            <a:solidFill>
              <a:srgbClr val="075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Ellipszis 16">
            <a:extLst>
              <a:ext uri="{FF2B5EF4-FFF2-40B4-BE49-F238E27FC236}">
                <a16:creationId xmlns:a16="http://schemas.microsoft.com/office/drawing/2014/main" id="{25292108-D4AC-DF13-83D8-BAF7DCDDE0FB}"/>
              </a:ext>
            </a:extLst>
          </p:cNvPr>
          <p:cNvSpPr/>
          <p:nvPr/>
        </p:nvSpPr>
        <p:spPr>
          <a:xfrm>
            <a:off x="10386444" y="5521424"/>
            <a:ext cx="1683124" cy="1766047"/>
          </a:xfrm>
          <a:prstGeom prst="ellipse">
            <a:avLst/>
          </a:prstGeom>
          <a:solidFill>
            <a:srgbClr val="0C7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Ellipszis 18">
            <a:extLst>
              <a:ext uri="{FF2B5EF4-FFF2-40B4-BE49-F238E27FC236}">
                <a16:creationId xmlns:a16="http://schemas.microsoft.com/office/drawing/2014/main" id="{51E79A80-4235-C168-A821-DBE83F0991F6}"/>
              </a:ext>
            </a:extLst>
          </p:cNvPr>
          <p:cNvSpPr/>
          <p:nvPr/>
        </p:nvSpPr>
        <p:spPr>
          <a:xfrm>
            <a:off x="9678233" y="5942767"/>
            <a:ext cx="1423148" cy="1425389"/>
          </a:xfrm>
          <a:prstGeom prst="ellipse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" name="Ellipszis 20">
            <a:extLst>
              <a:ext uri="{FF2B5EF4-FFF2-40B4-BE49-F238E27FC236}">
                <a16:creationId xmlns:a16="http://schemas.microsoft.com/office/drawing/2014/main" id="{DFD6783F-439B-380E-E99D-0AB21165912D}"/>
              </a:ext>
            </a:extLst>
          </p:cNvPr>
          <p:cNvSpPr/>
          <p:nvPr/>
        </p:nvSpPr>
        <p:spPr>
          <a:xfrm>
            <a:off x="8862445" y="6274462"/>
            <a:ext cx="1181101" cy="1174377"/>
          </a:xfrm>
          <a:prstGeom prst="ellipse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01B2B563-B6EC-50A6-1E0F-03911FAD2CA3}"/>
              </a:ext>
            </a:extLst>
          </p:cNvPr>
          <p:cNvSpPr txBox="1">
            <a:spLocks/>
          </p:cNvSpPr>
          <p:nvPr/>
        </p:nvSpPr>
        <p:spPr>
          <a:xfrm>
            <a:off x="5304" y="719020"/>
            <a:ext cx="12183034" cy="813981"/>
          </a:xfrm>
          <a:prstGeom prst="rect">
            <a:avLst/>
          </a:prstGeom>
        </p:spPr>
        <p:txBody>
          <a:bodyPr lIns="91440" tIns="45720" rIns="91440" bIns="4572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4800" b="1">
                <a:solidFill>
                  <a:schemeClr val="bg1"/>
                </a:solidFill>
                <a:latin typeface="Segoe UI"/>
                <a:cs typeface="Segoe UI"/>
              </a:rPr>
              <a:t>Demo</a:t>
            </a:r>
            <a:endParaRPr lang="hu-HU"/>
          </a:p>
        </p:txBody>
      </p:sp>
      <p:sp>
        <p:nvSpPr>
          <p:cNvPr id="20" name="Téglalap 19">
            <a:extLst>
              <a:ext uri="{FF2B5EF4-FFF2-40B4-BE49-F238E27FC236}">
                <a16:creationId xmlns:a16="http://schemas.microsoft.com/office/drawing/2014/main" id="{CC4A9E0F-A2F0-F426-5402-8BF35FAF956E}"/>
              </a:ext>
            </a:extLst>
          </p:cNvPr>
          <p:cNvSpPr/>
          <p:nvPr/>
        </p:nvSpPr>
        <p:spPr>
          <a:xfrm>
            <a:off x="3079929" y="1680713"/>
            <a:ext cx="2646684" cy="2015932"/>
          </a:xfrm>
          <a:prstGeom prst="rect">
            <a:avLst/>
          </a:prstGeom>
          <a:solidFill>
            <a:srgbClr val="05366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Téglalap 13">
            <a:extLst>
              <a:ext uri="{FF2B5EF4-FFF2-40B4-BE49-F238E27FC236}">
                <a16:creationId xmlns:a16="http://schemas.microsoft.com/office/drawing/2014/main" id="{0A1A3408-9157-21F9-5DDA-5338B0FF296A}"/>
              </a:ext>
            </a:extLst>
          </p:cNvPr>
          <p:cNvSpPr/>
          <p:nvPr/>
        </p:nvSpPr>
        <p:spPr>
          <a:xfrm>
            <a:off x="2938162" y="1538946"/>
            <a:ext cx="2646684" cy="2015932"/>
          </a:xfrm>
          <a:prstGeom prst="rect">
            <a:avLst/>
          </a:prstGeom>
          <a:solidFill>
            <a:srgbClr val="075DB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" name="Szövegdoboz 25">
            <a:extLst>
              <a:ext uri="{FF2B5EF4-FFF2-40B4-BE49-F238E27FC236}">
                <a16:creationId xmlns:a16="http://schemas.microsoft.com/office/drawing/2014/main" id="{BF02856E-58DE-6FFF-8567-73647EB94A91}"/>
              </a:ext>
            </a:extLst>
          </p:cNvPr>
          <p:cNvSpPr txBox="1"/>
          <p:nvPr/>
        </p:nvSpPr>
        <p:spPr>
          <a:xfrm>
            <a:off x="2975513" y="2479605"/>
            <a:ext cx="261532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Bejelentkezés</a:t>
            </a:r>
          </a:p>
          <a:p>
            <a:pPr algn="ctr"/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Beállítások</a:t>
            </a:r>
          </a:p>
        </p:txBody>
      </p:sp>
      <p:sp>
        <p:nvSpPr>
          <p:cNvPr id="39" name="Téglalap 38">
            <a:extLst>
              <a:ext uri="{FF2B5EF4-FFF2-40B4-BE49-F238E27FC236}">
                <a16:creationId xmlns:a16="http://schemas.microsoft.com/office/drawing/2014/main" id="{C9FFCB35-6B48-F881-057B-226E7F294B1D}"/>
              </a:ext>
            </a:extLst>
          </p:cNvPr>
          <p:cNvSpPr/>
          <p:nvPr/>
        </p:nvSpPr>
        <p:spPr>
          <a:xfrm>
            <a:off x="3097650" y="4135061"/>
            <a:ext cx="2646684" cy="2015932"/>
          </a:xfrm>
          <a:prstGeom prst="rect">
            <a:avLst/>
          </a:prstGeom>
          <a:solidFill>
            <a:srgbClr val="05366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0" name="Téglalap 39">
            <a:extLst>
              <a:ext uri="{FF2B5EF4-FFF2-40B4-BE49-F238E27FC236}">
                <a16:creationId xmlns:a16="http://schemas.microsoft.com/office/drawing/2014/main" id="{3DEE33D1-8D47-2EC5-A44A-5AB56CB91200}"/>
              </a:ext>
            </a:extLst>
          </p:cNvPr>
          <p:cNvSpPr/>
          <p:nvPr/>
        </p:nvSpPr>
        <p:spPr>
          <a:xfrm>
            <a:off x="2955883" y="3993294"/>
            <a:ext cx="2646684" cy="2015932"/>
          </a:xfrm>
          <a:prstGeom prst="rect">
            <a:avLst/>
          </a:prstGeom>
          <a:solidFill>
            <a:srgbClr val="075DB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2" name="Szövegdoboz 41">
            <a:extLst>
              <a:ext uri="{FF2B5EF4-FFF2-40B4-BE49-F238E27FC236}">
                <a16:creationId xmlns:a16="http://schemas.microsoft.com/office/drawing/2014/main" id="{1A38E8CE-E31D-C504-4D76-3C8A60EAFF26}"/>
              </a:ext>
            </a:extLst>
          </p:cNvPr>
          <p:cNvSpPr txBox="1"/>
          <p:nvPr/>
        </p:nvSpPr>
        <p:spPr>
          <a:xfrm>
            <a:off x="3007338" y="4645676"/>
            <a:ext cx="2551683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Limit módosítása</a:t>
            </a:r>
            <a:endParaRPr lang="hu-HU">
              <a:solidFill>
                <a:srgbClr val="C2DEFF"/>
              </a:solidFill>
            </a:endParaRPr>
          </a:p>
          <a:p>
            <a:pPr algn="ctr"/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Út, tankolás, benzinkút létrehozása</a:t>
            </a:r>
          </a:p>
        </p:txBody>
      </p:sp>
      <p:sp>
        <p:nvSpPr>
          <p:cNvPr id="43" name="Téglalap 42">
            <a:extLst>
              <a:ext uri="{FF2B5EF4-FFF2-40B4-BE49-F238E27FC236}">
                <a16:creationId xmlns:a16="http://schemas.microsoft.com/office/drawing/2014/main" id="{35BE214D-E06B-3B2A-20D0-D57708B04C3E}"/>
              </a:ext>
            </a:extLst>
          </p:cNvPr>
          <p:cNvSpPr/>
          <p:nvPr/>
        </p:nvSpPr>
        <p:spPr>
          <a:xfrm>
            <a:off x="6730440" y="1716154"/>
            <a:ext cx="2646684" cy="2015932"/>
          </a:xfrm>
          <a:prstGeom prst="rect">
            <a:avLst/>
          </a:prstGeom>
          <a:solidFill>
            <a:srgbClr val="05366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4" name="Téglalap 43">
            <a:extLst>
              <a:ext uri="{FF2B5EF4-FFF2-40B4-BE49-F238E27FC236}">
                <a16:creationId xmlns:a16="http://schemas.microsoft.com/office/drawing/2014/main" id="{140BFD17-8779-B974-080D-DE875036712A}"/>
              </a:ext>
            </a:extLst>
          </p:cNvPr>
          <p:cNvSpPr/>
          <p:nvPr/>
        </p:nvSpPr>
        <p:spPr>
          <a:xfrm>
            <a:off x="6588673" y="1574387"/>
            <a:ext cx="2646684" cy="2015932"/>
          </a:xfrm>
          <a:prstGeom prst="rect">
            <a:avLst/>
          </a:prstGeom>
          <a:solidFill>
            <a:srgbClr val="075DB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6" name="Szövegdoboz 45">
            <a:extLst>
              <a:ext uri="{FF2B5EF4-FFF2-40B4-BE49-F238E27FC236}">
                <a16:creationId xmlns:a16="http://schemas.microsoft.com/office/drawing/2014/main" id="{6FC7E535-297F-B64B-822B-B7053792C214}"/>
              </a:ext>
            </a:extLst>
          </p:cNvPr>
          <p:cNvSpPr txBox="1"/>
          <p:nvPr/>
        </p:nvSpPr>
        <p:spPr>
          <a:xfrm>
            <a:off x="6632637" y="2473289"/>
            <a:ext cx="2589497" cy="7293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Autó létrehozása</a:t>
            </a:r>
            <a:endParaRPr lang="hu-HU">
              <a:solidFill>
                <a:srgbClr val="C2DEFF"/>
              </a:solidFill>
            </a:endParaRPr>
          </a:p>
          <a:p>
            <a:pPr algn="ctr"/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Autó módosítása</a:t>
            </a:r>
          </a:p>
        </p:txBody>
      </p:sp>
      <p:sp>
        <p:nvSpPr>
          <p:cNvPr id="47" name="Téglalap 46">
            <a:extLst>
              <a:ext uri="{FF2B5EF4-FFF2-40B4-BE49-F238E27FC236}">
                <a16:creationId xmlns:a16="http://schemas.microsoft.com/office/drawing/2014/main" id="{1D3A302A-FFEB-E16A-D85A-1255DD40F36F}"/>
              </a:ext>
            </a:extLst>
          </p:cNvPr>
          <p:cNvSpPr/>
          <p:nvPr/>
        </p:nvSpPr>
        <p:spPr>
          <a:xfrm>
            <a:off x="6765882" y="4090759"/>
            <a:ext cx="2646684" cy="2015932"/>
          </a:xfrm>
          <a:prstGeom prst="rect">
            <a:avLst/>
          </a:prstGeom>
          <a:solidFill>
            <a:srgbClr val="05366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8" name="Téglalap 47">
            <a:extLst>
              <a:ext uri="{FF2B5EF4-FFF2-40B4-BE49-F238E27FC236}">
                <a16:creationId xmlns:a16="http://schemas.microsoft.com/office/drawing/2014/main" id="{9C7125F0-74AE-0055-6F13-59A2CDEADB8A}"/>
              </a:ext>
            </a:extLst>
          </p:cNvPr>
          <p:cNvSpPr/>
          <p:nvPr/>
        </p:nvSpPr>
        <p:spPr>
          <a:xfrm>
            <a:off x="6624115" y="3948992"/>
            <a:ext cx="2646684" cy="2015932"/>
          </a:xfrm>
          <a:prstGeom prst="rect">
            <a:avLst/>
          </a:prstGeom>
          <a:solidFill>
            <a:srgbClr val="075DB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0" name="Szövegdoboz 49">
            <a:extLst>
              <a:ext uri="{FF2B5EF4-FFF2-40B4-BE49-F238E27FC236}">
                <a16:creationId xmlns:a16="http://schemas.microsoft.com/office/drawing/2014/main" id="{5FC5ED56-2911-CB2E-24A4-DDAE5C14B8EF}"/>
              </a:ext>
            </a:extLst>
          </p:cNvPr>
          <p:cNvSpPr txBox="1"/>
          <p:nvPr/>
        </p:nvSpPr>
        <p:spPr>
          <a:xfrm>
            <a:off x="6652356" y="4745622"/>
            <a:ext cx="260496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Út, tankolás, benzinkút műveletek</a:t>
            </a:r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 </a:t>
            </a:r>
            <a:endParaRPr lang="hu-HU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8ACB2D69-5994-B559-18E4-86F0A628E2D7}"/>
              </a:ext>
            </a:extLst>
          </p:cNvPr>
          <p:cNvSpPr txBox="1"/>
          <p:nvPr/>
        </p:nvSpPr>
        <p:spPr>
          <a:xfrm>
            <a:off x="405653" y="6470276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b="1">
                <a:solidFill>
                  <a:srgbClr val="FFFFFF"/>
                </a:solidFill>
                <a:latin typeface="Segoe UI"/>
                <a:cs typeface="Segoe UI"/>
              </a:rPr>
              <a:t>10/12</a:t>
            </a:r>
            <a:endParaRPr lang="hu-HU"/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784E0EB2-1BC8-0F6E-00E4-44698AA0633A}"/>
              </a:ext>
            </a:extLst>
          </p:cNvPr>
          <p:cNvSpPr/>
          <p:nvPr/>
        </p:nvSpPr>
        <p:spPr>
          <a:xfrm>
            <a:off x="2938162" y="1538946"/>
            <a:ext cx="2646684" cy="599256"/>
          </a:xfrm>
          <a:prstGeom prst="rect">
            <a:avLst/>
          </a:prstGeom>
          <a:solidFill>
            <a:srgbClr val="94C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93F76452-EF87-C008-89B2-166C6F20670A}"/>
              </a:ext>
            </a:extLst>
          </p:cNvPr>
          <p:cNvSpPr/>
          <p:nvPr/>
        </p:nvSpPr>
        <p:spPr>
          <a:xfrm>
            <a:off x="2938162" y="1538946"/>
            <a:ext cx="704121" cy="59925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21DE7BB2-8972-B9F2-C0C9-201E36DD951A}"/>
              </a:ext>
            </a:extLst>
          </p:cNvPr>
          <p:cNvSpPr txBox="1"/>
          <p:nvPr/>
        </p:nvSpPr>
        <p:spPr>
          <a:xfrm>
            <a:off x="2943065" y="1541142"/>
            <a:ext cx="72592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3200" b="1">
                <a:solidFill>
                  <a:schemeClr val="bg1"/>
                </a:solidFill>
                <a:latin typeface="Segoe UI"/>
                <a:cs typeface="Segoe UI"/>
              </a:rPr>
              <a:t>01</a:t>
            </a:r>
            <a:endParaRPr lang="hu-HU" sz="3200">
              <a:solidFill>
                <a:schemeClr val="bg1"/>
              </a:solidFill>
            </a:endParaRPr>
          </a:p>
        </p:txBody>
      </p:sp>
      <p:sp>
        <p:nvSpPr>
          <p:cNvPr id="16" name="Téglalap 15">
            <a:extLst>
              <a:ext uri="{FF2B5EF4-FFF2-40B4-BE49-F238E27FC236}">
                <a16:creationId xmlns:a16="http://schemas.microsoft.com/office/drawing/2014/main" id="{F9C89AEE-CAC9-93D0-7DE0-4FB4E860ECC5}"/>
              </a:ext>
            </a:extLst>
          </p:cNvPr>
          <p:cNvSpPr/>
          <p:nvPr/>
        </p:nvSpPr>
        <p:spPr>
          <a:xfrm>
            <a:off x="6587176" y="1571144"/>
            <a:ext cx="2646684" cy="599256"/>
          </a:xfrm>
          <a:prstGeom prst="rect">
            <a:avLst/>
          </a:prstGeom>
          <a:solidFill>
            <a:srgbClr val="94C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" name="Téglalap 21">
            <a:extLst>
              <a:ext uri="{FF2B5EF4-FFF2-40B4-BE49-F238E27FC236}">
                <a16:creationId xmlns:a16="http://schemas.microsoft.com/office/drawing/2014/main" id="{D2871839-0E83-A151-8E9E-E81B73E9ABE3}"/>
              </a:ext>
            </a:extLst>
          </p:cNvPr>
          <p:cNvSpPr/>
          <p:nvPr/>
        </p:nvSpPr>
        <p:spPr>
          <a:xfrm>
            <a:off x="6587176" y="1571144"/>
            <a:ext cx="704121" cy="59925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5" name="Szövegdoboz 44">
            <a:extLst>
              <a:ext uri="{FF2B5EF4-FFF2-40B4-BE49-F238E27FC236}">
                <a16:creationId xmlns:a16="http://schemas.microsoft.com/office/drawing/2014/main" id="{6D4C4213-CA2C-3E96-2D37-BB091BAD2EE8}"/>
              </a:ext>
            </a:extLst>
          </p:cNvPr>
          <p:cNvSpPr txBox="1"/>
          <p:nvPr/>
        </p:nvSpPr>
        <p:spPr>
          <a:xfrm>
            <a:off x="6593576" y="1576583"/>
            <a:ext cx="72592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3200" b="1">
                <a:solidFill>
                  <a:schemeClr val="bg1"/>
                </a:solidFill>
                <a:latin typeface="Segoe UI"/>
                <a:cs typeface="Segoe UI"/>
              </a:rPr>
              <a:t>02</a:t>
            </a:r>
            <a:endParaRPr lang="hu-HU" sz="3200">
              <a:solidFill>
                <a:schemeClr val="bg1"/>
              </a:solidFill>
            </a:endParaRPr>
          </a:p>
        </p:txBody>
      </p:sp>
      <p:sp>
        <p:nvSpPr>
          <p:cNvPr id="23" name="Téglalap 22">
            <a:extLst>
              <a:ext uri="{FF2B5EF4-FFF2-40B4-BE49-F238E27FC236}">
                <a16:creationId xmlns:a16="http://schemas.microsoft.com/office/drawing/2014/main" id="{3EEA64F8-A281-34A6-CD08-24DDC1225A10}"/>
              </a:ext>
            </a:extLst>
          </p:cNvPr>
          <p:cNvSpPr/>
          <p:nvPr/>
        </p:nvSpPr>
        <p:spPr>
          <a:xfrm>
            <a:off x="2959626" y="3996665"/>
            <a:ext cx="2646684" cy="599256"/>
          </a:xfrm>
          <a:prstGeom prst="rect">
            <a:avLst/>
          </a:prstGeom>
          <a:solidFill>
            <a:srgbClr val="94C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" name="Téglalap 23">
            <a:extLst>
              <a:ext uri="{FF2B5EF4-FFF2-40B4-BE49-F238E27FC236}">
                <a16:creationId xmlns:a16="http://schemas.microsoft.com/office/drawing/2014/main" id="{02C97233-6CD8-944F-1411-19A8CA2BE256}"/>
              </a:ext>
            </a:extLst>
          </p:cNvPr>
          <p:cNvSpPr/>
          <p:nvPr/>
        </p:nvSpPr>
        <p:spPr>
          <a:xfrm>
            <a:off x="2959626" y="3996665"/>
            <a:ext cx="704121" cy="59925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1" name="Szövegdoboz 40">
            <a:extLst>
              <a:ext uri="{FF2B5EF4-FFF2-40B4-BE49-F238E27FC236}">
                <a16:creationId xmlns:a16="http://schemas.microsoft.com/office/drawing/2014/main" id="{44914E3F-4BA4-BF42-CFFE-2AAB59964E05}"/>
              </a:ext>
            </a:extLst>
          </p:cNvPr>
          <p:cNvSpPr txBox="1"/>
          <p:nvPr/>
        </p:nvSpPr>
        <p:spPr>
          <a:xfrm>
            <a:off x="2960785" y="3995490"/>
            <a:ext cx="72592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3200" b="1">
                <a:solidFill>
                  <a:schemeClr val="bg1"/>
                </a:solidFill>
                <a:latin typeface="Segoe UI"/>
                <a:cs typeface="Segoe UI"/>
              </a:rPr>
              <a:t>03</a:t>
            </a:r>
            <a:endParaRPr lang="hu-HU" sz="3200">
              <a:solidFill>
                <a:schemeClr val="bg1"/>
              </a:solidFill>
            </a:endParaRPr>
          </a:p>
        </p:txBody>
      </p:sp>
      <p:sp>
        <p:nvSpPr>
          <p:cNvPr id="25" name="Téglalap 24">
            <a:extLst>
              <a:ext uri="{FF2B5EF4-FFF2-40B4-BE49-F238E27FC236}">
                <a16:creationId xmlns:a16="http://schemas.microsoft.com/office/drawing/2014/main" id="{29D0FF67-D5C5-0240-48F9-11889E96E4E0}"/>
              </a:ext>
            </a:extLst>
          </p:cNvPr>
          <p:cNvSpPr/>
          <p:nvPr/>
        </p:nvSpPr>
        <p:spPr>
          <a:xfrm>
            <a:off x="6630105" y="3943002"/>
            <a:ext cx="2646684" cy="599256"/>
          </a:xfrm>
          <a:prstGeom prst="rect">
            <a:avLst/>
          </a:prstGeom>
          <a:solidFill>
            <a:srgbClr val="94C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" name="Téglalap 26">
            <a:extLst>
              <a:ext uri="{FF2B5EF4-FFF2-40B4-BE49-F238E27FC236}">
                <a16:creationId xmlns:a16="http://schemas.microsoft.com/office/drawing/2014/main" id="{91359334-14FF-7D0C-8975-C510BBA87BCD}"/>
              </a:ext>
            </a:extLst>
          </p:cNvPr>
          <p:cNvSpPr/>
          <p:nvPr/>
        </p:nvSpPr>
        <p:spPr>
          <a:xfrm>
            <a:off x="6630105" y="3943002"/>
            <a:ext cx="704121" cy="59925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9" name="Szövegdoboz 48">
            <a:extLst>
              <a:ext uri="{FF2B5EF4-FFF2-40B4-BE49-F238E27FC236}">
                <a16:creationId xmlns:a16="http://schemas.microsoft.com/office/drawing/2014/main" id="{D48415E8-72F6-E735-0D68-4AF601BA9B6F}"/>
              </a:ext>
            </a:extLst>
          </p:cNvPr>
          <p:cNvSpPr txBox="1"/>
          <p:nvPr/>
        </p:nvSpPr>
        <p:spPr>
          <a:xfrm>
            <a:off x="6629018" y="3951188"/>
            <a:ext cx="72592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3200" b="1">
                <a:solidFill>
                  <a:schemeClr val="bg1"/>
                </a:solidFill>
                <a:latin typeface="Segoe UI"/>
                <a:cs typeface="Segoe UI"/>
              </a:rPr>
              <a:t>04</a:t>
            </a:r>
            <a:endParaRPr lang="hu-HU" sz="3200">
              <a:solidFill>
                <a:schemeClr val="bg1"/>
              </a:solidFill>
            </a:endParaRPr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2E19CDC7-CD36-0C90-754D-BB6C18A99E61}"/>
              </a:ext>
            </a:extLst>
          </p:cNvPr>
          <p:cNvSpPr txBox="1"/>
          <p:nvPr/>
        </p:nvSpPr>
        <p:spPr>
          <a:xfrm>
            <a:off x="3640922" y="1610279"/>
            <a:ext cx="191772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400" b="1">
                <a:latin typeface="Segoe UI"/>
                <a:cs typeface="Segoe UI"/>
              </a:rPr>
              <a:t>Profil</a:t>
            </a:r>
          </a:p>
        </p:txBody>
      </p:sp>
      <p:sp>
        <p:nvSpPr>
          <p:cNvPr id="29" name="Szövegdoboz 28">
            <a:extLst>
              <a:ext uri="{FF2B5EF4-FFF2-40B4-BE49-F238E27FC236}">
                <a16:creationId xmlns:a16="http://schemas.microsoft.com/office/drawing/2014/main" id="{91A49A52-76A3-DE1E-40EB-8D691AA4D585}"/>
              </a:ext>
            </a:extLst>
          </p:cNvPr>
          <p:cNvSpPr txBox="1"/>
          <p:nvPr/>
        </p:nvSpPr>
        <p:spPr>
          <a:xfrm>
            <a:off x="7300668" y="1642476"/>
            <a:ext cx="191772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400" b="1">
                <a:latin typeface="Segoe UI"/>
                <a:cs typeface="Segoe UI"/>
              </a:rPr>
              <a:t>Garázs</a:t>
            </a:r>
          </a:p>
        </p:txBody>
      </p:sp>
      <p:sp>
        <p:nvSpPr>
          <p:cNvPr id="30" name="Szövegdoboz 29">
            <a:extLst>
              <a:ext uri="{FF2B5EF4-FFF2-40B4-BE49-F238E27FC236}">
                <a16:creationId xmlns:a16="http://schemas.microsoft.com/office/drawing/2014/main" id="{FFDE3AC3-9571-52B1-BF52-4DF9E4ECEA72}"/>
              </a:ext>
            </a:extLst>
          </p:cNvPr>
          <p:cNvSpPr txBox="1"/>
          <p:nvPr/>
        </p:nvSpPr>
        <p:spPr>
          <a:xfrm>
            <a:off x="3673118" y="4078729"/>
            <a:ext cx="191772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400" b="1">
                <a:latin typeface="Segoe UI"/>
                <a:cs typeface="Segoe UI"/>
              </a:rPr>
              <a:t>Műszerfal</a:t>
            </a:r>
          </a:p>
        </p:txBody>
      </p:sp>
      <p:sp>
        <p:nvSpPr>
          <p:cNvPr id="31" name="Szövegdoboz 30">
            <a:extLst>
              <a:ext uri="{FF2B5EF4-FFF2-40B4-BE49-F238E27FC236}">
                <a16:creationId xmlns:a16="http://schemas.microsoft.com/office/drawing/2014/main" id="{5CFC15B1-51A4-37FA-1BF1-707AF1F49D11}"/>
              </a:ext>
            </a:extLst>
          </p:cNvPr>
          <p:cNvSpPr txBox="1"/>
          <p:nvPr/>
        </p:nvSpPr>
        <p:spPr>
          <a:xfrm>
            <a:off x="7343597" y="4025066"/>
            <a:ext cx="191772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400" b="1">
                <a:latin typeface="Segoe UI"/>
                <a:cs typeface="Segoe UI"/>
              </a:rPr>
              <a:t>Adatok</a:t>
            </a:r>
          </a:p>
        </p:txBody>
      </p:sp>
    </p:spTree>
    <p:extLst>
      <p:ext uri="{BB962C8B-B14F-4D97-AF65-F5344CB8AC3E}">
        <p14:creationId xmlns:p14="http://schemas.microsoft.com/office/powerpoint/2010/main" val="1002151484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107A6-CB10-B5CB-91E2-0F973590C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>
            <a:extLst>
              <a:ext uri="{FF2B5EF4-FFF2-40B4-BE49-F238E27FC236}">
                <a16:creationId xmlns:a16="http://schemas.microsoft.com/office/drawing/2014/main" id="{686D3650-27CC-CEEE-4AE7-35B5482E625A}"/>
              </a:ext>
            </a:extLst>
          </p:cNvPr>
          <p:cNvSpPr/>
          <p:nvPr/>
        </p:nvSpPr>
        <p:spPr>
          <a:xfrm>
            <a:off x="14526" y="2470"/>
            <a:ext cx="12179040" cy="685977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57150"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0184061E-395C-BA3D-D3B5-9DCED3B0B16A}"/>
              </a:ext>
            </a:extLst>
          </p:cNvPr>
          <p:cNvSpPr/>
          <p:nvPr/>
        </p:nvSpPr>
        <p:spPr>
          <a:xfrm>
            <a:off x="502791" y="453852"/>
            <a:ext cx="11189731" cy="595485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rgbClr val="FFFFFF"/>
              </a:solidFill>
            </a:endParaRPr>
          </a:p>
        </p:txBody>
      </p:sp>
      <p:sp>
        <p:nvSpPr>
          <p:cNvPr id="7" name="Ellipszis 6">
            <a:extLst>
              <a:ext uri="{FF2B5EF4-FFF2-40B4-BE49-F238E27FC236}">
                <a16:creationId xmlns:a16="http://schemas.microsoft.com/office/drawing/2014/main" id="{7596BBC6-C8C1-D0CF-1C8C-528E003173D0}"/>
              </a:ext>
            </a:extLst>
          </p:cNvPr>
          <p:cNvSpPr/>
          <p:nvPr/>
        </p:nvSpPr>
        <p:spPr>
          <a:xfrm>
            <a:off x="-1204920" y="-341493"/>
            <a:ext cx="2454088" cy="2465294"/>
          </a:xfrm>
          <a:prstGeom prst="ellipse">
            <a:avLst/>
          </a:prstGeom>
          <a:solidFill>
            <a:srgbClr val="075DBF"/>
          </a:solidFill>
          <a:ln>
            <a:solidFill>
              <a:srgbClr val="075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Ellipszis 8">
            <a:extLst>
              <a:ext uri="{FF2B5EF4-FFF2-40B4-BE49-F238E27FC236}">
                <a16:creationId xmlns:a16="http://schemas.microsoft.com/office/drawing/2014/main" id="{D5720002-C4BC-BAE2-07B8-D7237E4252C2}"/>
              </a:ext>
            </a:extLst>
          </p:cNvPr>
          <p:cNvSpPr/>
          <p:nvPr/>
        </p:nvSpPr>
        <p:spPr>
          <a:xfrm>
            <a:off x="238398" y="-583540"/>
            <a:ext cx="1683124" cy="1766047"/>
          </a:xfrm>
          <a:prstGeom prst="ellipse">
            <a:avLst/>
          </a:prstGeom>
          <a:solidFill>
            <a:srgbClr val="0C7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Ellipszis 10">
            <a:extLst>
              <a:ext uri="{FF2B5EF4-FFF2-40B4-BE49-F238E27FC236}">
                <a16:creationId xmlns:a16="http://schemas.microsoft.com/office/drawing/2014/main" id="{72F712D9-2C71-A158-115E-D244DC9516C1}"/>
              </a:ext>
            </a:extLst>
          </p:cNvPr>
          <p:cNvSpPr/>
          <p:nvPr/>
        </p:nvSpPr>
        <p:spPr>
          <a:xfrm>
            <a:off x="1457598" y="-709045"/>
            <a:ext cx="1423148" cy="1425389"/>
          </a:xfrm>
          <a:prstGeom prst="ellipse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Ellipszis 12">
            <a:extLst>
              <a:ext uri="{FF2B5EF4-FFF2-40B4-BE49-F238E27FC236}">
                <a16:creationId xmlns:a16="http://schemas.microsoft.com/office/drawing/2014/main" id="{BE40F734-9CC1-CCF5-02D7-1EBAA321ABF6}"/>
              </a:ext>
            </a:extLst>
          </p:cNvPr>
          <p:cNvSpPr/>
          <p:nvPr/>
        </p:nvSpPr>
        <p:spPr>
          <a:xfrm>
            <a:off x="2461645" y="-583539"/>
            <a:ext cx="1181101" cy="1174377"/>
          </a:xfrm>
          <a:prstGeom prst="ellipse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Ellipszis 14">
            <a:extLst>
              <a:ext uri="{FF2B5EF4-FFF2-40B4-BE49-F238E27FC236}">
                <a16:creationId xmlns:a16="http://schemas.microsoft.com/office/drawing/2014/main" id="{F5812FAA-125B-9C44-6BC9-09F7E72F1063}"/>
              </a:ext>
            </a:extLst>
          </p:cNvPr>
          <p:cNvSpPr/>
          <p:nvPr/>
        </p:nvSpPr>
        <p:spPr>
          <a:xfrm>
            <a:off x="10969152" y="4714601"/>
            <a:ext cx="2454088" cy="2465294"/>
          </a:xfrm>
          <a:prstGeom prst="ellipse">
            <a:avLst/>
          </a:prstGeom>
          <a:solidFill>
            <a:srgbClr val="075DBF"/>
          </a:solidFill>
          <a:ln>
            <a:solidFill>
              <a:srgbClr val="075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Ellipszis 16">
            <a:extLst>
              <a:ext uri="{FF2B5EF4-FFF2-40B4-BE49-F238E27FC236}">
                <a16:creationId xmlns:a16="http://schemas.microsoft.com/office/drawing/2014/main" id="{24804D2D-B0EF-2232-D156-03E9D2A23CF0}"/>
              </a:ext>
            </a:extLst>
          </p:cNvPr>
          <p:cNvSpPr/>
          <p:nvPr/>
        </p:nvSpPr>
        <p:spPr>
          <a:xfrm>
            <a:off x="10386444" y="5521424"/>
            <a:ext cx="1683124" cy="1766047"/>
          </a:xfrm>
          <a:prstGeom prst="ellipse">
            <a:avLst/>
          </a:prstGeom>
          <a:solidFill>
            <a:srgbClr val="0C7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Ellipszis 18">
            <a:extLst>
              <a:ext uri="{FF2B5EF4-FFF2-40B4-BE49-F238E27FC236}">
                <a16:creationId xmlns:a16="http://schemas.microsoft.com/office/drawing/2014/main" id="{189AC844-2873-7399-5BBA-3334B7CBFBD5}"/>
              </a:ext>
            </a:extLst>
          </p:cNvPr>
          <p:cNvSpPr/>
          <p:nvPr/>
        </p:nvSpPr>
        <p:spPr>
          <a:xfrm>
            <a:off x="9678233" y="5942767"/>
            <a:ext cx="1423148" cy="1425389"/>
          </a:xfrm>
          <a:prstGeom prst="ellipse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" name="Ellipszis 20">
            <a:extLst>
              <a:ext uri="{FF2B5EF4-FFF2-40B4-BE49-F238E27FC236}">
                <a16:creationId xmlns:a16="http://schemas.microsoft.com/office/drawing/2014/main" id="{235B650C-DF1F-7D17-0BE7-252C7EAC24E7}"/>
              </a:ext>
            </a:extLst>
          </p:cNvPr>
          <p:cNvSpPr/>
          <p:nvPr/>
        </p:nvSpPr>
        <p:spPr>
          <a:xfrm>
            <a:off x="8862445" y="6274462"/>
            <a:ext cx="1181101" cy="1174377"/>
          </a:xfrm>
          <a:prstGeom prst="ellipse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FF79154E-7201-0572-1F9D-A9079A1483B3}"/>
              </a:ext>
            </a:extLst>
          </p:cNvPr>
          <p:cNvSpPr txBox="1">
            <a:spLocks/>
          </p:cNvSpPr>
          <p:nvPr/>
        </p:nvSpPr>
        <p:spPr>
          <a:xfrm>
            <a:off x="5304" y="719020"/>
            <a:ext cx="12183034" cy="813981"/>
          </a:xfrm>
          <a:prstGeom prst="rect">
            <a:avLst/>
          </a:prstGeom>
        </p:spPr>
        <p:txBody>
          <a:bodyPr lIns="91440" tIns="45720" rIns="91440" bIns="4572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4800" b="1">
                <a:solidFill>
                  <a:schemeClr val="bg1"/>
                </a:solidFill>
                <a:latin typeface="Segoe UI"/>
                <a:cs typeface="Segoe UI"/>
              </a:rPr>
              <a:t>Demo</a:t>
            </a:r>
            <a:endParaRPr lang="hu-HU"/>
          </a:p>
        </p:txBody>
      </p:sp>
      <p:sp>
        <p:nvSpPr>
          <p:cNvPr id="20" name="Téglalap 19">
            <a:extLst>
              <a:ext uri="{FF2B5EF4-FFF2-40B4-BE49-F238E27FC236}">
                <a16:creationId xmlns:a16="http://schemas.microsoft.com/office/drawing/2014/main" id="{0012204C-D1EC-9BB9-4990-D150B96623FB}"/>
              </a:ext>
            </a:extLst>
          </p:cNvPr>
          <p:cNvSpPr/>
          <p:nvPr/>
        </p:nvSpPr>
        <p:spPr>
          <a:xfrm>
            <a:off x="3079929" y="1680713"/>
            <a:ext cx="2646684" cy="2015932"/>
          </a:xfrm>
          <a:prstGeom prst="rect">
            <a:avLst/>
          </a:prstGeom>
          <a:solidFill>
            <a:srgbClr val="05366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Téglalap 13">
            <a:extLst>
              <a:ext uri="{FF2B5EF4-FFF2-40B4-BE49-F238E27FC236}">
                <a16:creationId xmlns:a16="http://schemas.microsoft.com/office/drawing/2014/main" id="{F022636E-186C-8071-8DBD-0C18E91AE0A2}"/>
              </a:ext>
            </a:extLst>
          </p:cNvPr>
          <p:cNvSpPr/>
          <p:nvPr/>
        </p:nvSpPr>
        <p:spPr>
          <a:xfrm>
            <a:off x="2938162" y="1538946"/>
            <a:ext cx="2646684" cy="2015932"/>
          </a:xfrm>
          <a:prstGeom prst="rect">
            <a:avLst/>
          </a:prstGeom>
          <a:solidFill>
            <a:srgbClr val="075DB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" name="Szövegdoboz 25">
            <a:extLst>
              <a:ext uri="{FF2B5EF4-FFF2-40B4-BE49-F238E27FC236}">
                <a16:creationId xmlns:a16="http://schemas.microsoft.com/office/drawing/2014/main" id="{F1BDCD50-3370-CA90-258A-0827EFC3BF40}"/>
              </a:ext>
            </a:extLst>
          </p:cNvPr>
          <p:cNvSpPr txBox="1"/>
          <p:nvPr/>
        </p:nvSpPr>
        <p:spPr>
          <a:xfrm>
            <a:off x="2964782" y="2479603"/>
            <a:ext cx="260459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Szerviz és esemény műveletek</a:t>
            </a:r>
            <a:endParaRPr lang="hu-HU">
              <a:solidFill>
                <a:srgbClr val="C2DEFF"/>
              </a:solidFill>
            </a:endParaRPr>
          </a:p>
        </p:txBody>
      </p:sp>
      <p:sp>
        <p:nvSpPr>
          <p:cNvPr id="39" name="Téglalap 38">
            <a:extLst>
              <a:ext uri="{FF2B5EF4-FFF2-40B4-BE49-F238E27FC236}">
                <a16:creationId xmlns:a16="http://schemas.microsoft.com/office/drawing/2014/main" id="{C94147E3-A257-BD36-F456-A896AC4F43C6}"/>
              </a:ext>
            </a:extLst>
          </p:cNvPr>
          <p:cNvSpPr/>
          <p:nvPr/>
        </p:nvSpPr>
        <p:spPr>
          <a:xfrm>
            <a:off x="3097650" y="4135061"/>
            <a:ext cx="2646684" cy="2015932"/>
          </a:xfrm>
          <a:prstGeom prst="rect">
            <a:avLst/>
          </a:prstGeom>
          <a:solidFill>
            <a:srgbClr val="05366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0" name="Téglalap 39">
            <a:extLst>
              <a:ext uri="{FF2B5EF4-FFF2-40B4-BE49-F238E27FC236}">
                <a16:creationId xmlns:a16="http://schemas.microsoft.com/office/drawing/2014/main" id="{F2D8E7A6-811E-A877-ECCD-B0D60596D732}"/>
              </a:ext>
            </a:extLst>
          </p:cNvPr>
          <p:cNvSpPr/>
          <p:nvPr/>
        </p:nvSpPr>
        <p:spPr>
          <a:xfrm>
            <a:off x="2955883" y="3993294"/>
            <a:ext cx="2646684" cy="2015932"/>
          </a:xfrm>
          <a:prstGeom prst="rect">
            <a:avLst/>
          </a:prstGeom>
          <a:solidFill>
            <a:srgbClr val="075DB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2" name="Szövegdoboz 41">
            <a:extLst>
              <a:ext uri="{FF2B5EF4-FFF2-40B4-BE49-F238E27FC236}">
                <a16:creationId xmlns:a16="http://schemas.microsoft.com/office/drawing/2014/main" id="{9180167D-C9CE-51F7-171F-863125DC0D0B}"/>
              </a:ext>
            </a:extLst>
          </p:cNvPr>
          <p:cNvSpPr txBox="1"/>
          <p:nvPr/>
        </p:nvSpPr>
        <p:spPr>
          <a:xfrm>
            <a:off x="2975140" y="5021312"/>
            <a:ext cx="260534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Admin felület</a:t>
            </a:r>
            <a:endParaRPr lang="hu-HU" sz="2000">
              <a:solidFill>
                <a:srgbClr val="C2DEFF"/>
              </a:solidFill>
              <a:latin typeface="Segoe UI"/>
              <a:cs typeface="Segoe UI"/>
            </a:endParaRPr>
          </a:p>
          <a:p>
            <a:pPr algn="ctr"/>
            <a:endParaRPr lang="hu-HU" sz="2000" b="1">
              <a:solidFill>
                <a:srgbClr val="94C6FF"/>
              </a:solidFill>
              <a:latin typeface="Segoe UI"/>
              <a:cs typeface="Segoe UI"/>
            </a:endParaRPr>
          </a:p>
        </p:txBody>
      </p:sp>
      <p:sp>
        <p:nvSpPr>
          <p:cNvPr id="43" name="Téglalap 42">
            <a:extLst>
              <a:ext uri="{FF2B5EF4-FFF2-40B4-BE49-F238E27FC236}">
                <a16:creationId xmlns:a16="http://schemas.microsoft.com/office/drawing/2014/main" id="{C187CCEE-1CEE-5327-E21A-F6015C7E36DC}"/>
              </a:ext>
            </a:extLst>
          </p:cNvPr>
          <p:cNvSpPr/>
          <p:nvPr/>
        </p:nvSpPr>
        <p:spPr>
          <a:xfrm>
            <a:off x="6730440" y="1716154"/>
            <a:ext cx="2646684" cy="2015932"/>
          </a:xfrm>
          <a:prstGeom prst="rect">
            <a:avLst/>
          </a:prstGeom>
          <a:solidFill>
            <a:srgbClr val="05366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4" name="Téglalap 43">
            <a:extLst>
              <a:ext uri="{FF2B5EF4-FFF2-40B4-BE49-F238E27FC236}">
                <a16:creationId xmlns:a16="http://schemas.microsoft.com/office/drawing/2014/main" id="{6676E722-55A2-CC64-0E1D-E71398D7E440}"/>
              </a:ext>
            </a:extLst>
          </p:cNvPr>
          <p:cNvSpPr/>
          <p:nvPr/>
        </p:nvSpPr>
        <p:spPr>
          <a:xfrm>
            <a:off x="6588673" y="1574387"/>
            <a:ext cx="2646684" cy="2015932"/>
          </a:xfrm>
          <a:prstGeom prst="rect">
            <a:avLst/>
          </a:prstGeom>
          <a:solidFill>
            <a:srgbClr val="075DB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6" name="Szövegdoboz 45">
            <a:extLst>
              <a:ext uri="{FF2B5EF4-FFF2-40B4-BE49-F238E27FC236}">
                <a16:creationId xmlns:a16="http://schemas.microsoft.com/office/drawing/2014/main" id="{A0FB5D79-ABEA-B07D-595C-C631223BCE45}"/>
              </a:ext>
            </a:extLst>
          </p:cNvPr>
          <p:cNvSpPr txBox="1"/>
          <p:nvPr/>
        </p:nvSpPr>
        <p:spPr>
          <a:xfrm>
            <a:off x="6568243" y="2522908"/>
            <a:ext cx="267535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Közösség</a:t>
            </a:r>
            <a:endParaRPr lang="hu-HU" sz="2000">
              <a:solidFill>
                <a:srgbClr val="C2DEFF"/>
              </a:solidFill>
              <a:latin typeface="Segoe UI"/>
              <a:cs typeface="Segoe UI"/>
            </a:endParaRPr>
          </a:p>
          <a:p>
            <a:pPr algn="ctr"/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Moderátor</a:t>
            </a:r>
            <a:endParaRPr lang="hu-HU">
              <a:solidFill>
                <a:srgbClr val="C2DEFF"/>
              </a:solidFill>
            </a:endParaRPr>
          </a:p>
        </p:txBody>
      </p:sp>
      <p:sp>
        <p:nvSpPr>
          <p:cNvPr id="47" name="Téglalap 46">
            <a:extLst>
              <a:ext uri="{FF2B5EF4-FFF2-40B4-BE49-F238E27FC236}">
                <a16:creationId xmlns:a16="http://schemas.microsoft.com/office/drawing/2014/main" id="{9B461048-9CB2-2C91-ADF3-35209D91364A}"/>
              </a:ext>
            </a:extLst>
          </p:cNvPr>
          <p:cNvSpPr/>
          <p:nvPr/>
        </p:nvSpPr>
        <p:spPr>
          <a:xfrm>
            <a:off x="6765882" y="4090759"/>
            <a:ext cx="2646684" cy="2015932"/>
          </a:xfrm>
          <a:prstGeom prst="rect">
            <a:avLst/>
          </a:prstGeom>
          <a:solidFill>
            <a:srgbClr val="05366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8" name="Téglalap 47">
            <a:extLst>
              <a:ext uri="{FF2B5EF4-FFF2-40B4-BE49-F238E27FC236}">
                <a16:creationId xmlns:a16="http://schemas.microsoft.com/office/drawing/2014/main" id="{9B7772D4-DF37-C0FF-670A-F83A55ED8425}"/>
              </a:ext>
            </a:extLst>
          </p:cNvPr>
          <p:cNvSpPr/>
          <p:nvPr/>
        </p:nvSpPr>
        <p:spPr>
          <a:xfrm>
            <a:off x="6624115" y="3948992"/>
            <a:ext cx="2646684" cy="2015932"/>
          </a:xfrm>
          <a:prstGeom prst="rect">
            <a:avLst/>
          </a:prstGeom>
          <a:solidFill>
            <a:srgbClr val="075DB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0" name="Szövegdoboz 49">
            <a:extLst>
              <a:ext uri="{FF2B5EF4-FFF2-40B4-BE49-F238E27FC236}">
                <a16:creationId xmlns:a16="http://schemas.microsoft.com/office/drawing/2014/main" id="{687454E3-97F5-632D-C406-082D9421D60E}"/>
              </a:ext>
            </a:extLst>
          </p:cNvPr>
          <p:cNvSpPr txBox="1"/>
          <p:nvPr/>
        </p:nvSpPr>
        <p:spPr>
          <a:xfrm>
            <a:off x="6673197" y="4873790"/>
            <a:ext cx="2540576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Segítség kezdőknek oldal</a:t>
            </a:r>
            <a:endParaRPr lang="hu-HU">
              <a:solidFill>
                <a:srgbClr val="000000"/>
              </a:solidFill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8EB1C545-B092-7612-197A-058E26A2FBC4}"/>
              </a:ext>
            </a:extLst>
          </p:cNvPr>
          <p:cNvSpPr txBox="1"/>
          <p:nvPr/>
        </p:nvSpPr>
        <p:spPr>
          <a:xfrm>
            <a:off x="405653" y="6470276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b="1">
                <a:solidFill>
                  <a:srgbClr val="FFFFFF"/>
                </a:solidFill>
                <a:latin typeface="Segoe UI"/>
                <a:cs typeface="Segoe UI"/>
              </a:rPr>
              <a:t>10/12</a:t>
            </a:r>
            <a:endParaRPr lang="hu-HU"/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527C1661-10F9-049B-D789-FBEF8C7E4BF4}"/>
              </a:ext>
            </a:extLst>
          </p:cNvPr>
          <p:cNvSpPr/>
          <p:nvPr/>
        </p:nvSpPr>
        <p:spPr>
          <a:xfrm>
            <a:off x="2938162" y="1538946"/>
            <a:ext cx="2646684" cy="599256"/>
          </a:xfrm>
          <a:prstGeom prst="rect">
            <a:avLst/>
          </a:prstGeom>
          <a:solidFill>
            <a:srgbClr val="94C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" name="Téglalap 22">
            <a:extLst>
              <a:ext uri="{FF2B5EF4-FFF2-40B4-BE49-F238E27FC236}">
                <a16:creationId xmlns:a16="http://schemas.microsoft.com/office/drawing/2014/main" id="{4BFE14F3-2627-9E77-AE01-B63C0229B7B5}"/>
              </a:ext>
            </a:extLst>
          </p:cNvPr>
          <p:cNvSpPr/>
          <p:nvPr/>
        </p:nvSpPr>
        <p:spPr>
          <a:xfrm>
            <a:off x="6587176" y="1571144"/>
            <a:ext cx="2646684" cy="599256"/>
          </a:xfrm>
          <a:prstGeom prst="rect">
            <a:avLst/>
          </a:prstGeom>
          <a:solidFill>
            <a:srgbClr val="94C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" name="Téglalap 24">
            <a:extLst>
              <a:ext uri="{FF2B5EF4-FFF2-40B4-BE49-F238E27FC236}">
                <a16:creationId xmlns:a16="http://schemas.microsoft.com/office/drawing/2014/main" id="{D210DFE5-2777-B4DF-5C55-922ADF2BAAA8}"/>
              </a:ext>
            </a:extLst>
          </p:cNvPr>
          <p:cNvSpPr/>
          <p:nvPr/>
        </p:nvSpPr>
        <p:spPr>
          <a:xfrm>
            <a:off x="6587176" y="1571144"/>
            <a:ext cx="704121" cy="59925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" name="Téglalap 27">
            <a:extLst>
              <a:ext uri="{FF2B5EF4-FFF2-40B4-BE49-F238E27FC236}">
                <a16:creationId xmlns:a16="http://schemas.microsoft.com/office/drawing/2014/main" id="{1D6AEA3D-1F44-6E3B-4EC9-73E9F3633947}"/>
              </a:ext>
            </a:extLst>
          </p:cNvPr>
          <p:cNvSpPr/>
          <p:nvPr/>
        </p:nvSpPr>
        <p:spPr>
          <a:xfrm>
            <a:off x="2959626" y="3996665"/>
            <a:ext cx="2646684" cy="599256"/>
          </a:xfrm>
          <a:prstGeom prst="rect">
            <a:avLst/>
          </a:prstGeom>
          <a:solidFill>
            <a:srgbClr val="94C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" name="Téglalap 31">
            <a:extLst>
              <a:ext uri="{FF2B5EF4-FFF2-40B4-BE49-F238E27FC236}">
                <a16:creationId xmlns:a16="http://schemas.microsoft.com/office/drawing/2014/main" id="{E529B84D-301E-2158-AE51-FF07B2A2D931}"/>
              </a:ext>
            </a:extLst>
          </p:cNvPr>
          <p:cNvSpPr/>
          <p:nvPr/>
        </p:nvSpPr>
        <p:spPr>
          <a:xfrm>
            <a:off x="6630105" y="3943002"/>
            <a:ext cx="2646684" cy="599256"/>
          </a:xfrm>
          <a:prstGeom prst="rect">
            <a:avLst/>
          </a:prstGeom>
          <a:solidFill>
            <a:srgbClr val="94C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4" name="Téglalap 33">
            <a:extLst>
              <a:ext uri="{FF2B5EF4-FFF2-40B4-BE49-F238E27FC236}">
                <a16:creationId xmlns:a16="http://schemas.microsoft.com/office/drawing/2014/main" id="{EED6D6F6-3070-379B-D8AE-4B48E0AEC647}"/>
              </a:ext>
            </a:extLst>
          </p:cNvPr>
          <p:cNvSpPr/>
          <p:nvPr/>
        </p:nvSpPr>
        <p:spPr>
          <a:xfrm>
            <a:off x="6630105" y="3943002"/>
            <a:ext cx="704121" cy="59925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5" name="Szövegdoboz 44">
            <a:extLst>
              <a:ext uri="{FF2B5EF4-FFF2-40B4-BE49-F238E27FC236}">
                <a16:creationId xmlns:a16="http://schemas.microsoft.com/office/drawing/2014/main" id="{A12940B5-A09F-16C6-4359-B97C13543E74}"/>
              </a:ext>
            </a:extLst>
          </p:cNvPr>
          <p:cNvSpPr txBox="1"/>
          <p:nvPr/>
        </p:nvSpPr>
        <p:spPr>
          <a:xfrm>
            <a:off x="6593576" y="1576583"/>
            <a:ext cx="72592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3200" b="1">
                <a:solidFill>
                  <a:schemeClr val="bg1"/>
                </a:solidFill>
                <a:latin typeface="Segoe UI"/>
                <a:cs typeface="Segoe UI"/>
              </a:rPr>
              <a:t>06</a:t>
            </a:r>
            <a:endParaRPr lang="hu-HU" sz="3200">
              <a:solidFill>
                <a:schemeClr val="bg1"/>
              </a:solidFill>
            </a:endParaRPr>
          </a:p>
        </p:txBody>
      </p:sp>
      <p:sp>
        <p:nvSpPr>
          <p:cNvPr id="16" name="Téglalap 15">
            <a:extLst>
              <a:ext uri="{FF2B5EF4-FFF2-40B4-BE49-F238E27FC236}">
                <a16:creationId xmlns:a16="http://schemas.microsoft.com/office/drawing/2014/main" id="{7151F336-369B-FEB4-5A3E-CAB1CA9FFA4C}"/>
              </a:ext>
            </a:extLst>
          </p:cNvPr>
          <p:cNvSpPr/>
          <p:nvPr/>
        </p:nvSpPr>
        <p:spPr>
          <a:xfrm>
            <a:off x="2938162" y="1538946"/>
            <a:ext cx="704121" cy="59925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AA520B1B-307E-D822-EA82-CA5397524E85}"/>
              </a:ext>
            </a:extLst>
          </p:cNvPr>
          <p:cNvSpPr txBox="1"/>
          <p:nvPr/>
        </p:nvSpPr>
        <p:spPr>
          <a:xfrm>
            <a:off x="2943065" y="1541142"/>
            <a:ext cx="72592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3200" b="1">
                <a:solidFill>
                  <a:schemeClr val="bg1"/>
                </a:solidFill>
                <a:latin typeface="Segoe UI"/>
                <a:cs typeface="Segoe UI"/>
              </a:rPr>
              <a:t>05</a:t>
            </a:r>
            <a:endParaRPr lang="hu-HU" sz="3200">
              <a:solidFill>
                <a:schemeClr val="bg1"/>
              </a:solidFill>
            </a:endParaRPr>
          </a:p>
        </p:txBody>
      </p:sp>
      <p:sp>
        <p:nvSpPr>
          <p:cNvPr id="30" name="Téglalap 29">
            <a:extLst>
              <a:ext uri="{FF2B5EF4-FFF2-40B4-BE49-F238E27FC236}">
                <a16:creationId xmlns:a16="http://schemas.microsoft.com/office/drawing/2014/main" id="{DC21A2E9-E670-1099-5FBC-05D9C1DAC085}"/>
              </a:ext>
            </a:extLst>
          </p:cNvPr>
          <p:cNvSpPr/>
          <p:nvPr/>
        </p:nvSpPr>
        <p:spPr>
          <a:xfrm>
            <a:off x="2959626" y="3996665"/>
            <a:ext cx="704121" cy="59925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1" name="Szövegdoboz 40">
            <a:extLst>
              <a:ext uri="{FF2B5EF4-FFF2-40B4-BE49-F238E27FC236}">
                <a16:creationId xmlns:a16="http://schemas.microsoft.com/office/drawing/2014/main" id="{930E78D6-D092-9D4A-BA0A-766C49871579}"/>
              </a:ext>
            </a:extLst>
          </p:cNvPr>
          <p:cNvSpPr txBox="1"/>
          <p:nvPr/>
        </p:nvSpPr>
        <p:spPr>
          <a:xfrm>
            <a:off x="2960785" y="3995490"/>
            <a:ext cx="72592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3200" b="1">
                <a:solidFill>
                  <a:schemeClr val="bg1"/>
                </a:solidFill>
                <a:latin typeface="Segoe UI"/>
                <a:cs typeface="Segoe UI"/>
              </a:rPr>
              <a:t>07</a:t>
            </a:r>
            <a:endParaRPr lang="hu-HU" sz="3200">
              <a:solidFill>
                <a:schemeClr val="bg1"/>
              </a:solidFill>
            </a:endParaRPr>
          </a:p>
        </p:txBody>
      </p:sp>
      <p:sp>
        <p:nvSpPr>
          <p:cNvPr id="49" name="Szövegdoboz 48">
            <a:extLst>
              <a:ext uri="{FF2B5EF4-FFF2-40B4-BE49-F238E27FC236}">
                <a16:creationId xmlns:a16="http://schemas.microsoft.com/office/drawing/2014/main" id="{4001D5C1-02A7-A953-BF92-2EB41C84B4EB}"/>
              </a:ext>
            </a:extLst>
          </p:cNvPr>
          <p:cNvSpPr txBox="1"/>
          <p:nvPr/>
        </p:nvSpPr>
        <p:spPr>
          <a:xfrm>
            <a:off x="6629018" y="3951188"/>
            <a:ext cx="72592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3200" b="1">
                <a:solidFill>
                  <a:schemeClr val="bg1"/>
                </a:solidFill>
                <a:latin typeface="Segoe UI"/>
                <a:cs typeface="Segoe UI"/>
              </a:rPr>
              <a:t>08</a:t>
            </a:r>
            <a:endParaRPr lang="hu-HU" sz="3200">
              <a:solidFill>
                <a:schemeClr val="bg1"/>
              </a:solidFill>
            </a:endParaRPr>
          </a:p>
        </p:txBody>
      </p:sp>
      <p:sp>
        <p:nvSpPr>
          <p:cNvPr id="36" name="Szövegdoboz 35">
            <a:extLst>
              <a:ext uri="{FF2B5EF4-FFF2-40B4-BE49-F238E27FC236}">
                <a16:creationId xmlns:a16="http://schemas.microsoft.com/office/drawing/2014/main" id="{6AA19393-77ED-FA33-317E-3D979C0B21F8}"/>
              </a:ext>
            </a:extLst>
          </p:cNvPr>
          <p:cNvSpPr txBox="1"/>
          <p:nvPr/>
        </p:nvSpPr>
        <p:spPr>
          <a:xfrm>
            <a:off x="7300668" y="1642476"/>
            <a:ext cx="191772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400" b="1">
                <a:latin typeface="Segoe UI"/>
                <a:cs typeface="Segoe UI"/>
              </a:rPr>
              <a:t>Közösség</a:t>
            </a:r>
          </a:p>
        </p:txBody>
      </p:sp>
      <p:sp>
        <p:nvSpPr>
          <p:cNvPr id="38" name="Szövegdoboz 37">
            <a:extLst>
              <a:ext uri="{FF2B5EF4-FFF2-40B4-BE49-F238E27FC236}">
                <a16:creationId xmlns:a16="http://schemas.microsoft.com/office/drawing/2014/main" id="{000951D5-A0DC-945D-4A6C-9C19E6119DFD}"/>
              </a:ext>
            </a:extLst>
          </p:cNvPr>
          <p:cNvSpPr txBox="1"/>
          <p:nvPr/>
        </p:nvSpPr>
        <p:spPr>
          <a:xfrm>
            <a:off x="3640922" y="1610279"/>
            <a:ext cx="191772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400" b="1">
                <a:latin typeface="Segoe UI"/>
                <a:cs typeface="Segoe UI"/>
              </a:rPr>
              <a:t>Események</a:t>
            </a:r>
            <a:endParaRPr lang="hu-HU"/>
          </a:p>
        </p:txBody>
      </p:sp>
      <p:sp>
        <p:nvSpPr>
          <p:cNvPr id="54" name="Szövegdoboz 53">
            <a:extLst>
              <a:ext uri="{FF2B5EF4-FFF2-40B4-BE49-F238E27FC236}">
                <a16:creationId xmlns:a16="http://schemas.microsoft.com/office/drawing/2014/main" id="{198E9D38-C430-ECED-AB72-5F82C75A4F0F}"/>
              </a:ext>
            </a:extLst>
          </p:cNvPr>
          <p:cNvSpPr txBox="1"/>
          <p:nvPr/>
        </p:nvSpPr>
        <p:spPr>
          <a:xfrm>
            <a:off x="3673118" y="4078729"/>
            <a:ext cx="191772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400" b="1">
                <a:latin typeface="Segoe UI"/>
                <a:cs typeface="Segoe UI"/>
              </a:rPr>
              <a:t>Admin</a:t>
            </a:r>
          </a:p>
        </p:txBody>
      </p:sp>
      <p:sp>
        <p:nvSpPr>
          <p:cNvPr id="58" name="Szövegdoboz 57">
            <a:extLst>
              <a:ext uri="{FF2B5EF4-FFF2-40B4-BE49-F238E27FC236}">
                <a16:creationId xmlns:a16="http://schemas.microsoft.com/office/drawing/2014/main" id="{4112A5E3-AC50-4293-31E1-FAE2F4D130B8}"/>
              </a:ext>
            </a:extLst>
          </p:cNvPr>
          <p:cNvSpPr txBox="1"/>
          <p:nvPr/>
        </p:nvSpPr>
        <p:spPr>
          <a:xfrm>
            <a:off x="7343597" y="4025066"/>
            <a:ext cx="191772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400" b="1">
                <a:latin typeface="Segoe UI"/>
                <a:cs typeface="Segoe UI"/>
              </a:rPr>
              <a:t>Segítség</a:t>
            </a:r>
          </a:p>
        </p:txBody>
      </p:sp>
    </p:spTree>
    <p:extLst>
      <p:ext uri="{BB962C8B-B14F-4D97-AF65-F5344CB8AC3E}">
        <p14:creationId xmlns:p14="http://schemas.microsoft.com/office/powerpoint/2010/main" val="16455439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CDC94-F62C-C7EE-48DD-AECC97F03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>
            <a:extLst>
              <a:ext uri="{FF2B5EF4-FFF2-40B4-BE49-F238E27FC236}">
                <a16:creationId xmlns:a16="http://schemas.microsoft.com/office/drawing/2014/main" id="{8A3887E3-170E-B62B-AB0B-97D93D0E44E5}"/>
              </a:ext>
            </a:extLst>
          </p:cNvPr>
          <p:cNvSpPr/>
          <p:nvPr/>
        </p:nvSpPr>
        <p:spPr>
          <a:xfrm>
            <a:off x="14526" y="2470"/>
            <a:ext cx="12179040" cy="685977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57150"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3BFD840-3479-D5C2-719F-8BE1C9B3092E}"/>
              </a:ext>
            </a:extLst>
          </p:cNvPr>
          <p:cNvSpPr/>
          <p:nvPr/>
        </p:nvSpPr>
        <p:spPr>
          <a:xfrm>
            <a:off x="502791" y="453852"/>
            <a:ext cx="11189731" cy="595485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rgbClr val="FFFFFF"/>
              </a:solidFill>
            </a:endParaRP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38E6F768-C23D-7EA0-B225-D22AC8ABC247}"/>
              </a:ext>
            </a:extLst>
          </p:cNvPr>
          <p:cNvSpPr/>
          <p:nvPr/>
        </p:nvSpPr>
        <p:spPr>
          <a:xfrm>
            <a:off x="1097879" y="1613922"/>
            <a:ext cx="4731279" cy="4162780"/>
          </a:xfrm>
          <a:prstGeom prst="rect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Ellipszis 6">
            <a:extLst>
              <a:ext uri="{FF2B5EF4-FFF2-40B4-BE49-F238E27FC236}">
                <a16:creationId xmlns:a16="http://schemas.microsoft.com/office/drawing/2014/main" id="{0CD295B6-1640-A71D-691F-7396CE535BEE}"/>
              </a:ext>
            </a:extLst>
          </p:cNvPr>
          <p:cNvSpPr/>
          <p:nvPr/>
        </p:nvSpPr>
        <p:spPr>
          <a:xfrm>
            <a:off x="-1204920" y="-341493"/>
            <a:ext cx="2454088" cy="2465294"/>
          </a:xfrm>
          <a:prstGeom prst="ellipse">
            <a:avLst/>
          </a:prstGeom>
          <a:solidFill>
            <a:srgbClr val="075DBF"/>
          </a:solidFill>
          <a:ln>
            <a:solidFill>
              <a:srgbClr val="075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Ellipszis 8">
            <a:extLst>
              <a:ext uri="{FF2B5EF4-FFF2-40B4-BE49-F238E27FC236}">
                <a16:creationId xmlns:a16="http://schemas.microsoft.com/office/drawing/2014/main" id="{E2E50EE7-F852-4B0F-3634-0698E854A079}"/>
              </a:ext>
            </a:extLst>
          </p:cNvPr>
          <p:cNvSpPr/>
          <p:nvPr/>
        </p:nvSpPr>
        <p:spPr>
          <a:xfrm>
            <a:off x="238398" y="-583540"/>
            <a:ext cx="1683124" cy="1766047"/>
          </a:xfrm>
          <a:prstGeom prst="ellipse">
            <a:avLst/>
          </a:prstGeom>
          <a:solidFill>
            <a:srgbClr val="0C7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Ellipszis 10">
            <a:extLst>
              <a:ext uri="{FF2B5EF4-FFF2-40B4-BE49-F238E27FC236}">
                <a16:creationId xmlns:a16="http://schemas.microsoft.com/office/drawing/2014/main" id="{047EC2AB-83D8-F8AA-C7E8-8BC55CD3874E}"/>
              </a:ext>
            </a:extLst>
          </p:cNvPr>
          <p:cNvSpPr/>
          <p:nvPr/>
        </p:nvSpPr>
        <p:spPr>
          <a:xfrm>
            <a:off x="1457598" y="-709045"/>
            <a:ext cx="1423148" cy="1425389"/>
          </a:xfrm>
          <a:prstGeom prst="ellipse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Ellipszis 12">
            <a:extLst>
              <a:ext uri="{FF2B5EF4-FFF2-40B4-BE49-F238E27FC236}">
                <a16:creationId xmlns:a16="http://schemas.microsoft.com/office/drawing/2014/main" id="{D03D4377-300E-7FB3-45FD-630F6B4467A0}"/>
              </a:ext>
            </a:extLst>
          </p:cNvPr>
          <p:cNvSpPr/>
          <p:nvPr/>
        </p:nvSpPr>
        <p:spPr>
          <a:xfrm>
            <a:off x="2461645" y="-583539"/>
            <a:ext cx="1181101" cy="1174377"/>
          </a:xfrm>
          <a:prstGeom prst="ellipse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49B63414-1904-E865-41A7-9C28AB865808}"/>
              </a:ext>
            </a:extLst>
          </p:cNvPr>
          <p:cNvSpPr txBox="1"/>
          <p:nvPr/>
        </p:nvSpPr>
        <p:spPr>
          <a:xfrm>
            <a:off x="405653" y="6470276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hu-HU" b="1">
                <a:solidFill>
                  <a:srgbClr val="FFFFFF"/>
                </a:solidFill>
                <a:latin typeface="Segoe UI"/>
                <a:cs typeface="Segoe UI"/>
              </a:rPr>
              <a:t>11/12</a:t>
            </a:r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97375273-1B7B-5EC8-52CF-570679E54646}"/>
              </a:ext>
            </a:extLst>
          </p:cNvPr>
          <p:cNvSpPr txBox="1">
            <a:spLocks/>
          </p:cNvSpPr>
          <p:nvPr/>
        </p:nvSpPr>
        <p:spPr>
          <a:xfrm>
            <a:off x="5304" y="719020"/>
            <a:ext cx="12183034" cy="813981"/>
          </a:xfrm>
          <a:prstGeom prst="rect">
            <a:avLst/>
          </a:prstGeom>
        </p:spPr>
        <p:txBody>
          <a:bodyPr lIns="91440" tIns="45720" rIns="91440" bIns="4572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4800" b="1">
                <a:solidFill>
                  <a:schemeClr val="bg1"/>
                </a:solidFill>
                <a:latin typeface="Segoe UI"/>
                <a:cs typeface="Segoe UI"/>
              </a:rPr>
              <a:t>Összegzés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0D1D2491-B6C7-1AA4-5C0E-0D19CBA10652}"/>
              </a:ext>
            </a:extLst>
          </p:cNvPr>
          <p:cNvSpPr/>
          <p:nvPr/>
        </p:nvSpPr>
        <p:spPr>
          <a:xfrm>
            <a:off x="1215936" y="2155658"/>
            <a:ext cx="4491423" cy="3453569"/>
          </a:xfrm>
          <a:prstGeom prst="rect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D5B2CA93-00B0-B7C5-A40B-273FD65375E9}"/>
              </a:ext>
            </a:extLst>
          </p:cNvPr>
          <p:cNvSpPr/>
          <p:nvPr/>
        </p:nvSpPr>
        <p:spPr>
          <a:xfrm>
            <a:off x="1333993" y="2282576"/>
            <a:ext cx="4235717" cy="3201608"/>
          </a:xfrm>
          <a:prstGeom prst="rect">
            <a:avLst/>
          </a:prstGeom>
          <a:solidFill>
            <a:srgbClr val="075D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" name="Szövegdoboz 21">
            <a:extLst>
              <a:ext uri="{FF2B5EF4-FFF2-40B4-BE49-F238E27FC236}">
                <a16:creationId xmlns:a16="http://schemas.microsoft.com/office/drawing/2014/main" id="{71467002-2BF7-4D52-C8F3-56BDCC58D59C}"/>
              </a:ext>
            </a:extLst>
          </p:cNvPr>
          <p:cNvSpPr txBox="1"/>
          <p:nvPr/>
        </p:nvSpPr>
        <p:spPr>
          <a:xfrm>
            <a:off x="1821625" y="1697933"/>
            <a:ext cx="329484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400" b="1">
                <a:solidFill>
                  <a:srgbClr val="196ECF"/>
                </a:solidFill>
                <a:latin typeface="Segoe UI"/>
                <a:cs typeface="Segoe UI"/>
              </a:rPr>
              <a:t>Sikerek</a:t>
            </a:r>
            <a:endParaRPr lang="hu-HU" sz="2400" b="1" i="0" u="none" strike="noStrike" baseline="0">
              <a:solidFill>
                <a:srgbClr val="196ECF"/>
              </a:solidFill>
              <a:latin typeface="Segoe UI"/>
              <a:cs typeface="Segoe UI"/>
            </a:endParaRPr>
          </a:p>
        </p:txBody>
      </p:sp>
      <p:sp>
        <p:nvSpPr>
          <p:cNvPr id="25" name="Szövegdoboz 24">
            <a:extLst>
              <a:ext uri="{FF2B5EF4-FFF2-40B4-BE49-F238E27FC236}">
                <a16:creationId xmlns:a16="http://schemas.microsoft.com/office/drawing/2014/main" id="{0DA234A2-35BB-FC00-7B68-2AAC288F8A0E}"/>
              </a:ext>
            </a:extLst>
          </p:cNvPr>
          <p:cNvSpPr txBox="1"/>
          <p:nvPr/>
        </p:nvSpPr>
        <p:spPr>
          <a:xfrm>
            <a:off x="1493052" y="2473318"/>
            <a:ext cx="4070821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b="1" i="0" u="none" strike="noStrike" baseline="0">
                <a:solidFill>
                  <a:srgbClr val="C2DEFF"/>
                </a:solidFill>
                <a:latin typeface="Segoe UI"/>
              </a:rPr>
              <a:t>- </a:t>
            </a:r>
            <a:r>
              <a:rPr lang="hu-HU" sz="2000" b="1">
                <a:solidFill>
                  <a:srgbClr val="C2DEFF"/>
                </a:solidFill>
                <a:latin typeface="Segoe UI"/>
              </a:rPr>
              <a:t>Minden terv megvalósítva</a:t>
            </a:r>
            <a:endParaRPr lang="hu-HU" sz="2000" b="1">
              <a:solidFill>
                <a:srgbClr val="C2DEFF"/>
              </a:solidFill>
              <a:latin typeface="Segoe UI"/>
              <a:cs typeface="Segoe UI"/>
            </a:endParaRPr>
          </a:p>
          <a:p>
            <a:endParaRPr lang="hu-HU" sz="2000" b="1">
              <a:solidFill>
                <a:srgbClr val="C2DEFF"/>
              </a:solidFill>
              <a:latin typeface="Segoe UI"/>
              <a:cs typeface="Segoe UI"/>
            </a:endParaRPr>
          </a:p>
          <a:p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- A tervezettnél több funkció</a:t>
            </a:r>
          </a:p>
          <a:p>
            <a:endParaRPr lang="hu-HU" sz="2000" b="1">
              <a:solidFill>
                <a:srgbClr val="C2DEFF"/>
              </a:solidFill>
              <a:latin typeface="Segoe UI"/>
              <a:cs typeface="Segoe UI"/>
            </a:endParaRPr>
          </a:p>
          <a:p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- Változtatások</a:t>
            </a:r>
          </a:p>
          <a:p>
            <a:endParaRPr lang="hu-HU" sz="2000" b="1">
              <a:solidFill>
                <a:srgbClr val="C2DEFF"/>
              </a:solidFill>
              <a:latin typeface="Segoe UI"/>
              <a:cs typeface="Segoe UI"/>
            </a:endParaRPr>
          </a:p>
          <a:p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- Felhasználóbarát felület</a:t>
            </a:r>
          </a:p>
          <a:p>
            <a:endParaRPr lang="hu-HU" sz="2000" b="1">
              <a:solidFill>
                <a:srgbClr val="C2DEFF"/>
              </a:solidFill>
              <a:latin typeface="Segoe UI"/>
              <a:cs typeface="Segoe UI"/>
            </a:endParaRPr>
          </a:p>
          <a:p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- Technológiák elsajátítása</a:t>
            </a:r>
          </a:p>
        </p:txBody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47767B2B-C082-5120-E4CD-D3446C5944BA}"/>
              </a:ext>
            </a:extLst>
          </p:cNvPr>
          <p:cNvSpPr/>
          <p:nvPr/>
        </p:nvSpPr>
        <p:spPr>
          <a:xfrm>
            <a:off x="6352134" y="1622782"/>
            <a:ext cx="4731279" cy="4162780"/>
          </a:xfrm>
          <a:prstGeom prst="rect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440E6190-21C5-56AD-AE59-1C2697449C66}"/>
              </a:ext>
            </a:extLst>
          </p:cNvPr>
          <p:cNvSpPr/>
          <p:nvPr/>
        </p:nvSpPr>
        <p:spPr>
          <a:xfrm>
            <a:off x="6470191" y="2164518"/>
            <a:ext cx="4491423" cy="3453569"/>
          </a:xfrm>
          <a:prstGeom prst="rect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Téglalap 19">
            <a:extLst>
              <a:ext uri="{FF2B5EF4-FFF2-40B4-BE49-F238E27FC236}">
                <a16:creationId xmlns:a16="http://schemas.microsoft.com/office/drawing/2014/main" id="{06ABC606-F34B-3EB2-21B0-10CD4B2D5F27}"/>
              </a:ext>
            </a:extLst>
          </p:cNvPr>
          <p:cNvSpPr/>
          <p:nvPr/>
        </p:nvSpPr>
        <p:spPr>
          <a:xfrm>
            <a:off x="6588248" y="2291436"/>
            <a:ext cx="4235717" cy="3201608"/>
          </a:xfrm>
          <a:prstGeom prst="rect">
            <a:avLst/>
          </a:prstGeom>
          <a:solidFill>
            <a:srgbClr val="075D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" name="Szövegdoboz 23">
            <a:extLst>
              <a:ext uri="{FF2B5EF4-FFF2-40B4-BE49-F238E27FC236}">
                <a16:creationId xmlns:a16="http://schemas.microsoft.com/office/drawing/2014/main" id="{8E707E9C-8486-EB87-9576-8D98F7AAC0FA}"/>
              </a:ext>
            </a:extLst>
          </p:cNvPr>
          <p:cNvSpPr txBox="1"/>
          <p:nvPr/>
        </p:nvSpPr>
        <p:spPr>
          <a:xfrm>
            <a:off x="6349323" y="1697933"/>
            <a:ext cx="471152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400" b="1">
                <a:solidFill>
                  <a:srgbClr val="196ECF"/>
                </a:solidFill>
                <a:latin typeface="Segoe UI"/>
                <a:cs typeface="Segoe UI"/>
              </a:rPr>
              <a:t>Továbbfejlesztési lehetőségek</a:t>
            </a:r>
            <a:endParaRPr lang="hu-HU" sz="2400" b="1" i="0" u="none" strike="noStrike" baseline="0">
              <a:solidFill>
                <a:srgbClr val="196ECF"/>
              </a:solidFill>
              <a:latin typeface="Segoe UI"/>
              <a:cs typeface="Segoe UI"/>
            </a:endParaRPr>
          </a:p>
        </p:txBody>
      </p:sp>
      <p:sp>
        <p:nvSpPr>
          <p:cNvPr id="26" name="Szövegdoboz 25">
            <a:extLst>
              <a:ext uri="{FF2B5EF4-FFF2-40B4-BE49-F238E27FC236}">
                <a16:creationId xmlns:a16="http://schemas.microsoft.com/office/drawing/2014/main" id="{C8D02C5C-4166-5C14-17BF-53A7EB4496D1}"/>
              </a:ext>
            </a:extLst>
          </p:cNvPr>
          <p:cNvSpPr txBox="1"/>
          <p:nvPr/>
        </p:nvSpPr>
        <p:spPr>
          <a:xfrm>
            <a:off x="6701009" y="2473317"/>
            <a:ext cx="4003182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b="1" i="0" u="none" strike="noStrike" baseline="0">
                <a:solidFill>
                  <a:srgbClr val="C2DEFF"/>
                </a:solidFill>
                <a:latin typeface="Segoe UI"/>
              </a:rPr>
              <a:t>- </a:t>
            </a:r>
            <a:r>
              <a:rPr lang="hu-HU" sz="2000" b="1">
                <a:solidFill>
                  <a:srgbClr val="C2DEFF"/>
                </a:solidFill>
                <a:latin typeface="Segoe UI"/>
              </a:rPr>
              <a:t>Márka modell API</a:t>
            </a:r>
            <a:endParaRPr lang="hu-HU" sz="2000" b="1">
              <a:solidFill>
                <a:srgbClr val="C2DEFF"/>
              </a:solidFill>
              <a:latin typeface="Segoe UI"/>
              <a:cs typeface="Segoe UI"/>
            </a:endParaRPr>
          </a:p>
          <a:p>
            <a:endParaRPr lang="hu-HU" sz="2000" b="1">
              <a:solidFill>
                <a:srgbClr val="C2DEFF"/>
              </a:solidFill>
              <a:latin typeface="Segoe UI"/>
              <a:cs typeface="Segoe UI"/>
            </a:endParaRPr>
          </a:p>
          <a:p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- Határidők jelzése</a:t>
            </a:r>
          </a:p>
          <a:p>
            <a:endParaRPr lang="hu-HU" sz="2000" b="1">
              <a:solidFill>
                <a:srgbClr val="C2DEFF"/>
              </a:solidFill>
              <a:latin typeface="Segoe UI"/>
              <a:cs typeface="Segoe UI"/>
            </a:endParaRPr>
          </a:p>
          <a:p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- GPS használata</a:t>
            </a:r>
          </a:p>
          <a:p>
            <a:endParaRPr lang="hu-HU" sz="2000" b="1">
              <a:solidFill>
                <a:srgbClr val="C2DEFF"/>
              </a:solidFill>
              <a:latin typeface="Segoe UI"/>
              <a:cs typeface="Segoe UI"/>
            </a:endParaRPr>
          </a:p>
          <a:p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- Menü személyreszabása</a:t>
            </a:r>
          </a:p>
          <a:p>
            <a:endParaRPr lang="hu-HU" sz="2000" b="1">
              <a:solidFill>
                <a:srgbClr val="C2DEFF"/>
              </a:solidFill>
              <a:latin typeface="Segoe UI"/>
              <a:cs typeface="Segoe UI"/>
            </a:endParaRPr>
          </a:p>
          <a:p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- Autók megosztása</a:t>
            </a:r>
          </a:p>
        </p:txBody>
      </p:sp>
      <p:sp>
        <p:nvSpPr>
          <p:cNvPr id="15" name="Ellipszis 14">
            <a:extLst>
              <a:ext uri="{FF2B5EF4-FFF2-40B4-BE49-F238E27FC236}">
                <a16:creationId xmlns:a16="http://schemas.microsoft.com/office/drawing/2014/main" id="{AB503264-0DF5-A355-38E2-E00FCA3CB4BF}"/>
              </a:ext>
            </a:extLst>
          </p:cNvPr>
          <p:cNvSpPr/>
          <p:nvPr/>
        </p:nvSpPr>
        <p:spPr>
          <a:xfrm>
            <a:off x="10969152" y="4714601"/>
            <a:ext cx="2454088" cy="2465294"/>
          </a:xfrm>
          <a:prstGeom prst="ellipse">
            <a:avLst/>
          </a:prstGeom>
          <a:solidFill>
            <a:srgbClr val="075DBF"/>
          </a:solidFill>
          <a:ln>
            <a:solidFill>
              <a:srgbClr val="075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Ellipszis 16">
            <a:extLst>
              <a:ext uri="{FF2B5EF4-FFF2-40B4-BE49-F238E27FC236}">
                <a16:creationId xmlns:a16="http://schemas.microsoft.com/office/drawing/2014/main" id="{D688850C-60EF-F731-AB19-572ACDDF11F7}"/>
              </a:ext>
            </a:extLst>
          </p:cNvPr>
          <p:cNvSpPr/>
          <p:nvPr/>
        </p:nvSpPr>
        <p:spPr>
          <a:xfrm>
            <a:off x="10386444" y="5521424"/>
            <a:ext cx="1683124" cy="1766047"/>
          </a:xfrm>
          <a:prstGeom prst="ellipse">
            <a:avLst/>
          </a:prstGeom>
          <a:solidFill>
            <a:srgbClr val="0C7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Ellipszis 18">
            <a:extLst>
              <a:ext uri="{FF2B5EF4-FFF2-40B4-BE49-F238E27FC236}">
                <a16:creationId xmlns:a16="http://schemas.microsoft.com/office/drawing/2014/main" id="{04CBF5D7-6487-558A-4EFC-613C6B4D8319}"/>
              </a:ext>
            </a:extLst>
          </p:cNvPr>
          <p:cNvSpPr/>
          <p:nvPr/>
        </p:nvSpPr>
        <p:spPr>
          <a:xfrm>
            <a:off x="9678233" y="5942767"/>
            <a:ext cx="1423148" cy="1425389"/>
          </a:xfrm>
          <a:prstGeom prst="ellipse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" name="Ellipszis 20">
            <a:extLst>
              <a:ext uri="{FF2B5EF4-FFF2-40B4-BE49-F238E27FC236}">
                <a16:creationId xmlns:a16="http://schemas.microsoft.com/office/drawing/2014/main" id="{D86C9951-7189-D0C5-B615-E1156DA7B135}"/>
              </a:ext>
            </a:extLst>
          </p:cNvPr>
          <p:cNvSpPr/>
          <p:nvPr/>
        </p:nvSpPr>
        <p:spPr>
          <a:xfrm>
            <a:off x="8862445" y="6274462"/>
            <a:ext cx="1181101" cy="1174377"/>
          </a:xfrm>
          <a:prstGeom prst="ellipse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49737021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09335-41C9-9FD1-62A5-933E28B6D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>
            <a:extLst>
              <a:ext uri="{FF2B5EF4-FFF2-40B4-BE49-F238E27FC236}">
                <a16:creationId xmlns:a16="http://schemas.microsoft.com/office/drawing/2014/main" id="{744951B4-B7AF-54D6-0811-A92DB3D95AB7}"/>
              </a:ext>
            </a:extLst>
          </p:cNvPr>
          <p:cNvSpPr/>
          <p:nvPr/>
        </p:nvSpPr>
        <p:spPr>
          <a:xfrm>
            <a:off x="14526" y="2470"/>
            <a:ext cx="12179040" cy="685977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57150"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801A0954-A078-E913-5D17-EFC01B8F43F6}"/>
              </a:ext>
            </a:extLst>
          </p:cNvPr>
          <p:cNvSpPr/>
          <p:nvPr/>
        </p:nvSpPr>
        <p:spPr>
          <a:xfrm>
            <a:off x="502791" y="453852"/>
            <a:ext cx="11189731" cy="595485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rgbClr val="FFFFFF"/>
              </a:solidFill>
            </a:endParaRPr>
          </a:p>
        </p:txBody>
      </p:sp>
      <p:sp>
        <p:nvSpPr>
          <p:cNvPr id="7" name="Ellipszis 6">
            <a:extLst>
              <a:ext uri="{FF2B5EF4-FFF2-40B4-BE49-F238E27FC236}">
                <a16:creationId xmlns:a16="http://schemas.microsoft.com/office/drawing/2014/main" id="{8F0EC036-C0E9-9A04-C17E-A9262AB8F4AC}"/>
              </a:ext>
            </a:extLst>
          </p:cNvPr>
          <p:cNvSpPr/>
          <p:nvPr/>
        </p:nvSpPr>
        <p:spPr>
          <a:xfrm>
            <a:off x="-1204920" y="-341493"/>
            <a:ext cx="2454088" cy="2465294"/>
          </a:xfrm>
          <a:prstGeom prst="ellipse">
            <a:avLst/>
          </a:prstGeom>
          <a:solidFill>
            <a:srgbClr val="075DBF"/>
          </a:solidFill>
          <a:ln>
            <a:solidFill>
              <a:srgbClr val="075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Ellipszis 8">
            <a:extLst>
              <a:ext uri="{FF2B5EF4-FFF2-40B4-BE49-F238E27FC236}">
                <a16:creationId xmlns:a16="http://schemas.microsoft.com/office/drawing/2014/main" id="{6BD328D4-8933-C67B-2542-26AB71A580EE}"/>
              </a:ext>
            </a:extLst>
          </p:cNvPr>
          <p:cNvSpPr/>
          <p:nvPr/>
        </p:nvSpPr>
        <p:spPr>
          <a:xfrm>
            <a:off x="238398" y="-583540"/>
            <a:ext cx="1683124" cy="1766047"/>
          </a:xfrm>
          <a:prstGeom prst="ellipse">
            <a:avLst/>
          </a:prstGeom>
          <a:solidFill>
            <a:srgbClr val="0C7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Ellipszis 10">
            <a:extLst>
              <a:ext uri="{FF2B5EF4-FFF2-40B4-BE49-F238E27FC236}">
                <a16:creationId xmlns:a16="http://schemas.microsoft.com/office/drawing/2014/main" id="{0265EE88-2CAE-5950-8CFF-031465BABE46}"/>
              </a:ext>
            </a:extLst>
          </p:cNvPr>
          <p:cNvSpPr/>
          <p:nvPr/>
        </p:nvSpPr>
        <p:spPr>
          <a:xfrm>
            <a:off x="1457598" y="-709045"/>
            <a:ext cx="1423148" cy="1425389"/>
          </a:xfrm>
          <a:prstGeom prst="ellipse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Ellipszis 12">
            <a:extLst>
              <a:ext uri="{FF2B5EF4-FFF2-40B4-BE49-F238E27FC236}">
                <a16:creationId xmlns:a16="http://schemas.microsoft.com/office/drawing/2014/main" id="{08E6194D-6A81-4723-8230-311C9C18350D}"/>
              </a:ext>
            </a:extLst>
          </p:cNvPr>
          <p:cNvSpPr/>
          <p:nvPr/>
        </p:nvSpPr>
        <p:spPr>
          <a:xfrm>
            <a:off x="2461645" y="-583539"/>
            <a:ext cx="1181101" cy="1174377"/>
          </a:xfrm>
          <a:prstGeom prst="ellipse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Ellipszis 14">
            <a:extLst>
              <a:ext uri="{FF2B5EF4-FFF2-40B4-BE49-F238E27FC236}">
                <a16:creationId xmlns:a16="http://schemas.microsoft.com/office/drawing/2014/main" id="{2D318D2E-AD0F-5E2E-E60C-26CD46C86B47}"/>
              </a:ext>
            </a:extLst>
          </p:cNvPr>
          <p:cNvSpPr/>
          <p:nvPr/>
        </p:nvSpPr>
        <p:spPr>
          <a:xfrm>
            <a:off x="10969152" y="4714601"/>
            <a:ext cx="2454088" cy="2465294"/>
          </a:xfrm>
          <a:prstGeom prst="ellipse">
            <a:avLst/>
          </a:prstGeom>
          <a:solidFill>
            <a:srgbClr val="075DBF"/>
          </a:solidFill>
          <a:ln>
            <a:solidFill>
              <a:srgbClr val="075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Ellipszis 16">
            <a:extLst>
              <a:ext uri="{FF2B5EF4-FFF2-40B4-BE49-F238E27FC236}">
                <a16:creationId xmlns:a16="http://schemas.microsoft.com/office/drawing/2014/main" id="{3AA2966A-7C79-BAEB-2E31-9951F9485978}"/>
              </a:ext>
            </a:extLst>
          </p:cNvPr>
          <p:cNvSpPr/>
          <p:nvPr/>
        </p:nvSpPr>
        <p:spPr>
          <a:xfrm>
            <a:off x="10386444" y="5521424"/>
            <a:ext cx="1683124" cy="1766047"/>
          </a:xfrm>
          <a:prstGeom prst="ellipse">
            <a:avLst/>
          </a:prstGeom>
          <a:solidFill>
            <a:srgbClr val="0C7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Ellipszis 18">
            <a:extLst>
              <a:ext uri="{FF2B5EF4-FFF2-40B4-BE49-F238E27FC236}">
                <a16:creationId xmlns:a16="http://schemas.microsoft.com/office/drawing/2014/main" id="{252D4073-9BBD-A11D-8ED5-E3F4DC15AFA9}"/>
              </a:ext>
            </a:extLst>
          </p:cNvPr>
          <p:cNvSpPr/>
          <p:nvPr/>
        </p:nvSpPr>
        <p:spPr>
          <a:xfrm>
            <a:off x="9678233" y="5942767"/>
            <a:ext cx="1423148" cy="1425389"/>
          </a:xfrm>
          <a:prstGeom prst="ellipse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" name="Ellipszis 20">
            <a:extLst>
              <a:ext uri="{FF2B5EF4-FFF2-40B4-BE49-F238E27FC236}">
                <a16:creationId xmlns:a16="http://schemas.microsoft.com/office/drawing/2014/main" id="{DD63E822-36A7-4BCE-ACCD-8D19D9899F65}"/>
              </a:ext>
            </a:extLst>
          </p:cNvPr>
          <p:cNvSpPr/>
          <p:nvPr/>
        </p:nvSpPr>
        <p:spPr>
          <a:xfrm>
            <a:off x="8862445" y="6274462"/>
            <a:ext cx="1181101" cy="1174377"/>
          </a:xfrm>
          <a:prstGeom prst="ellipse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B392E380-9B18-52EC-F1BE-229102247B6C}"/>
              </a:ext>
            </a:extLst>
          </p:cNvPr>
          <p:cNvSpPr txBox="1"/>
          <p:nvPr/>
        </p:nvSpPr>
        <p:spPr>
          <a:xfrm>
            <a:off x="405653" y="6470276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hu-HU" b="1">
                <a:solidFill>
                  <a:srgbClr val="FFFFFF"/>
                </a:solidFill>
                <a:latin typeface="Segoe UI"/>
                <a:cs typeface="Segoe UI"/>
              </a:rPr>
              <a:t>12/12</a:t>
            </a:r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669C9DF2-C853-4F93-234C-57347C7C2EE4}"/>
              </a:ext>
            </a:extLst>
          </p:cNvPr>
          <p:cNvSpPr txBox="1">
            <a:spLocks/>
          </p:cNvSpPr>
          <p:nvPr/>
        </p:nvSpPr>
        <p:spPr>
          <a:xfrm>
            <a:off x="23025" y="3536399"/>
            <a:ext cx="12183034" cy="813981"/>
          </a:xfrm>
          <a:prstGeom prst="rect">
            <a:avLst/>
          </a:prstGeom>
        </p:spPr>
        <p:txBody>
          <a:bodyPr lIns="91440" tIns="45720" rIns="91440" bIns="4572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4800" b="1">
                <a:solidFill>
                  <a:schemeClr val="bg1"/>
                </a:solidFill>
                <a:latin typeface="Segoe UI"/>
                <a:cs typeface="Segoe UI"/>
              </a:rPr>
              <a:t>Köszönjük a figyelmet!</a:t>
            </a:r>
            <a:endParaRPr lang="hu-HU"/>
          </a:p>
        </p:txBody>
      </p:sp>
      <p:sp>
        <p:nvSpPr>
          <p:cNvPr id="8" name="Cím 1">
            <a:extLst>
              <a:ext uri="{FF2B5EF4-FFF2-40B4-BE49-F238E27FC236}">
                <a16:creationId xmlns:a16="http://schemas.microsoft.com/office/drawing/2014/main" id="{C0750101-7052-52D6-4A07-A4691CA76A67}"/>
              </a:ext>
            </a:extLst>
          </p:cNvPr>
          <p:cNvSpPr txBox="1">
            <a:spLocks/>
          </p:cNvSpPr>
          <p:nvPr/>
        </p:nvSpPr>
        <p:spPr>
          <a:xfrm>
            <a:off x="14165" y="4590794"/>
            <a:ext cx="12183034" cy="813981"/>
          </a:xfrm>
          <a:prstGeom prst="rect">
            <a:avLst/>
          </a:prstGeom>
        </p:spPr>
        <p:txBody>
          <a:bodyPr lIns="91440" tIns="45720" rIns="91440" bIns="4572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2900" b="1">
                <a:solidFill>
                  <a:schemeClr val="bg1"/>
                </a:solidFill>
                <a:latin typeface="Segoe UI"/>
                <a:cs typeface="Segoe UI"/>
              </a:rPr>
              <a:t>Várjuk a kérdéseket.</a:t>
            </a:r>
            <a:endParaRPr lang="hu-HU" sz="2900">
              <a:solidFill>
                <a:schemeClr val="bg1"/>
              </a:solidFill>
            </a:endParaRPr>
          </a:p>
        </p:txBody>
      </p:sp>
      <p:cxnSp>
        <p:nvCxnSpPr>
          <p:cNvPr id="10" name="Egyenes összekötő nyíllal 9">
            <a:extLst>
              <a:ext uri="{FF2B5EF4-FFF2-40B4-BE49-F238E27FC236}">
                <a16:creationId xmlns:a16="http://schemas.microsoft.com/office/drawing/2014/main" id="{E407DBFE-13FD-894B-1522-B3AEDC3609B5}"/>
              </a:ext>
            </a:extLst>
          </p:cNvPr>
          <p:cNvCxnSpPr/>
          <p:nvPr/>
        </p:nvCxnSpPr>
        <p:spPr>
          <a:xfrm flipV="1">
            <a:off x="3144899" y="4373117"/>
            <a:ext cx="5906214" cy="28426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Kép 1" descr="A képen jármű, Szárazföldi jármű, Autótervezés, lökhárító látható&#10;&#10;Lehet, hogy az AI által létrehozott tartalom helytelen.">
            <a:extLst>
              <a:ext uri="{FF2B5EF4-FFF2-40B4-BE49-F238E27FC236}">
                <a16:creationId xmlns:a16="http://schemas.microsoft.com/office/drawing/2014/main" id="{E1DA73ED-3625-FAE8-CD55-3AD0A6FFF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4815" y="1120997"/>
            <a:ext cx="4240906" cy="28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089847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2141</Words>
  <Application>Microsoft Office PowerPoint</Application>
  <PresentationFormat>Szélesvásznú</PresentationFormat>
  <Paragraphs>333</Paragraphs>
  <Slides>13</Slides>
  <Notes>11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Segoe UI</vt:lpstr>
      <vt:lpstr>Office-téma</vt:lpstr>
      <vt:lpstr>AutoMate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Vanák Tamás</dc:creator>
  <cp:lastModifiedBy>Tamás Vanák</cp:lastModifiedBy>
  <cp:revision>4</cp:revision>
  <dcterms:created xsi:type="dcterms:W3CDTF">2026-04-14T13:35:03Z</dcterms:created>
  <dcterms:modified xsi:type="dcterms:W3CDTF">2026-04-16T20:45:41Z</dcterms:modified>
</cp:coreProperties>
</file>